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sldIdLst>
    <p:sldId id="270" r:id="rId5"/>
    <p:sldId id="259" r:id="rId6"/>
    <p:sldId id="260" r:id="rId7"/>
    <p:sldId id="304" r:id="rId8"/>
    <p:sldId id="268" r:id="rId9"/>
    <p:sldId id="263" r:id="rId10"/>
    <p:sldId id="302" r:id="rId11"/>
    <p:sldId id="305" r:id="rId12"/>
    <p:sldId id="306" r:id="rId13"/>
    <p:sldId id="307" r:id="rId14"/>
    <p:sldId id="308" r:id="rId15"/>
    <p:sldId id="298" r:id="rId16"/>
    <p:sldId id="297" r:id="rId17"/>
    <p:sldId id="310" r:id="rId18"/>
    <p:sldId id="301" r:id="rId19"/>
    <p:sldId id="311"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9864"/>
    <a:srgbClr val="63666B"/>
    <a:srgbClr val="CBCCC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autoAdjust="0"/>
    <p:restoredTop sz="94694" autoAdjust="0"/>
  </p:normalViewPr>
  <p:slideViewPr>
    <p:cSldViewPr snapToGrid="0" snapToObjects="1">
      <p:cViewPr varScale="1">
        <p:scale>
          <a:sx n="105" d="100"/>
          <a:sy n="105" d="100"/>
        </p:scale>
        <p:origin x="179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 Schneck" userId="f5d23f07-cfda-4a8b-8ed4-7c85a78387ea" providerId="ADAL" clId="{9DADDA06-764E-418B-9356-90AEBB0A4B48}"/>
    <pc:docChg chg="undo custSel modSld">
      <pc:chgData name="Mike Schneck" userId="f5d23f07-cfda-4a8b-8ed4-7c85a78387ea" providerId="ADAL" clId="{9DADDA06-764E-418B-9356-90AEBB0A4B48}" dt="2026-02-26T12:57:07.744" v="5" actId="2161"/>
      <pc:docMkLst>
        <pc:docMk/>
      </pc:docMkLst>
      <pc:sldChg chg="modSp mod">
        <pc:chgData name="Mike Schneck" userId="f5d23f07-cfda-4a8b-8ed4-7c85a78387ea" providerId="ADAL" clId="{9DADDA06-764E-418B-9356-90AEBB0A4B48}" dt="2026-02-26T12:57:07.744" v="5" actId="2161"/>
        <pc:sldMkLst>
          <pc:docMk/>
          <pc:sldMk cId="716448202" sldId="298"/>
        </pc:sldMkLst>
        <pc:graphicFrameChg chg="modGraphic">
          <ac:chgData name="Mike Schneck" userId="f5d23f07-cfda-4a8b-8ed4-7c85a78387ea" providerId="ADAL" clId="{9DADDA06-764E-418B-9356-90AEBB0A4B48}" dt="2026-02-26T12:57:07.744" v="5" actId="2161"/>
          <ac:graphicFrameMkLst>
            <pc:docMk/>
            <pc:sldMk cId="716448202" sldId="298"/>
            <ac:graphicFrameMk id="7" creationId="{FF5CB007-32E9-4FFD-B7A4-84014A6EAD5A}"/>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gridironpartnerscom.sharepoint.com/sites/GridironPartners/Shared%20Documents/Performance%20Reports/Fund/Mike's/FI%20Sector%20Discount%20Report.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https://gridironpartnerscom.sharepoint.com/sites/GridironPartners/Shared%20Documents/Performance%20Reports/Fund/Mike's/FI%20Sector%20Discount%20Report.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https://gridironpartnerscom.sharepoint.com/sites/GridironPartners/Shared%20Documents/Performance%20Reports/Fund/Mike's/FI%20Sector%20Discount%20Report.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https://gridironpartnerscom.sharepoint.com/sites/GridironPartners/Shared%20Documents/Performance%20Reports/Fund/Mike's/FI%20Sector%20Discount%20Report.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https://gridironpartnerscom.sharepoint.com/sites/GridironPartners/Shared%20Documents/Performance%20Reports/Fund/Mike's/FI%20Sector%20Discount%20Report.xlsx" TargetMode="External"/></Relationships>
</file>

<file path=ppt/charts/_rels/chart7.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https://gridironpartnerscom.sharepoint.com/sites/GridironPartners/Shared%20Documents/Performance%20Reports/Fund/Mike's/FI%20Sector%20Discount%20Report.xlsx" TargetMode="External"/></Relationships>
</file>

<file path=ppt/charts/_rels/chart8.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https://gridironpartnerscom.sharepoint.com/sites/GridironPartners/Shared%20Documents/Performance%20Reports/Fund/Mike's/FI%20Sector%20Discount%20Report.xlsx" TargetMode="External"/></Relationships>
</file>

<file path=ppt/charts/_rels/chart9.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https://gridironpartnerscom.sharepoint.com/sites/GridironPartners/Shared%20Documents/Performance%20Reports/Fund/Mike's/FI%20Sector%20Discount%20Report.xlsx" TargetMode="External"/></Relationships>
</file>

<file path=ppt/charts/_rels/chart10.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oleObject" Target="https://gridironpartnerscom.sharepoint.com/sites/GridironPartners/Shared%20Documents/Performance%20Reports/Fund/Mike's/FI%20Sector%20Discount%20Repor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strRef>
              <c:f>Sheet1!$B$1</c:f>
              <c:strCache>
                <c:ptCount val="1"/>
                <c:pt idx="0">
                  <c:v>NAV</c:v>
                </c:pt>
              </c:strCache>
            </c:strRef>
          </c:tx>
          <c:spPr>
            <a:ln w="28575" cap="rnd">
              <a:solidFill>
                <a:srgbClr val="BA9864"/>
              </a:solidFill>
              <a:round/>
            </a:ln>
            <a:effectLst/>
          </c:spPr>
          <c:marker>
            <c:symbol val="none"/>
          </c:marker>
          <c:cat>
            <c:numRef>
              <c:f>Sheet1!$A$2:$A$345</c:f>
              <c:numCache>
                <c:formatCode>m/d/yy</c:formatCode>
                <c:ptCount val="344"/>
                <c:pt idx="0">
                  <c:v>42310</c:v>
                </c:pt>
                <c:pt idx="1">
                  <c:v>42311</c:v>
                </c:pt>
                <c:pt idx="2">
                  <c:v>42312</c:v>
                </c:pt>
                <c:pt idx="3">
                  <c:v>42313</c:v>
                </c:pt>
                <c:pt idx="4">
                  <c:v>42314</c:v>
                </c:pt>
                <c:pt idx="5">
                  <c:v>42317</c:v>
                </c:pt>
                <c:pt idx="6">
                  <c:v>42318</c:v>
                </c:pt>
                <c:pt idx="7">
                  <c:v>42319</c:v>
                </c:pt>
                <c:pt idx="8">
                  <c:v>42320</c:v>
                </c:pt>
                <c:pt idx="9">
                  <c:v>42321</c:v>
                </c:pt>
                <c:pt idx="10">
                  <c:v>42324</c:v>
                </c:pt>
                <c:pt idx="11">
                  <c:v>42325</c:v>
                </c:pt>
                <c:pt idx="12">
                  <c:v>42326</c:v>
                </c:pt>
                <c:pt idx="13">
                  <c:v>42327</c:v>
                </c:pt>
                <c:pt idx="14">
                  <c:v>42328</c:v>
                </c:pt>
                <c:pt idx="15">
                  <c:v>42331</c:v>
                </c:pt>
                <c:pt idx="16">
                  <c:v>42332</c:v>
                </c:pt>
                <c:pt idx="17">
                  <c:v>42333</c:v>
                </c:pt>
                <c:pt idx="18">
                  <c:v>42335</c:v>
                </c:pt>
                <c:pt idx="19">
                  <c:v>42338</c:v>
                </c:pt>
                <c:pt idx="20">
                  <c:v>42339</c:v>
                </c:pt>
                <c:pt idx="21">
                  <c:v>42340</c:v>
                </c:pt>
                <c:pt idx="22">
                  <c:v>42341</c:v>
                </c:pt>
                <c:pt idx="23">
                  <c:v>42342</c:v>
                </c:pt>
                <c:pt idx="24">
                  <c:v>42345</c:v>
                </c:pt>
                <c:pt idx="25">
                  <c:v>42346</c:v>
                </c:pt>
                <c:pt idx="26">
                  <c:v>42347</c:v>
                </c:pt>
                <c:pt idx="27">
                  <c:v>42348</c:v>
                </c:pt>
                <c:pt idx="28">
                  <c:v>42349</c:v>
                </c:pt>
                <c:pt idx="29">
                  <c:v>42352</c:v>
                </c:pt>
                <c:pt idx="30">
                  <c:v>42353</c:v>
                </c:pt>
                <c:pt idx="31">
                  <c:v>42354</c:v>
                </c:pt>
                <c:pt idx="32">
                  <c:v>42355</c:v>
                </c:pt>
                <c:pt idx="33">
                  <c:v>42356</c:v>
                </c:pt>
                <c:pt idx="34">
                  <c:v>42359</c:v>
                </c:pt>
                <c:pt idx="35">
                  <c:v>42360</c:v>
                </c:pt>
                <c:pt idx="36">
                  <c:v>42361</c:v>
                </c:pt>
                <c:pt idx="37">
                  <c:v>42362</c:v>
                </c:pt>
                <c:pt idx="38">
                  <c:v>42366</c:v>
                </c:pt>
                <c:pt idx="39">
                  <c:v>42367</c:v>
                </c:pt>
                <c:pt idx="40">
                  <c:v>42368</c:v>
                </c:pt>
                <c:pt idx="41">
                  <c:v>42369</c:v>
                </c:pt>
                <c:pt idx="42">
                  <c:v>42370</c:v>
                </c:pt>
                <c:pt idx="43">
                  <c:v>42373</c:v>
                </c:pt>
                <c:pt idx="44">
                  <c:v>42374</c:v>
                </c:pt>
                <c:pt idx="45">
                  <c:v>42375</c:v>
                </c:pt>
                <c:pt idx="46">
                  <c:v>42376</c:v>
                </c:pt>
                <c:pt idx="47">
                  <c:v>42377</c:v>
                </c:pt>
                <c:pt idx="48">
                  <c:v>42380</c:v>
                </c:pt>
                <c:pt idx="49">
                  <c:v>42381</c:v>
                </c:pt>
                <c:pt idx="50">
                  <c:v>42382</c:v>
                </c:pt>
                <c:pt idx="51">
                  <c:v>42383</c:v>
                </c:pt>
                <c:pt idx="52">
                  <c:v>42384</c:v>
                </c:pt>
                <c:pt idx="53">
                  <c:v>42387</c:v>
                </c:pt>
                <c:pt idx="54">
                  <c:v>42388</c:v>
                </c:pt>
                <c:pt idx="55">
                  <c:v>42389</c:v>
                </c:pt>
                <c:pt idx="56">
                  <c:v>42390</c:v>
                </c:pt>
                <c:pt idx="57">
                  <c:v>42391</c:v>
                </c:pt>
                <c:pt idx="58">
                  <c:v>42394</c:v>
                </c:pt>
                <c:pt idx="59">
                  <c:v>42395</c:v>
                </c:pt>
                <c:pt idx="60">
                  <c:v>42396</c:v>
                </c:pt>
                <c:pt idx="61">
                  <c:v>42397</c:v>
                </c:pt>
                <c:pt idx="62">
                  <c:v>42398</c:v>
                </c:pt>
                <c:pt idx="63">
                  <c:v>42401</c:v>
                </c:pt>
                <c:pt idx="64">
                  <c:v>42402</c:v>
                </c:pt>
                <c:pt idx="65">
                  <c:v>42403</c:v>
                </c:pt>
                <c:pt idx="66">
                  <c:v>42404</c:v>
                </c:pt>
                <c:pt idx="67">
                  <c:v>42405</c:v>
                </c:pt>
                <c:pt idx="68">
                  <c:v>42408</c:v>
                </c:pt>
                <c:pt idx="69">
                  <c:v>42409</c:v>
                </c:pt>
                <c:pt idx="70">
                  <c:v>42410</c:v>
                </c:pt>
                <c:pt idx="71">
                  <c:v>42411</c:v>
                </c:pt>
                <c:pt idx="72">
                  <c:v>42412</c:v>
                </c:pt>
                <c:pt idx="73">
                  <c:v>42415</c:v>
                </c:pt>
                <c:pt idx="74">
                  <c:v>42416</c:v>
                </c:pt>
                <c:pt idx="75">
                  <c:v>42417</c:v>
                </c:pt>
                <c:pt idx="76">
                  <c:v>42418</c:v>
                </c:pt>
                <c:pt idx="77">
                  <c:v>42419</c:v>
                </c:pt>
                <c:pt idx="78">
                  <c:v>42422</c:v>
                </c:pt>
                <c:pt idx="79">
                  <c:v>42423</c:v>
                </c:pt>
                <c:pt idx="80">
                  <c:v>42424</c:v>
                </c:pt>
                <c:pt idx="81">
                  <c:v>42425</c:v>
                </c:pt>
                <c:pt idx="82">
                  <c:v>42426</c:v>
                </c:pt>
                <c:pt idx="83">
                  <c:v>42429</c:v>
                </c:pt>
                <c:pt idx="84">
                  <c:v>42430</c:v>
                </c:pt>
                <c:pt idx="85">
                  <c:v>42431</c:v>
                </c:pt>
                <c:pt idx="86">
                  <c:v>42432</c:v>
                </c:pt>
                <c:pt idx="87">
                  <c:v>42433</c:v>
                </c:pt>
                <c:pt idx="88">
                  <c:v>42436</c:v>
                </c:pt>
                <c:pt idx="89">
                  <c:v>42437</c:v>
                </c:pt>
                <c:pt idx="90">
                  <c:v>42438</c:v>
                </c:pt>
                <c:pt idx="91">
                  <c:v>42439</c:v>
                </c:pt>
                <c:pt idx="92">
                  <c:v>42440</c:v>
                </c:pt>
                <c:pt idx="93">
                  <c:v>42443</c:v>
                </c:pt>
                <c:pt idx="94">
                  <c:v>42444</c:v>
                </c:pt>
                <c:pt idx="95">
                  <c:v>42445</c:v>
                </c:pt>
                <c:pt idx="96">
                  <c:v>42446</c:v>
                </c:pt>
                <c:pt idx="97">
                  <c:v>42447</c:v>
                </c:pt>
                <c:pt idx="98">
                  <c:v>42450</c:v>
                </c:pt>
                <c:pt idx="99">
                  <c:v>42451</c:v>
                </c:pt>
                <c:pt idx="100">
                  <c:v>42452</c:v>
                </c:pt>
                <c:pt idx="101">
                  <c:v>42453</c:v>
                </c:pt>
                <c:pt idx="102">
                  <c:v>42454</c:v>
                </c:pt>
                <c:pt idx="103">
                  <c:v>42457</c:v>
                </c:pt>
                <c:pt idx="104">
                  <c:v>42458</c:v>
                </c:pt>
                <c:pt idx="105">
                  <c:v>42459</c:v>
                </c:pt>
                <c:pt idx="106">
                  <c:v>42460</c:v>
                </c:pt>
                <c:pt idx="107">
                  <c:v>42461</c:v>
                </c:pt>
                <c:pt idx="108">
                  <c:v>42464</c:v>
                </c:pt>
                <c:pt idx="109">
                  <c:v>42465</c:v>
                </c:pt>
                <c:pt idx="110">
                  <c:v>42466</c:v>
                </c:pt>
                <c:pt idx="111">
                  <c:v>42467</c:v>
                </c:pt>
                <c:pt idx="112">
                  <c:v>42468</c:v>
                </c:pt>
                <c:pt idx="113">
                  <c:v>42471</c:v>
                </c:pt>
                <c:pt idx="114">
                  <c:v>42472</c:v>
                </c:pt>
                <c:pt idx="115">
                  <c:v>42473</c:v>
                </c:pt>
                <c:pt idx="116">
                  <c:v>42474</c:v>
                </c:pt>
                <c:pt idx="117">
                  <c:v>42475</c:v>
                </c:pt>
                <c:pt idx="118">
                  <c:v>42478</c:v>
                </c:pt>
                <c:pt idx="119">
                  <c:v>42479</c:v>
                </c:pt>
                <c:pt idx="120">
                  <c:v>42480</c:v>
                </c:pt>
                <c:pt idx="121">
                  <c:v>42481</c:v>
                </c:pt>
                <c:pt idx="122">
                  <c:v>42482</c:v>
                </c:pt>
                <c:pt idx="123">
                  <c:v>42485</c:v>
                </c:pt>
                <c:pt idx="124">
                  <c:v>42486</c:v>
                </c:pt>
                <c:pt idx="125">
                  <c:v>42487</c:v>
                </c:pt>
                <c:pt idx="126">
                  <c:v>42488</c:v>
                </c:pt>
                <c:pt idx="127">
                  <c:v>42489</c:v>
                </c:pt>
                <c:pt idx="128">
                  <c:v>42492</c:v>
                </c:pt>
                <c:pt idx="129">
                  <c:v>42493</c:v>
                </c:pt>
                <c:pt idx="130">
                  <c:v>42494</c:v>
                </c:pt>
                <c:pt idx="131">
                  <c:v>42495</c:v>
                </c:pt>
                <c:pt idx="132">
                  <c:v>42496</c:v>
                </c:pt>
                <c:pt idx="133">
                  <c:v>42499</c:v>
                </c:pt>
                <c:pt idx="134">
                  <c:v>42500</c:v>
                </c:pt>
                <c:pt idx="135">
                  <c:v>42501</c:v>
                </c:pt>
                <c:pt idx="136">
                  <c:v>42502</c:v>
                </c:pt>
                <c:pt idx="137">
                  <c:v>42503</c:v>
                </c:pt>
                <c:pt idx="138">
                  <c:v>42506</c:v>
                </c:pt>
                <c:pt idx="139">
                  <c:v>42507</c:v>
                </c:pt>
                <c:pt idx="140">
                  <c:v>42508</c:v>
                </c:pt>
                <c:pt idx="141">
                  <c:v>42509</c:v>
                </c:pt>
                <c:pt idx="142">
                  <c:v>42510</c:v>
                </c:pt>
                <c:pt idx="143">
                  <c:v>42513</c:v>
                </c:pt>
                <c:pt idx="144">
                  <c:v>42514</c:v>
                </c:pt>
                <c:pt idx="145">
                  <c:v>42515</c:v>
                </c:pt>
                <c:pt idx="146">
                  <c:v>42516</c:v>
                </c:pt>
                <c:pt idx="147">
                  <c:v>42517</c:v>
                </c:pt>
                <c:pt idx="148">
                  <c:v>42520</c:v>
                </c:pt>
                <c:pt idx="149">
                  <c:v>42521</c:v>
                </c:pt>
                <c:pt idx="150">
                  <c:v>42522</c:v>
                </c:pt>
                <c:pt idx="151">
                  <c:v>42523</c:v>
                </c:pt>
                <c:pt idx="152">
                  <c:v>42524</c:v>
                </c:pt>
                <c:pt idx="153">
                  <c:v>42527</c:v>
                </c:pt>
                <c:pt idx="154">
                  <c:v>42528</c:v>
                </c:pt>
                <c:pt idx="155">
                  <c:v>42529</c:v>
                </c:pt>
                <c:pt idx="156">
                  <c:v>42530</c:v>
                </c:pt>
                <c:pt idx="157">
                  <c:v>42531</c:v>
                </c:pt>
                <c:pt idx="158">
                  <c:v>42534</c:v>
                </c:pt>
                <c:pt idx="159">
                  <c:v>42535</c:v>
                </c:pt>
                <c:pt idx="160">
                  <c:v>42536</c:v>
                </c:pt>
                <c:pt idx="161">
                  <c:v>42537</c:v>
                </c:pt>
                <c:pt idx="162">
                  <c:v>42538</c:v>
                </c:pt>
                <c:pt idx="163">
                  <c:v>42541</c:v>
                </c:pt>
                <c:pt idx="164">
                  <c:v>42542</c:v>
                </c:pt>
                <c:pt idx="165">
                  <c:v>42543</c:v>
                </c:pt>
                <c:pt idx="166">
                  <c:v>42544</c:v>
                </c:pt>
                <c:pt idx="167">
                  <c:v>42545</c:v>
                </c:pt>
                <c:pt idx="168">
                  <c:v>42548</c:v>
                </c:pt>
                <c:pt idx="169">
                  <c:v>42549</c:v>
                </c:pt>
                <c:pt idx="170">
                  <c:v>42550</c:v>
                </c:pt>
                <c:pt idx="171">
                  <c:v>42551</c:v>
                </c:pt>
                <c:pt idx="172">
                  <c:v>42552</c:v>
                </c:pt>
                <c:pt idx="173">
                  <c:v>42555</c:v>
                </c:pt>
                <c:pt idx="174">
                  <c:v>42556</c:v>
                </c:pt>
                <c:pt idx="175">
                  <c:v>42557</c:v>
                </c:pt>
                <c:pt idx="176">
                  <c:v>42558</c:v>
                </c:pt>
                <c:pt idx="177">
                  <c:v>42559</c:v>
                </c:pt>
                <c:pt idx="178">
                  <c:v>42562</c:v>
                </c:pt>
                <c:pt idx="179">
                  <c:v>42563</c:v>
                </c:pt>
                <c:pt idx="180">
                  <c:v>42564</c:v>
                </c:pt>
                <c:pt idx="181">
                  <c:v>42565</c:v>
                </c:pt>
                <c:pt idx="182">
                  <c:v>42566</c:v>
                </c:pt>
                <c:pt idx="183">
                  <c:v>42569</c:v>
                </c:pt>
                <c:pt idx="184">
                  <c:v>42570</c:v>
                </c:pt>
                <c:pt idx="185">
                  <c:v>42571</c:v>
                </c:pt>
                <c:pt idx="186">
                  <c:v>42572</c:v>
                </c:pt>
                <c:pt idx="187">
                  <c:v>42573</c:v>
                </c:pt>
                <c:pt idx="188">
                  <c:v>42576</c:v>
                </c:pt>
                <c:pt idx="189">
                  <c:v>42577</c:v>
                </c:pt>
                <c:pt idx="190">
                  <c:v>42578</c:v>
                </c:pt>
                <c:pt idx="191">
                  <c:v>42579</c:v>
                </c:pt>
                <c:pt idx="192">
                  <c:v>42580</c:v>
                </c:pt>
                <c:pt idx="193">
                  <c:v>42583</c:v>
                </c:pt>
                <c:pt idx="194">
                  <c:v>42584</c:v>
                </c:pt>
                <c:pt idx="195">
                  <c:v>42585</c:v>
                </c:pt>
                <c:pt idx="196">
                  <c:v>42586</c:v>
                </c:pt>
                <c:pt idx="197">
                  <c:v>42587</c:v>
                </c:pt>
                <c:pt idx="198">
                  <c:v>42590</c:v>
                </c:pt>
                <c:pt idx="199">
                  <c:v>42591</c:v>
                </c:pt>
                <c:pt idx="200">
                  <c:v>42592</c:v>
                </c:pt>
                <c:pt idx="201">
                  <c:v>42593</c:v>
                </c:pt>
                <c:pt idx="202">
                  <c:v>42594</c:v>
                </c:pt>
                <c:pt idx="203">
                  <c:v>42597</c:v>
                </c:pt>
                <c:pt idx="204">
                  <c:v>42598</c:v>
                </c:pt>
                <c:pt idx="205">
                  <c:v>42599</c:v>
                </c:pt>
                <c:pt idx="206">
                  <c:v>42600</c:v>
                </c:pt>
                <c:pt idx="207">
                  <c:v>42601</c:v>
                </c:pt>
                <c:pt idx="208">
                  <c:v>42604</c:v>
                </c:pt>
                <c:pt idx="209">
                  <c:v>42605</c:v>
                </c:pt>
                <c:pt idx="210">
                  <c:v>42606</c:v>
                </c:pt>
                <c:pt idx="211">
                  <c:v>42607</c:v>
                </c:pt>
                <c:pt idx="212">
                  <c:v>42608</c:v>
                </c:pt>
                <c:pt idx="213">
                  <c:v>42611</c:v>
                </c:pt>
                <c:pt idx="214">
                  <c:v>42612</c:v>
                </c:pt>
                <c:pt idx="215">
                  <c:v>42613</c:v>
                </c:pt>
                <c:pt idx="216">
                  <c:v>42614</c:v>
                </c:pt>
                <c:pt idx="217">
                  <c:v>42615</c:v>
                </c:pt>
                <c:pt idx="218">
                  <c:v>42619</c:v>
                </c:pt>
                <c:pt idx="219">
                  <c:v>42620</c:v>
                </c:pt>
                <c:pt idx="220">
                  <c:v>42621</c:v>
                </c:pt>
                <c:pt idx="221">
                  <c:v>42622</c:v>
                </c:pt>
                <c:pt idx="222">
                  <c:v>42625</c:v>
                </c:pt>
                <c:pt idx="223">
                  <c:v>42626</c:v>
                </c:pt>
                <c:pt idx="224">
                  <c:v>42627</c:v>
                </c:pt>
                <c:pt idx="225">
                  <c:v>42628</c:v>
                </c:pt>
                <c:pt idx="226">
                  <c:v>42629</c:v>
                </c:pt>
                <c:pt idx="227">
                  <c:v>42632</c:v>
                </c:pt>
                <c:pt idx="228">
                  <c:v>42633</c:v>
                </c:pt>
                <c:pt idx="229">
                  <c:v>42634</c:v>
                </c:pt>
                <c:pt idx="230">
                  <c:v>42635</c:v>
                </c:pt>
                <c:pt idx="231">
                  <c:v>42636</c:v>
                </c:pt>
                <c:pt idx="232">
                  <c:v>42639</c:v>
                </c:pt>
                <c:pt idx="233">
                  <c:v>42640</c:v>
                </c:pt>
                <c:pt idx="234">
                  <c:v>42641</c:v>
                </c:pt>
                <c:pt idx="235">
                  <c:v>42642</c:v>
                </c:pt>
                <c:pt idx="236">
                  <c:v>42643</c:v>
                </c:pt>
                <c:pt idx="237">
                  <c:v>42646</c:v>
                </c:pt>
                <c:pt idx="238">
                  <c:v>42647</c:v>
                </c:pt>
                <c:pt idx="239">
                  <c:v>42648</c:v>
                </c:pt>
                <c:pt idx="240">
                  <c:v>42649</c:v>
                </c:pt>
                <c:pt idx="241">
                  <c:v>42650</c:v>
                </c:pt>
                <c:pt idx="242">
                  <c:v>42653</c:v>
                </c:pt>
                <c:pt idx="243">
                  <c:v>42654</c:v>
                </c:pt>
                <c:pt idx="244">
                  <c:v>42655</c:v>
                </c:pt>
                <c:pt idx="245">
                  <c:v>42656</c:v>
                </c:pt>
                <c:pt idx="246">
                  <c:v>42657</c:v>
                </c:pt>
                <c:pt idx="247">
                  <c:v>42660</c:v>
                </c:pt>
                <c:pt idx="248">
                  <c:v>42661</c:v>
                </c:pt>
                <c:pt idx="249">
                  <c:v>42662</c:v>
                </c:pt>
                <c:pt idx="250">
                  <c:v>42663</c:v>
                </c:pt>
                <c:pt idx="251">
                  <c:v>42664</c:v>
                </c:pt>
                <c:pt idx="252">
                  <c:v>42667</c:v>
                </c:pt>
                <c:pt idx="253">
                  <c:v>42668</c:v>
                </c:pt>
                <c:pt idx="254">
                  <c:v>42669</c:v>
                </c:pt>
                <c:pt idx="255">
                  <c:v>42670</c:v>
                </c:pt>
                <c:pt idx="256">
                  <c:v>42671</c:v>
                </c:pt>
                <c:pt idx="257">
                  <c:v>42674</c:v>
                </c:pt>
                <c:pt idx="258">
                  <c:v>42675</c:v>
                </c:pt>
                <c:pt idx="259">
                  <c:v>42676</c:v>
                </c:pt>
                <c:pt idx="260">
                  <c:v>42677</c:v>
                </c:pt>
                <c:pt idx="261">
                  <c:v>42678</c:v>
                </c:pt>
                <c:pt idx="262">
                  <c:v>42681</c:v>
                </c:pt>
                <c:pt idx="263">
                  <c:v>42682</c:v>
                </c:pt>
                <c:pt idx="264">
                  <c:v>42683</c:v>
                </c:pt>
                <c:pt idx="265">
                  <c:v>42684</c:v>
                </c:pt>
                <c:pt idx="266">
                  <c:v>42685</c:v>
                </c:pt>
                <c:pt idx="267">
                  <c:v>42688</c:v>
                </c:pt>
                <c:pt idx="268">
                  <c:v>42689</c:v>
                </c:pt>
                <c:pt idx="269">
                  <c:v>42690</c:v>
                </c:pt>
                <c:pt idx="270">
                  <c:v>42691</c:v>
                </c:pt>
                <c:pt idx="271">
                  <c:v>42692</c:v>
                </c:pt>
                <c:pt idx="272">
                  <c:v>42695</c:v>
                </c:pt>
                <c:pt idx="273">
                  <c:v>42696</c:v>
                </c:pt>
                <c:pt idx="274">
                  <c:v>42697</c:v>
                </c:pt>
                <c:pt idx="275">
                  <c:v>42698</c:v>
                </c:pt>
                <c:pt idx="276">
                  <c:v>42699</c:v>
                </c:pt>
                <c:pt idx="277">
                  <c:v>42702</c:v>
                </c:pt>
                <c:pt idx="278">
                  <c:v>42703</c:v>
                </c:pt>
                <c:pt idx="279">
                  <c:v>42704</c:v>
                </c:pt>
                <c:pt idx="280">
                  <c:v>42705</c:v>
                </c:pt>
                <c:pt idx="281">
                  <c:v>42706</c:v>
                </c:pt>
                <c:pt idx="282">
                  <c:v>42709</c:v>
                </c:pt>
                <c:pt idx="283">
                  <c:v>42710</c:v>
                </c:pt>
                <c:pt idx="284">
                  <c:v>42711</c:v>
                </c:pt>
                <c:pt idx="285">
                  <c:v>42712</c:v>
                </c:pt>
                <c:pt idx="286">
                  <c:v>42713</c:v>
                </c:pt>
                <c:pt idx="287">
                  <c:v>42716</c:v>
                </c:pt>
                <c:pt idx="288">
                  <c:v>42717</c:v>
                </c:pt>
                <c:pt idx="289">
                  <c:v>42718</c:v>
                </c:pt>
                <c:pt idx="290">
                  <c:v>42719</c:v>
                </c:pt>
                <c:pt idx="291">
                  <c:v>42720</c:v>
                </c:pt>
                <c:pt idx="292">
                  <c:v>42723</c:v>
                </c:pt>
                <c:pt idx="293">
                  <c:v>42724</c:v>
                </c:pt>
                <c:pt idx="294">
                  <c:v>42725</c:v>
                </c:pt>
                <c:pt idx="295">
                  <c:v>42726</c:v>
                </c:pt>
                <c:pt idx="296">
                  <c:v>42727</c:v>
                </c:pt>
                <c:pt idx="297">
                  <c:v>42730</c:v>
                </c:pt>
                <c:pt idx="298">
                  <c:v>42731</c:v>
                </c:pt>
                <c:pt idx="299">
                  <c:v>42732</c:v>
                </c:pt>
                <c:pt idx="300">
                  <c:v>42733</c:v>
                </c:pt>
                <c:pt idx="301">
                  <c:v>42734</c:v>
                </c:pt>
                <c:pt idx="302">
                  <c:v>42737</c:v>
                </c:pt>
                <c:pt idx="303">
                  <c:v>42738</c:v>
                </c:pt>
                <c:pt idx="304">
                  <c:v>42739</c:v>
                </c:pt>
                <c:pt idx="305">
                  <c:v>42740</c:v>
                </c:pt>
                <c:pt idx="306">
                  <c:v>42741</c:v>
                </c:pt>
                <c:pt idx="307">
                  <c:v>42744</c:v>
                </c:pt>
                <c:pt idx="308">
                  <c:v>42745</c:v>
                </c:pt>
                <c:pt idx="309">
                  <c:v>42746</c:v>
                </c:pt>
                <c:pt idx="310">
                  <c:v>42747</c:v>
                </c:pt>
                <c:pt idx="311">
                  <c:v>42748</c:v>
                </c:pt>
                <c:pt idx="312">
                  <c:v>42751</c:v>
                </c:pt>
                <c:pt idx="313">
                  <c:v>42752</c:v>
                </c:pt>
                <c:pt idx="314">
                  <c:v>42753</c:v>
                </c:pt>
                <c:pt idx="315">
                  <c:v>42754</c:v>
                </c:pt>
                <c:pt idx="316">
                  <c:v>42755</c:v>
                </c:pt>
                <c:pt idx="317">
                  <c:v>42758</c:v>
                </c:pt>
                <c:pt idx="318">
                  <c:v>42759</c:v>
                </c:pt>
                <c:pt idx="319">
                  <c:v>42760</c:v>
                </c:pt>
                <c:pt idx="320">
                  <c:v>42761</c:v>
                </c:pt>
                <c:pt idx="321">
                  <c:v>42762</c:v>
                </c:pt>
                <c:pt idx="322">
                  <c:v>42765</c:v>
                </c:pt>
                <c:pt idx="323">
                  <c:v>42766</c:v>
                </c:pt>
                <c:pt idx="324">
                  <c:v>42767</c:v>
                </c:pt>
                <c:pt idx="325">
                  <c:v>42768</c:v>
                </c:pt>
                <c:pt idx="326">
                  <c:v>42769</c:v>
                </c:pt>
                <c:pt idx="327">
                  <c:v>42772</c:v>
                </c:pt>
                <c:pt idx="328">
                  <c:v>42773</c:v>
                </c:pt>
                <c:pt idx="329">
                  <c:v>42774</c:v>
                </c:pt>
                <c:pt idx="330">
                  <c:v>42775</c:v>
                </c:pt>
                <c:pt idx="331">
                  <c:v>42776</c:v>
                </c:pt>
                <c:pt idx="332">
                  <c:v>42779</c:v>
                </c:pt>
                <c:pt idx="333">
                  <c:v>42780</c:v>
                </c:pt>
                <c:pt idx="334">
                  <c:v>42781</c:v>
                </c:pt>
                <c:pt idx="335">
                  <c:v>42782</c:v>
                </c:pt>
                <c:pt idx="336">
                  <c:v>42783</c:v>
                </c:pt>
                <c:pt idx="337">
                  <c:v>42786</c:v>
                </c:pt>
                <c:pt idx="338">
                  <c:v>42787</c:v>
                </c:pt>
                <c:pt idx="339">
                  <c:v>42788</c:v>
                </c:pt>
                <c:pt idx="340">
                  <c:v>42789</c:v>
                </c:pt>
                <c:pt idx="341">
                  <c:v>42790</c:v>
                </c:pt>
                <c:pt idx="342">
                  <c:v>42793</c:v>
                </c:pt>
                <c:pt idx="343">
                  <c:v>42794</c:v>
                </c:pt>
              </c:numCache>
            </c:numRef>
          </c:cat>
          <c:val>
            <c:numRef>
              <c:f>Sheet1!$B$2:$B$345</c:f>
              <c:numCache>
                <c:formatCode>General</c:formatCode>
                <c:ptCount val="344"/>
                <c:pt idx="0">
                  <c:v>11.77</c:v>
                </c:pt>
                <c:pt idx="1">
                  <c:v>11.79</c:v>
                </c:pt>
                <c:pt idx="2">
                  <c:v>11.78</c:v>
                </c:pt>
                <c:pt idx="3">
                  <c:v>11.75</c:v>
                </c:pt>
                <c:pt idx="4">
                  <c:v>11.64</c:v>
                </c:pt>
                <c:pt idx="5">
                  <c:v>11.56</c:v>
                </c:pt>
                <c:pt idx="6">
                  <c:v>11.52</c:v>
                </c:pt>
                <c:pt idx="7">
                  <c:v>11.48</c:v>
                </c:pt>
                <c:pt idx="8">
                  <c:v>11.38</c:v>
                </c:pt>
                <c:pt idx="9">
                  <c:v>11.31</c:v>
                </c:pt>
                <c:pt idx="10">
                  <c:v>11.34</c:v>
                </c:pt>
                <c:pt idx="11">
                  <c:v>11.32</c:v>
                </c:pt>
                <c:pt idx="12">
                  <c:v>11.4</c:v>
                </c:pt>
                <c:pt idx="13">
                  <c:v>11.32</c:v>
                </c:pt>
                <c:pt idx="14">
                  <c:v>11.32</c:v>
                </c:pt>
                <c:pt idx="15">
                  <c:v>11.29</c:v>
                </c:pt>
                <c:pt idx="16">
                  <c:v>11.31</c:v>
                </c:pt>
                <c:pt idx="17">
                  <c:v>11.33</c:v>
                </c:pt>
                <c:pt idx="18">
                  <c:v>11.35</c:v>
                </c:pt>
                <c:pt idx="19">
                  <c:v>11.33</c:v>
                </c:pt>
                <c:pt idx="20">
                  <c:v>11.42</c:v>
                </c:pt>
                <c:pt idx="21">
                  <c:v>11.35</c:v>
                </c:pt>
                <c:pt idx="22">
                  <c:v>11.23</c:v>
                </c:pt>
                <c:pt idx="23">
                  <c:v>11.3</c:v>
                </c:pt>
                <c:pt idx="24">
                  <c:v>11.23</c:v>
                </c:pt>
                <c:pt idx="25">
                  <c:v>11.08</c:v>
                </c:pt>
                <c:pt idx="26">
                  <c:v>11.02</c:v>
                </c:pt>
                <c:pt idx="27">
                  <c:v>11.04</c:v>
                </c:pt>
                <c:pt idx="28">
                  <c:v>10.86</c:v>
                </c:pt>
                <c:pt idx="29">
                  <c:v>10.76</c:v>
                </c:pt>
                <c:pt idx="30">
                  <c:v>10.87</c:v>
                </c:pt>
                <c:pt idx="31">
                  <c:v>10.97</c:v>
                </c:pt>
                <c:pt idx="32">
                  <c:v>10.93</c:v>
                </c:pt>
                <c:pt idx="33">
                  <c:v>10.82</c:v>
                </c:pt>
                <c:pt idx="34">
                  <c:v>10.85</c:v>
                </c:pt>
                <c:pt idx="35">
                  <c:v>10.88</c:v>
                </c:pt>
                <c:pt idx="36">
                  <c:v>10.96</c:v>
                </c:pt>
                <c:pt idx="37">
                  <c:v>10.98</c:v>
                </c:pt>
                <c:pt idx="38">
                  <c:v>10.96</c:v>
                </c:pt>
                <c:pt idx="39">
                  <c:v>10.94</c:v>
                </c:pt>
                <c:pt idx="40">
                  <c:v>10.91</c:v>
                </c:pt>
                <c:pt idx="41">
                  <c:v>10.91</c:v>
                </c:pt>
                <c:pt idx="42">
                  <c:v>10.91</c:v>
                </c:pt>
                <c:pt idx="43">
                  <c:v>10.78</c:v>
                </c:pt>
                <c:pt idx="44">
                  <c:v>10.82</c:v>
                </c:pt>
                <c:pt idx="45">
                  <c:v>10.74</c:v>
                </c:pt>
                <c:pt idx="46">
                  <c:v>10.57</c:v>
                </c:pt>
                <c:pt idx="47">
                  <c:v>10.51</c:v>
                </c:pt>
                <c:pt idx="48">
                  <c:v>10.46</c:v>
                </c:pt>
                <c:pt idx="49">
                  <c:v>10.48</c:v>
                </c:pt>
                <c:pt idx="50">
                  <c:v>10.29</c:v>
                </c:pt>
                <c:pt idx="51">
                  <c:v>10.3</c:v>
                </c:pt>
                <c:pt idx="52">
                  <c:v>10.09</c:v>
                </c:pt>
                <c:pt idx="53">
                  <c:v>10.09</c:v>
                </c:pt>
                <c:pt idx="54">
                  <c:v>10.029999999999999</c:v>
                </c:pt>
                <c:pt idx="55">
                  <c:v>9.9</c:v>
                </c:pt>
                <c:pt idx="56">
                  <c:v>9.92</c:v>
                </c:pt>
                <c:pt idx="57">
                  <c:v>10.09</c:v>
                </c:pt>
                <c:pt idx="58">
                  <c:v>10.029999999999999</c:v>
                </c:pt>
                <c:pt idx="59">
                  <c:v>10.1</c:v>
                </c:pt>
                <c:pt idx="60">
                  <c:v>10.02</c:v>
                </c:pt>
                <c:pt idx="61">
                  <c:v>10</c:v>
                </c:pt>
                <c:pt idx="62">
                  <c:v>10.11</c:v>
                </c:pt>
                <c:pt idx="63">
                  <c:v>10.14</c:v>
                </c:pt>
                <c:pt idx="64">
                  <c:v>10</c:v>
                </c:pt>
                <c:pt idx="65">
                  <c:v>9.9700000000000006</c:v>
                </c:pt>
                <c:pt idx="66">
                  <c:v>10.02</c:v>
                </c:pt>
                <c:pt idx="67">
                  <c:v>9.8700000000000028</c:v>
                </c:pt>
                <c:pt idx="68">
                  <c:v>9.58</c:v>
                </c:pt>
                <c:pt idx="69">
                  <c:v>9.5400000000000009</c:v>
                </c:pt>
                <c:pt idx="70">
                  <c:v>9.5500000000000007</c:v>
                </c:pt>
                <c:pt idx="71">
                  <c:v>9.4600000000000026</c:v>
                </c:pt>
                <c:pt idx="72">
                  <c:v>9.51</c:v>
                </c:pt>
                <c:pt idx="73">
                  <c:v>9.51</c:v>
                </c:pt>
                <c:pt idx="74">
                  <c:v>9.620000000000001</c:v>
                </c:pt>
                <c:pt idx="75">
                  <c:v>9.76</c:v>
                </c:pt>
                <c:pt idx="76">
                  <c:v>9.77</c:v>
                </c:pt>
                <c:pt idx="77">
                  <c:v>9.75</c:v>
                </c:pt>
                <c:pt idx="78">
                  <c:v>9.86</c:v>
                </c:pt>
                <c:pt idx="79">
                  <c:v>9.83</c:v>
                </c:pt>
                <c:pt idx="80">
                  <c:v>9.86</c:v>
                </c:pt>
                <c:pt idx="81">
                  <c:v>9.94</c:v>
                </c:pt>
                <c:pt idx="82">
                  <c:v>9.98</c:v>
                </c:pt>
                <c:pt idx="83">
                  <c:v>9.99</c:v>
                </c:pt>
                <c:pt idx="84">
                  <c:v>10.119999999999999</c:v>
                </c:pt>
                <c:pt idx="85">
                  <c:v>10.19</c:v>
                </c:pt>
                <c:pt idx="86">
                  <c:v>10.23</c:v>
                </c:pt>
                <c:pt idx="87">
                  <c:v>10.28</c:v>
                </c:pt>
                <c:pt idx="88">
                  <c:v>10.32</c:v>
                </c:pt>
                <c:pt idx="89">
                  <c:v>10.16</c:v>
                </c:pt>
                <c:pt idx="90">
                  <c:v>10.18</c:v>
                </c:pt>
                <c:pt idx="91">
                  <c:v>10.19</c:v>
                </c:pt>
                <c:pt idx="92">
                  <c:v>10.32</c:v>
                </c:pt>
                <c:pt idx="93">
                  <c:v>10.33</c:v>
                </c:pt>
                <c:pt idx="94">
                  <c:v>10.27</c:v>
                </c:pt>
                <c:pt idx="95">
                  <c:v>10.31</c:v>
                </c:pt>
                <c:pt idx="96">
                  <c:v>10.35</c:v>
                </c:pt>
                <c:pt idx="97">
                  <c:v>10.42</c:v>
                </c:pt>
                <c:pt idx="98">
                  <c:v>10.45</c:v>
                </c:pt>
                <c:pt idx="99">
                  <c:v>10.46</c:v>
                </c:pt>
                <c:pt idx="100">
                  <c:v>10.41</c:v>
                </c:pt>
                <c:pt idx="101">
                  <c:v>10.38</c:v>
                </c:pt>
                <c:pt idx="102">
                  <c:v>10.38</c:v>
                </c:pt>
                <c:pt idx="103">
                  <c:v>10.38</c:v>
                </c:pt>
                <c:pt idx="104">
                  <c:v>10.44</c:v>
                </c:pt>
                <c:pt idx="105">
                  <c:v>10.46</c:v>
                </c:pt>
                <c:pt idx="106">
                  <c:v>10.47</c:v>
                </c:pt>
                <c:pt idx="107">
                  <c:v>10.51</c:v>
                </c:pt>
                <c:pt idx="108">
                  <c:v>10.53</c:v>
                </c:pt>
                <c:pt idx="109">
                  <c:v>10.46</c:v>
                </c:pt>
                <c:pt idx="110">
                  <c:v>10.55</c:v>
                </c:pt>
                <c:pt idx="111">
                  <c:v>10.49</c:v>
                </c:pt>
                <c:pt idx="112">
                  <c:v>10.42</c:v>
                </c:pt>
                <c:pt idx="113">
                  <c:v>10.4</c:v>
                </c:pt>
                <c:pt idx="114">
                  <c:v>10.44</c:v>
                </c:pt>
                <c:pt idx="115">
                  <c:v>10.54</c:v>
                </c:pt>
                <c:pt idx="116">
                  <c:v>10.54</c:v>
                </c:pt>
                <c:pt idx="117">
                  <c:v>10.54</c:v>
                </c:pt>
                <c:pt idx="118">
                  <c:v>10.58</c:v>
                </c:pt>
                <c:pt idx="119">
                  <c:v>10.6</c:v>
                </c:pt>
                <c:pt idx="120">
                  <c:v>10.65</c:v>
                </c:pt>
                <c:pt idx="121">
                  <c:v>10.64</c:v>
                </c:pt>
                <c:pt idx="122">
                  <c:v>10.67</c:v>
                </c:pt>
                <c:pt idx="123">
                  <c:v>10.66</c:v>
                </c:pt>
                <c:pt idx="124">
                  <c:v>10.7</c:v>
                </c:pt>
                <c:pt idx="125">
                  <c:v>10.73</c:v>
                </c:pt>
                <c:pt idx="126">
                  <c:v>10.68</c:v>
                </c:pt>
                <c:pt idx="127">
                  <c:v>10.63</c:v>
                </c:pt>
                <c:pt idx="128">
                  <c:v>10.6</c:v>
                </c:pt>
                <c:pt idx="129">
                  <c:v>10.58</c:v>
                </c:pt>
                <c:pt idx="130">
                  <c:v>10.53</c:v>
                </c:pt>
                <c:pt idx="131">
                  <c:v>10.53</c:v>
                </c:pt>
                <c:pt idx="132">
                  <c:v>10.5</c:v>
                </c:pt>
                <c:pt idx="133">
                  <c:v>10.42</c:v>
                </c:pt>
                <c:pt idx="134">
                  <c:v>10.49</c:v>
                </c:pt>
                <c:pt idx="135">
                  <c:v>10.48</c:v>
                </c:pt>
                <c:pt idx="136">
                  <c:v>10.45</c:v>
                </c:pt>
                <c:pt idx="137">
                  <c:v>10.48</c:v>
                </c:pt>
                <c:pt idx="138">
                  <c:v>10.53</c:v>
                </c:pt>
                <c:pt idx="139">
                  <c:v>10.5</c:v>
                </c:pt>
                <c:pt idx="140">
                  <c:v>10.52</c:v>
                </c:pt>
                <c:pt idx="141">
                  <c:v>10.5</c:v>
                </c:pt>
                <c:pt idx="142">
                  <c:v>10.55</c:v>
                </c:pt>
                <c:pt idx="143">
                  <c:v>10.55</c:v>
                </c:pt>
                <c:pt idx="144">
                  <c:v>10.62</c:v>
                </c:pt>
                <c:pt idx="145">
                  <c:v>10.65</c:v>
                </c:pt>
                <c:pt idx="146">
                  <c:v>10.66</c:v>
                </c:pt>
                <c:pt idx="147">
                  <c:v>10.67</c:v>
                </c:pt>
                <c:pt idx="148">
                  <c:v>10.67</c:v>
                </c:pt>
                <c:pt idx="149">
                  <c:v>10.7</c:v>
                </c:pt>
                <c:pt idx="150">
                  <c:v>10.7</c:v>
                </c:pt>
                <c:pt idx="151">
                  <c:v>10.73</c:v>
                </c:pt>
                <c:pt idx="152">
                  <c:v>10.72</c:v>
                </c:pt>
                <c:pt idx="153">
                  <c:v>10.75</c:v>
                </c:pt>
                <c:pt idx="154">
                  <c:v>10.81</c:v>
                </c:pt>
                <c:pt idx="155">
                  <c:v>10.75</c:v>
                </c:pt>
                <c:pt idx="156">
                  <c:v>10.74</c:v>
                </c:pt>
                <c:pt idx="157">
                  <c:v>10.65</c:v>
                </c:pt>
                <c:pt idx="158">
                  <c:v>10.63</c:v>
                </c:pt>
                <c:pt idx="159">
                  <c:v>10.59</c:v>
                </c:pt>
                <c:pt idx="160">
                  <c:v>10.59</c:v>
                </c:pt>
                <c:pt idx="161">
                  <c:v>10.56</c:v>
                </c:pt>
                <c:pt idx="162">
                  <c:v>10.57</c:v>
                </c:pt>
                <c:pt idx="163">
                  <c:v>10.65</c:v>
                </c:pt>
                <c:pt idx="164">
                  <c:v>10.65</c:v>
                </c:pt>
                <c:pt idx="165">
                  <c:v>10.61</c:v>
                </c:pt>
                <c:pt idx="166">
                  <c:v>10.7</c:v>
                </c:pt>
                <c:pt idx="167">
                  <c:v>10.47</c:v>
                </c:pt>
                <c:pt idx="168">
                  <c:v>10.31</c:v>
                </c:pt>
                <c:pt idx="169">
                  <c:v>10.4</c:v>
                </c:pt>
                <c:pt idx="170">
                  <c:v>10.51</c:v>
                </c:pt>
                <c:pt idx="171">
                  <c:v>10.58</c:v>
                </c:pt>
                <c:pt idx="172">
                  <c:v>10.62</c:v>
                </c:pt>
                <c:pt idx="173">
                  <c:v>10.62</c:v>
                </c:pt>
                <c:pt idx="174">
                  <c:v>10.6</c:v>
                </c:pt>
                <c:pt idx="175">
                  <c:v>10.59</c:v>
                </c:pt>
                <c:pt idx="176">
                  <c:v>10.63</c:v>
                </c:pt>
                <c:pt idx="177">
                  <c:v>10.66</c:v>
                </c:pt>
                <c:pt idx="178">
                  <c:v>10.73</c:v>
                </c:pt>
                <c:pt idx="179">
                  <c:v>10.82</c:v>
                </c:pt>
                <c:pt idx="180">
                  <c:v>10.82</c:v>
                </c:pt>
                <c:pt idx="181">
                  <c:v>10.85</c:v>
                </c:pt>
                <c:pt idx="182">
                  <c:v>10.85</c:v>
                </c:pt>
                <c:pt idx="183">
                  <c:v>10.87</c:v>
                </c:pt>
                <c:pt idx="184">
                  <c:v>10.86</c:v>
                </c:pt>
                <c:pt idx="185">
                  <c:v>10.91</c:v>
                </c:pt>
                <c:pt idx="186">
                  <c:v>10.9</c:v>
                </c:pt>
                <c:pt idx="187">
                  <c:v>10.95</c:v>
                </c:pt>
                <c:pt idx="188">
                  <c:v>10.94</c:v>
                </c:pt>
                <c:pt idx="189">
                  <c:v>10.97</c:v>
                </c:pt>
                <c:pt idx="190">
                  <c:v>10.94</c:v>
                </c:pt>
                <c:pt idx="191">
                  <c:v>10.95</c:v>
                </c:pt>
                <c:pt idx="192">
                  <c:v>10.93</c:v>
                </c:pt>
                <c:pt idx="193">
                  <c:v>10.91</c:v>
                </c:pt>
                <c:pt idx="194">
                  <c:v>10.85</c:v>
                </c:pt>
                <c:pt idx="195">
                  <c:v>10.88</c:v>
                </c:pt>
                <c:pt idx="196">
                  <c:v>10.92</c:v>
                </c:pt>
                <c:pt idx="197">
                  <c:v>10.96</c:v>
                </c:pt>
                <c:pt idx="198">
                  <c:v>10.88</c:v>
                </c:pt>
                <c:pt idx="199">
                  <c:v>10.91</c:v>
                </c:pt>
                <c:pt idx="200">
                  <c:v>10.88</c:v>
                </c:pt>
                <c:pt idx="201">
                  <c:v>10.9</c:v>
                </c:pt>
                <c:pt idx="202">
                  <c:v>10.92</c:v>
                </c:pt>
                <c:pt idx="203">
                  <c:v>10.96</c:v>
                </c:pt>
                <c:pt idx="204">
                  <c:v>10.94</c:v>
                </c:pt>
                <c:pt idx="205">
                  <c:v>10.92</c:v>
                </c:pt>
                <c:pt idx="206">
                  <c:v>10.92</c:v>
                </c:pt>
                <c:pt idx="207">
                  <c:v>10.95</c:v>
                </c:pt>
                <c:pt idx="208">
                  <c:v>10.95</c:v>
                </c:pt>
                <c:pt idx="209">
                  <c:v>10.98</c:v>
                </c:pt>
                <c:pt idx="210">
                  <c:v>10.93</c:v>
                </c:pt>
                <c:pt idx="211">
                  <c:v>10.94</c:v>
                </c:pt>
                <c:pt idx="212">
                  <c:v>10.94</c:v>
                </c:pt>
                <c:pt idx="213">
                  <c:v>10.96</c:v>
                </c:pt>
                <c:pt idx="214">
                  <c:v>10.95</c:v>
                </c:pt>
                <c:pt idx="215">
                  <c:v>10.94</c:v>
                </c:pt>
                <c:pt idx="216">
                  <c:v>10.93</c:v>
                </c:pt>
                <c:pt idx="217">
                  <c:v>10.97</c:v>
                </c:pt>
                <c:pt idx="218">
                  <c:v>11.02</c:v>
                </c:pt>
                <c:pt idx="219">
                  <c:v>11.03</c:v>
                </c:pt>
                <c:pt idx="220">
                  <c:v>10.94</c:v>
                </c:pt>
                <c:pt idx="221">
                  <c:v>10.79</c:v>
                </c:pt>
                <c:pt idx="222">
                  <c:v>10.81</c:v>
                </c:pt>
                <c:pt idx="223">
                  <c:v>10.74</c:v>
                </c:pt>
                <c:pt idx="224">
                  <c:v>10.73</c:v>
                </c:pt>
                <c:pt idx="225">
                  <c:v>10.79</c:v>
                </c:pt>
                <c:pt idx="226">
                  <c:v>10.79</c:v>
                </c:pt>
                <c:pt idx="227">
                  <c:v>10.8</c:v>
                </c:pt>
                <c:pt idx="228">
                  <c:v>10.78</c:v>
                </c:pt>
                <c:pt idx="229">
                  <c:v>10.88</c:v>
                </c:pt>
                <c:pt idx="230">
                  <c:v>10.97</c:v>
                </c:pt>
                <c:pt idx="231">
                  <c:v>10.94</c:v>
                </c:pt>
                <c:pt idx="232">
                  <c:v>10.89</c:v>
                </c:pt>
                <c:pt idx="233">
                  <c:v>10.92</c:v>
                </c:pt>
                <c:pt idx="234">
                  <c:v>10.97</c:v>
                </c:pt>
                <c:pt idx="235">
                  <c:v>10.94</c:v>
                </c:pt>
                <c:pt idx="236">
                  <c:v>10.98</c:v>
                </c:pt>
                <c:pt idx="237">
                  <c:v>10.98</c:v>
                </c:pt>
                <c:pt idx="238">
                  <c:v>10.96</c:v>
                </c:pt>
                <c:pt idx="239">
                  <c:v>10.98</c:v>
                </c:pt>
                <c:pt idx="240">
                  <c:v>10.89</c:v>
                </c:pt>
                <c:pt idx="241">
                  <c:v>10.88</c:v>
                </c:pt>
                <c:pt idx="242">
                  <c:v>10.92</c:v>
                </c:pt>
                <c:pt idx="243">
                  <c:v>10.81</c:v>
                </c:pt>
                <c:pt idx="244">
                  <c:v>10.79</c:v>
                </c:pt>
                <c:pt idx="245">
                  <c:v>10.77</c:v>
                </c:pt>
                <c:pt idx="246">
                  <c:v>10.78</c:v>
                </c:pt>
                <c:pt idx="247">
                  <c:v>10.75</c:v>
                </c:pt>
                <c:pt idx="248">
                  <c:v>10.81</c:v>
                </c:pt>
                <c:pt idx="249">
                  <c:v>10.83</c:v>
                </c:pt>
                <c:pt idx="250">
                  <c:v>10.85</c:v>
                </c:pt>
                <c:pt idx="251">
                  <c:v>10.85</c:v>
                </c:pt>
                <c:pt idx="252">
                  <c:v>10.87</c:v>
                </c:pt>
                <c:pt idx="253">
                  <c:v>10.86</c:v>
                </c:pt>
                <c:pt idx="254">
                  <c:v>10.81</c:v>
                </c:pt>
                <c:pt idx="255">
                  <c:v>10.77</c:v>
                </c:pt>
                <c:pt idx="256">
                  <c:v>10.74</c:v>
                </c:pt>
                <c:pt idx="257">
                  <c:v>10.73</c:v>
                </c:pt>
                <c:pt idx="258">
                  <c:v>10.65</c:v>
                </c:pt>
                <c:pt idx="259">
                  <c:v>10.58</c:v>
                </c:pt>
                <c:pt idx="260">
                  <c:v>10.52</c:v>
                </c:pt>
                <c:pt idx="261">
                  <c:v>10.55</c:v>
                </c:pt>
                <c:pt idx="262">
                  <c:v>10.58</c:v>
                </c:pt>
                <c:pt idx="263">
                  <c:v>10.62</c:v>
                </c:pt>
                <c:pt idx="264">
                  <c:v>10.6</c:v>
                </c:pt>
                <c:pt idx="265">
                  <c:v>10.55</c:v>
                </c:pt>
                <c:pt idx="266">
                  <c:v>10.58</c:v>
                </c:pt>
                <c:pt idx="267">
                  <c:v>10.52</c:v>
                </c:pt>
                <c:pt idx="268">
                  <c:v>10.62</c:v>
                </c:pt>
                <c:pt idx="269">
                  <c:v>10.61</c:v>
                </c:pt>
                <c:pt idx="270">
                  <c:v>10.66</c:v>
                </c:pt>
                <c:pt idx="271">
                  <c:v>10.63</c:v>
                </c:pt>
                <c:pt idx="272">
                  <c:v>10.66</c:v>
                </c:pt>
                <c:pt idx="273">
                  <c:v>10.68</c:v>
                </c:pt>
                <c:pt idx="274">
                  <c:v>10.71</c:v>
                </c:pt>
                <c:pt idx="275">
                  <c:v>10.71</c:v>
                </c:pt>
                <c:pt idx="276">
                  <c:v>10.74</c:v>
                </c:pt>
                <c:pt idx="277">
                  <c:v>10.71</c:v>
                </c:pt>
                <c:pt idx="278">
                  <c:v>10.71</c:v>
                </c:pt>
                <c:pt idx="279">
                  <c:v>10.7</c:v>
                </c:pt>
                <c:pt idx="280">
                  <c:v>10.59</c:v>
                </c:pt>
                <c:pt idx="281">
                  <c:v>10.61</c:v>
                </c:pt>
                <c:pt idx="282">
                  <c:v>10.67</c:v>
                </c:pt>
                <c:pt idx="283">
                  <c:v>10.73</c:v>
                </c:pt>
                <c:pt idx="284">
                  <c:v>10.8</c:v>
                </c:pt>
                <c:pt idx="285">
                  <c:v>10.75</c:v>
                </c:pt>
                <c:pt idx="286">
                  <c:v>10.76</c:v>
                </c:pt>
                <c:pt idx="287">
                  <c:v>10.74</c:v>
                </c:pt>
                <c:pt idx="288">
                  <c:v>10.8</c:v>
                </c:pt>
                <c:pt idx="289">
                  <c:v>10.77</c:v>
                </c:pt>
                <c:pt idx="290">
                  <c:v>10.76</c:v>
                </c:pt>
                <c:pt idx="291">
                  <c:v>10.74</c:v>
                </c:pt>
                <c:pt idx="292">
                  <c:v>10.77</c:v>
                </c:pt>
                <c:pt idx="293">
                  <c:v>10.8</c:v>
                </c:pt>
                <c:pt idx="294">
                  <c:v>10.81</c:v>
                </c:pt>
                <c:pt idx="295">
                  <c:v>10.81</c:v>
                </c:pt>
                <c:pt idx="296">
                  <c:v>10.84</c:v>
                </c:pt>
                <c:pt idx="297">
                  <c:v>10.84</c:v>
                </c:pt>
                <c:pt idx="298">
                  <c:v>10.88</c:v>
                </c:pt>
                <c:pt idx="299">
                  <c:v>10.74</c:v>
                </c:pt>
                <c:pt idx="300">
                  <c:v>10.74</c:v>
                </c:pt>
                <c:pt idx="301">
                  <c:v>10.71</c:v>
                </c:pt>
                <c:pt idx="302">
                  <c:v>10.71</c:v>
                </c:pt>
                <c:pt idx="303">
                  <c:v>10.75</c:v>
                </c:pt>
                <c:pt idx="304">
                  <c:v>10.83</c:v>
                </c:pt>
                <c:pt idx="305">
                  <c:v>10.84</c:v>
                </c:pt>
                <c:pt idx="306">
                  <c:v>10.86</c:v>
                </c:pt>
                <c:pt idx="307">
                  <c:v>10.87</c:v>
                </c:pt>
                <c:pt idx="308">
                  <c:v>10.89</c:v>
                </c:pt>
                <c:pt idx="309">
                  <c:v>10.9</c:v>
                </c:pt>
                <c:pt idx="310">
                  <c:v>10.88</c:v>
                </c:pt>
                <c:pt idx="311">
                  <c:v>10.92</c:v>
                </c:pt>
                <c:pt idx="312">
                  <c:v>10.92</c:v>
                </c:pt>
                <c:pt idx="313">
                  <c:v>10.88</c:v>
                </c:pt>
                <c:pt idx="314">
                  <c:v>10.91</c:v>
                </c:pt>
                <c:pt idx="315">
                  <c:v>10.89</c:v>
                </c:pt>
                <c:pt idx="316">
                  <c:v>10.89</c:v>
                </c:pt>
                <c:pt idx="317">
                  <c:v>10.89</c:v>
                </c:pt>
                <c:pt idx="318">
                  <c:v>10.96</c:v>
                </c:pt>
                <c:pt idx="319">
                  <c:v>11</c:v>
                </c:pt>
                <c:pt idx="320">
                  <c:v>11</c:v>
                </c:pt>
                <c:pt idx="321">
                  <c:v>11.02</c:v>
                </c:pt>
                <c:pt idx="322">
                  <c:v>10.98</c:v>
                </c:pt>
                <c:pt idx="323">
                  <c:v>10.99</c:v>
                </c:pt>
                <c:pt idx="324">
                  <c:v>11.04</c:v>
                </c:pt>
                <c:pt idx="325">
                  <c:v>11.05</c:v>
                </c:pt>
                <c:pt idx="326">
                  <c:v>11.1</c:v>
                </c:pt>
                <c:pt idx="327">
                  <c:v>11.1</c:v>
                </c:pt>
                <c:pt idx="328">
                  <c:v>11.11</c:v>
                </c:pt>
                <c:pt idx="329">
                  <c:v>11.03</c:v>
                </c:pt>
                <c:pt idx="330">
                  <c:v>11.06</c:v>
                </c:pt>
                <c:pt idx="331">
                  <c:v>11.08</c:v>
                </c:pt>
                <c:pt idx="332">
                  <c:v>11.1</c:v>
                </c:pt>
                <c:pt idx="333">
                  <c:v>11.11</c:v>
                </c:pt>
                <c:pt idx="334">
                  <c:v>11.12</c:v>
                </c:pt>
                <c:pt idx="335">
                  <c:v>11.09</c:v>
                </c:pt>
                <c:pt idx="336">
                  <c:v>11.06</c:v>
                </c:pt>
                <c:pt idx="337">
                  <c:v>11.06</c:v>
                </c:pt>
                <c:pt idx="338">
                  <c:v>11.17</c:v>
                </c:pt>
                <c:pt idx="339">
                  <c:v>11.15</c:v>
                </c:pt>
                <c:pt idx="340">
                  <c:v>11.12</c:v>
                </c:pt>
                <c:pt idx="341">
                  <c:v>11.13</c:v>
                </c:pt>
                <c:pt idx="342">
                  <c:v>11.16</c:v>
                </c:pt>
                <c:pt idx="343">
                  <c:v>11.12</c:v>
                </c:pt>
              </c:numCache>
            </c:numRef>
          </c:val>
          <c:smooth val="0"/>
          <c:extLst>
            <c:ext xmlns:c16="http://schemas.microsoft.com/office/drawing/2014/chart" uri="{C3380CC4-5D6E-409C-BE32-E72D297353CC}">
              <c16:uniqueId val="{00000001-5551-8A4C-A605-0514AC7804CB}"/>
            </c:ext>
          </c:extLst>
        </c:ser>
        <c:ser>
          <c:idx val="2"/>
          <c:order val="1"/>
          <c:tx>
            <c:strRef>
              <c:f>Sheet1!$C$1</c:f>
              <c:strCache>
                <c:ptCount val="1"/>
                <c:pt idx="0">
                  <c:v>Price</c:v>
                </c:pt>
              </c:strCache>
            </c:strRef>
          </c:tx>
          <c:spPr>
            <a:ln w="28575" cap="rnd">
              <a:solidFill>
                <a:schemeClr val="bg1">
                  <a:lumMod val="75000"/>
                </a:schemeClr>
              </a:solidFill>
              <a:round/>
            </a:ln>
            <a:effectLst/>
          </c:spPr>
          <c:marker>
            <c:symbol val="none"/>
          </c:marker>
          <c:cat>
            <c:numRef>
              <c:f>Sheet1!$A$2:$A$345</c:f>
              <c:numCache>
                <c:formatCode>m/d/yy</c:formatCode>
                <c:ptCount val="344"/>
                <c:pt idx="0">
                  <c:v>42310</c:v>
                </c:pt>
                <c:pt idx="1">
                  <c:v>42311</c:v>
                </c:pt>
                <c:pt idx="2">
                  <c:v>42312</c:v>
                </c:pt>
                <c:pt idx="3">
                  <c:v>42313</c:v>
                </c:pt>
                <c:pt idx="4">
                  <c:v>42314</c:v>
                </c:pt>
                <c:pt idx="5">
                  <c:v>42317</c:v>
                </c:pt>
                <c:pt idx="6">
                  <c:v>42318</c:v>
                </c:pt>
                <c:pt idx="7">
                  <c:v>42319</c:v>
                </c:pt>
                <c:pt idx="8">
                  <c:v>42320</c:v>
                </c:pt>
                <c:pt idx="9">
                  <c:v>42321</c:v>
                </c:pt>
                <c:pt idx="10">
                  <c:v>42324</c:v>
                </c:pt>
                <c:pt idx="11">
                  <c:v>42325</c:v>
                </c:pt>
                <c:pt idx="12">
                  <c:v>42326</c:v>
                </c:pt>
                <c:pt idx="13">
                  <c:v>42327</c:v>
                </c:pt>
                <c:pt idx="14">
                  <c:v>42328</c:v>
                </c:pt>
                <c:pt idx="15">
                  <c:v>42331</c:v>
                </c:pt>
                <c:pt idx="16">
                  <c:v>42332</c:v>
                </c:pt>
                <c:pt idx="17">
                  <c:v>42333</c:v>
                </c:pt>
                <c:pt idx="18">
                  <c:v>42335</c:v>
                </c:pt>
                <c:pt idx="19">
                  <c:v>42338</c:v>
                </c:pt>
                <c:pt idx="20">
                  <c:v>42339</c:v>
                </c:pt>
                <c:pt idx="21">
                  <c:v>42340</c:v>
                </c:pt>
                <c:pt idx="22">
                  <c:v>42341</c:v>
                </c:pt>
                <c:pt idx="23">
                  <c:v>42342</c:v>
                </c:pt>
                <c:pt idx="24">
                  <c:v>42345</c:v>
                </c:pt>
                <c:pt idx="25">
                  <c:v>42346</c:v>
                </c:pt>
                <c:pt idx="26">
                  <c:v>42347</c:v>
                </c:pt>
                <c:pt idx="27">
                  <c:v>42348</c:v>
                </c:pt>
                <c:pt idx="28">
                  <c:v>42349</c:v>
                </c:pt>
                <c:pt idx="29">
                  <c:v>42352</c:v>
                </c:pt>
                <c:pt idx="30">
                  <c:v>42353</c:v>
                </c:pt>
                <c:pt idx="31">
                  <c:v>42354</c:v>
                </c:pt>
                <c:pt idx="32">
                  <c:v>42355</c:v>
                </c:pt>
                <c:pt idx="33">
                  <c:v>42356</c:v>
                </c:pt>
                <c:pt idx="34">
                  <c:v>42359</c:v>
                </c:pt>
                <c:pt idx="35">
                  <c:v>42360</c:v>
                </c:pt>
                <c:pt idx="36">
                  <c:v>42361</c:v>
                </c:pt>
                <c:pt idx="37">
                  <c:v>42362</c:v>
                </c:pt>
                <c:pt idx="38">
                  <c:v>42366</c:v>
                </c:pt>
                <c:pt idx="39">
                  <c:v>42367</c:v>
                </c:pt>
                <c:pt idx="40">
                  <c:v>42368</c:v>
                </c:pt>
                <c:pt idx="41">
                  <c:v>42369</c:v>
                </c:pt>
                <c:pt idx="42">
                  <c:v>42370</c:v>
                </c:pt>
                <c:pt idx="43">
                  <c:v>42373</c:v>
                </c:pt>
                <c:pt idx="44">
                  <c:v>42374</c:v>
                </c:pt>
                <c:pt idx="45">
                  <c:v>42375</c:v>
                </c:pt>
                <c:pt idx="46">
                  <c:v>42376</c:v>
                </c:pt>
                <c:pt idx="47">
                  <c:v>42377</c:v>
                </c:pt>
                <c:pt idx="48">
                  <c:v>42380</c:v>
                </c:pt>
                <c:pt idx="49">
                  <c:v>42381</c:v>
                </c:pt>
                <c:pt idx="50">
                  <c:v>42382</c:v>
                </c:pt>
                <c:pt idx="51">
                  <c:v>42383</c:v>
                </c:pt>
                <c:pt idx="52">
                  <c:v>42384</c:v>
                </c:pt>
                <c:pt idx="53">
                  <c:v>42387</c:v>
                </c:pt>
                <c:pt idx="54">
                  <c:v>42388</c:v>
                </c:pt>
                <c:pt idx="55">
                  <c:v>42389</c:v>
                </c:pt>
                <c:pt idx="56">
                  <c:v>42390</c:v>
                </c:pt>
                <c:pt idx="57">
                  <c:v>42391</c:v>
                </c:pt>
                <c:pt idx="58">
                  <c:v>42394</c:v>
                </c:pt>
                <c:pt idx="59">
                  <c:v>42395</c:v>
                </c:pt>
                <c:pt idx="60">
                  <c:v>42396</c:v>
                </c:pt>
                <c:pt idx="61">
                  <c:v>42397</c:v>
                </c:pt>
                <c:pt idx="62">
                  <c:v>42398</c:v>
                </c:pt>
                <c:pt idx="63">
                  <c:v>42401</c:v>
                </c:pt>
                <c:pt idx="64">
                  <c:v>42402</c:v>
                </c:pt>
                <c:pt idx="65">
                  <c:v>42403</c:v>
                </c:pt>
                <c:pt idx="66">
                  <c:v>42404</c:v>
                </c:pt>
                <c:pt idx="67">
                  <c:v>42405</c:v>
                </c:pt>
                <c:pt idx="68">
                  <c:v>42408</c:v>
                </c:pt>
                <c:pt idx="69">
                  <c:v>42409</c:v>
                </c:pt>
                <c:pt idx="70">
                  <c:v>42410</c:v>
                </c:pt>
                <c:pt idx="71">
                  <c:v>42411</c:v>
                </c:pt>
                <c:pt idx="72">
                  <c:v>42412</c:v>
                </c:pt>
                <c:pt idx="73">
                  <c:v>42415</c:v>
                </c:pt>
                <c:pt idx="74">
                  <c:v>42416</c:v>
                </c:pt>
                <c:pt idx="75">
                  <c:v>42417</c:v>
                </c:pt>
                <c:pt idx="76">
                  <c:v>42418</c:v>
                </c:pt>
                <c:pt idx="77">
                  <c:v>42419</c:v>
                </c:pt>
                <c:pt idx="78">
                  <c:v>42422</c:v>
                </c:pt>
                <c:pt idx="79">
                  <c:v>42423</c:v>
                </c:pt>
                <c:pt idx="80">
                  <c:v>42424</c:v>
                </c:pt>
                <c:pt idx="81">
                  <c:v>42425</c:v>
                </c:pt>
                <c:pt idx="82">
                  <c:v>42426</c:v>
                </c:pt>
                <c:pt idx="83">
                  <c:v>42429</c:v>
                </c:pt>
                <c:pt idx="84">
                  <c:v>42430</c:v>
                </c:pt>
                <c:pt idx="85">
                  <c:v>42431</c:v>
                </c:pt>
                <c:pt idx="86">
                  <c:v>42432</c:v>
                </c:pt>
                <c:pt idx="87">
                  <c:v>42433</c:v>
                </c:pt>
                <c:pt idx="88">
                  <c:v>42436</c:v>
                </c:pt>
                <c:pt idx="89">
                  <c:v>42437</c:v>
                </c:pt>
                <c:pt idx="90">
                  <c:v>42438</c:v>
                </c:pt>
                <c:pt idx="91">
                  <c:v>42439</c:v>
                </c:pt>
                <c:pt idx="92">
                  <c:v>42440</c:v>
                </c:pt>
                <c:pt idx="93">
                  <c:v>42443</c:v>
                </c:pt>
                <c:pt idx="94">
                  <c:v>42444</c:v>
                </c:pt>
                <c:pt idx="95">
                  <c:v>42445</c:v>
                </c:pt>
                <c:pt idx="96">
                  <c:v>42446</c:v>
                </c:pt>
                <c:pt idx="97">
                  <c:v>42447</c:v>
                </c:pt>
                <c:pt idx="98">
                  <c:v>42450</c:v>
                </c:pt>
                <c:pt idx="99">
                  <c:v>42451</c:v>
                </c:pt>
                <c:pt idx="100">
                  <c:v>42452</c:v>
                </c:pt>
                <c:pt idx="101">
                  <c:v>42453</c:v>
                </c:pt>
                <c:pt idx="102">
                  <c:v>42454</c:v>
                </c:pt>
                <c:pt idx="103">
                  <c:v>42457</c:v>
                </c:pt>
                <c:pt idx="104">
                  <c:v>42458</c:v>
                </c:pt>
                <c:pt idx="105">
                  <c:v>42459</c:v>
                </c:pt>
                <c:pt idx="106">
                  <c:v>42460</c:v>
                </c:pt>
                <c:pt idx="107">
                  <c:v>42461</c:v>
                </c:pt>
                <c:pt idx="108">
                  <c:v>42464</c:v>
                </c:pt>
                <c:pt idx="109">
                  <c:v>42465</c:v>
                </c:pt>
                <c:pt idx="110">
                  <c:v>42466</c:v>
                </c:pt>
                <c:pt idx="111">
                  <c:v>42467</c:v>
                </c:pt>
                <c:pt idx="112">
                  <c:v>42468</c:v>
                </c:pt>
                <c:pt idx="113">
                  <c:v>42471</c:v>
                </c:pt>
                <c:pt idx="114">
                  <c:v>42472</c:v>
                </c:pt>
                <c:pt idx="115">
                  <c:v>42473</c:v>
                </c:pt>
                <c:pt idx="116">
                  <c:v>42474</c:v>
                </c:pt>
                <c:pt idx="117">
                  <c:v>42475</c:v>
                </c:pt>
                <c:pt idx="118">
                  <c:v>42478</c:v>
                </c:pt>
                <c:pt idx="119">
                  <c:v>42479</c:v>
                </c:pt>
                <c:pt idx="120">
                  <c:v>42480</c:v>
                </c:pt>
                <c:pt idx="121">
                  <c:v>42481</c:v>
                </c:pt>
                <c:pt idx="122">
                  <c:v>42482</c:v>
                </c:pt>
                <c:pt idx="123">
                  <c:v>42485</c:v>
                </c:pt>
                <c:pt idx="124">
                  <c:v>42486</c:v>
                </c:pt>
                <c:pt idx="125">
                  <c:v>42487</c:v>
                </c:pt>
                <c:pt idx="126">
                  <c:v>42488</c:v>
                </c:pt>
                <c:pt idx="127">
                  <c:v>42489</c:v>
                </c:pt>
                <c:pt idx="128">
                  <c:v>42492</c:v>
                </c:pt>
                <c:pt idx="129">
                  <c:v>42493</c:v>
                </c:pt>
                <c:pt idx="130">
                  <c:v>42494</c:v>
                </c:pt>
                <c:pt idx="131">
                  <c:v>42495</c:v>
                </c:pt>
                <c:pt idx="132">
                  <c:v>42496</c:v>
                </c:pt>
                <c:pt idx="133">
                  <c:v>42499</c:v>
                </c:pt>
                <c:pt idx="134">
                  <c:v>42500</c:v>
                </c:pt>
                <c:pt idx="135">
                  <c:v>42501</c:v>
                </c:pt>
                <c:pt idx="136">
                  <c:v>42502</c:v>
                </c:pt>
                <c:pt idx="137">
                  <c:v>42503</c:v>
                </c:pt>
                <c:pt idx="138">
                  <c:v>42506</c:v>
                </c:pt>
                <c:pt idx="139">
                  <c:v>42507</c:v>
                </c:pt>
                <c:pt idx="140">
                  <c:v>42508</c:v>
                </c:pt>
                <c:pt idx="141">
                  <c:v>42509</c:v>
                </c:pt>
                <c:pt idx="142">
                  <c:v>42510</c:v>
                </c:pt>
                <c:pt idx="143">
                  <c:v>42513</c:v>
                </c:pt>
                <c:pt idx="144">
                  <c:v>42514</c:v>
                </c:pt>
                <c:pt idx="145">
                  <c:v>42515</c:v>
                </c:pt>
                <c:pt idx="146">
                  <c:v>42516</c:v>
                </c:pt>
                <c:pt idx="147">
                  <c:v>42517</c:v>
                </c:pt>
                <c:pt idx="148">
                  <c:v>42520</c:v>
                </c:pt>
                <c:pt idx="149">
                  <c:v>42521</c:v>
                </c:pt>
                <c:pt idx="150">
                  <c:v>42522</c:v>
                </c:pt>
                <c:pt idx="151">
                  <c:v>42523</c:v>
                </c:pt>
                <c:pt idx="152">
                  <c:v>42524</c:v>
                </c:pt>
                <c:pt idx="153">
                  <c:v>42527</c:v>
                </c:pt>
                <c:pt idx="154">
                  <c:v>42528</c:v>
                </c:pt>
                <c:pt idx="155">
                  <c:v>42529</c:v>
                </c:pt>
                <c:pt idx="156">
                  <c:v>42530</c:v>
                </c:pt>
                <c:pt idx="157">
                  <c:v>42531</c:v>
                </c:pt>
                <c:pt idx="158">
                  <c:v>42534</c:v>
                </c:pt>
                <c:pt idx="159">
                  <c:v>42535</c:v>
                </c:pt>
                <c:pt idx="160">
                  <c:v>42536</c:v>
                </c:pt>
                <c:pt idx="161">
                  <c:v>42537</c:v>
                </c:pt>
                <c:pt idx="162">
                  <c:v>42538</c:v>
                </c:pt>
                <c:pt idx="163">
                  <c:v>42541</c:v>
                </c:pt>
                <c:pt idx="164">
                  <c:v>42542</c:v>
                </c:pt>
                <c:pt idx="165">
                  <c:v>42543</c:v>
                </c:pt>
                <c:pt idx="166">
                  <c:v>42544</c:v>
                </c:pt>
                <c:pt idx="167">
                  <c:v>42545</c:v>
                </c:pt>
                <c:pt idx="168">
                  <c:v>42548</c:v>
                </c:pt>
                <c:pt idx="169">
                  <c:v>42549</c:v>
                </c:pt>
                <c:pt idx="170">
                  <c:v>42550</c:v>
                </c:pt>
                <c:pt idx="171">
                  <c:v>42551</c:v>
                </c:pt>
                <c:pt idx="172">
                  <c:v>42552</c:v>
                </c:pt>
                <c:pt idx="173">
                  <c:v>42555</c:v>
                </c:pt>
                <c:pt idx="174">
                  <c:v>42556</c:v>
                </c:pt>
                <c:pt idx="175">
                  <c:v>42557</c:v>
                </c:pt>
                <c:pt idx="176">
                  <c:v>42558</c:v>
                </c:pt>
                <c:pt idx="177">
                  <c:v>42559</c:v>
                </c:pt>
                <c:pt idx="178">
                  <c:v>42562</c:v>
                </c:pt>
                <c:pt idx="179">
                  <c:v>42563</c:v>
                </c:pt>
                <c:pt idx="180">
                  <c:v>42564</c:v>
                </c:pt>
                <c:pt idx="181">
                  <c:v>42565</c:v>
                </c:pt>
                <c:pt idx="182">
                  <c:v>42566</c:v>
                </c:pt>
                <c:pt idx="183">
                  <c:v>42569</c:v>
                </c:pt>
                <c:pt idx="184">
                  <c:v>42570</c:v>
                </c:pt>
                <c:pt idx="185">
                  <c:v>42571</c:v>
                </c:pt>
                <c:pt idx="186">
                  <c:v>42572</c:v>
                </c:pt>
                <c:pt idx="187">
                  <c:v>42573</c:v>
                </c:pt>
                <c:pt idx="188">
                  <c:v>42576</c:v>
                </c:pt>
                <c:pt idx="189">
                  <c:v>42577</c:v>
                </c:pt>
                <c:pt idx="190">
                  <c:v>42578</c:v>
                </c:pt>
                <c:pt idx="191">
                  <c:v>42579</c:v>
                </c:pt>
                <c:pt idx="192">
                  <c:v>42580</c:v>
                </c:pt>
                <c:pt idx="193">
                  <c:v>42583</c:v>
                </c:pt>
                <c:pt idx="194">
                  <c:v>42584</c:v>
                </c:pt>
                <c:pt idx="195">
                  <c:v>42585</c:v>
                </c:pt>
                <c:pt idx="196">
                  <c:v>42586</c:v>
                </c:pt>
                <c:pt idx="197">
                  <c:v>42587</c:v>
                </c:pt>
                <c:pt idx="198">
                  <c:v>42590</c:v>
                </c:pt>
                <c:pt idx="199">
                  <c:v>42591</c:v>
                </c:pt>
                <c:pt idx="200">
                  <c:v>42592</c:v>
                </c:pt>
                <c:pt idx="201">
                  <c:v>42593</c:v>
                </c:pt>
                <c:pt idx="202">
                  <c:v>42594</c:v>
                </c:pt>
                <c:pt idx="203">
                  <c:v>42597</c:v>
                </c:pt>
                <c:pt idx="204">
                  <c:v>42598</c:v>
                </c:pt>
                <c:pt idx="205">
                  <c:v>42599</c:v>
                </c:pt>
                <c:pt idx="206">
                  <c:v>42600</c:v>
                </c:pt>
                <c:pt idx="207">
                  <c:v>42601</c:v>
                </c:pt>
                <c:pt idx="208">
                  <c:v>42604</c:v>
                </c:pt>
                <c:pt idx="209">
                  <c:v>42605</c:v>
                </c:pt>
                <c:pt idx="210">
                  <c:v>42606</c:v>
                </c:pt>
                <c:pt idx="211">
                  <c:v>42607</c:v>
                </c:pt>
                <c:pt idx="212">
                  <c:v>42608</c:v>
                </c:pt>
                <c:pt idx="213">
                  <c:v>42611</c:v>
                </c:pt>
                <c:pt idx="214">
                  <c:v>42612</c:v>
                </c:pt>
                <c:pt idx="215">
                  <c:v>42613</c:v>
                </c:pt>
                <c:pt idx="216">
                  <c:v>42614</c:v>
                </c:pt>
                <c:pt idx="217">
                  <c:v>42615</c:v>
                </c:pt>
                <c:pt idx="218">
                  <c:v>42619</c:v>
                </c:pt>
                <c:pt idx="219">
                  <c:v>42620</c:v>
                </c:pt>
                <c:pt idx="220">
                  <c:v>42621</c:v>
                </c:pt>
                <c:pt idx="221">
                  <c:v>42622</c:v>
                </c:pt>
                <c:pt idx="222">
                  <c:v>42625</c:v>
                </c:pt>
                <c:pt idx="223">
                  <c:v>42626</c:v>
                </c:pt>
                <c:pt idx="224">
                  <c:v>42627</c:v>
                </c:pt>
                <c:pt idx="225">
                  <c:v>42628</c:v>
                </c:pt>
                <c:pt idx="226">
                  <c:v>42629</c:v>
                </c:pt>
                <c:pt idx="227">
                  <c:v>42632</c:v>
                </c:pt>
                <c:pt idx="228">
                  <c:v>42633</c:v>
                </c:pt>
                <c:pt idx="229">
                  <c:v>42634</c:v>
                </c:pt>
                <c:pt idx="230">
                  <c:v>42635</c:v>
                </c:pt>
                <c:pt idx="231">
                  <c:v>42636</c:v>
                </c:pt>
                <c:pt idx="232">
                  <c:v>42639</c:v>
                </c:pt>
                <c:pt idx="233">
                  <c:v>42640</c:v>
                </c:pt>
                <c:pt idx="234">
                  <c:v>42641</c:v>
                </c:pt>
                <c:pt idx="235">
                  <c:v>42642</c:v>
                </c:pt>
                <c:pt idx="236">
                  <c:v>42643</c:v>
                </c:pt>
                <c:pt idx="237">
                  <c:v>42646</c:v>
                </c:pt>
                <c:pt idx="238">
                  <c:v>42647</c:v>
                </c:pt>
                <c:pt idx="239">
                  <c:v>42648</c:v>
                </c:pt>
                <c:pt idx="240">
                  <c:v>42649</c:v>
                </c:pt>
                <c:pt idx="241">
                  <c:v>42650</c:v>
                </c:pt>
                <c:pt idx="242">
                  <c:v>42653</c:v>
                </c:pt>
                <c:pt idx="243">
                  <c:v>42654</c:v>
                </c:pt>
                <c:pt idx="244">
                  <c:v>42655</c:v>
                </c:pt>
                <c:pt idx="245">
                  <c:v>42656</c:v>
                </c:pt>
                <c:pt idx="246">
                  <c:v>42657</c:v>
                </c:pt>
                <c:pt idx="247">
                  <c:v>42660</c:v>
                </c:pt>
                <c:pt idx="248">
                  <c:v>42661</c:v>
                </c:pt>
                <c:pt idx="249">
                  <c:v>42662</c:v>
                </c:pt>
                <c:pt idx="250">
                  <c:v>42663</c:v>
                </c:pt>
                <c:pt idx="251">
                  <c:v>42664</c:v>
                </c:pt>
                <c:pt idx="252">
                  <c:v>42667</c:v>
                </c:pt>
                <c:pt idx="253">
                  <c:v>42668</c:v>
                </c:pt>
                <c:pt idx="254">
                  <c:v>42669</c:v>
                </c:pt>
                <c:pt idx="255">
                  <c:v>42670</c:v>
                </c:pt>
                <c:pt idx="256">
                  <c:v>42671</c:v>
                </c:pt>
                <c:pt idx="257">
                  <c:v>42674</c:v>
                </c:pt>
                <c:pt idx="258">
                  <c:v>42675</c:v>
                </c:pt>
                <c:pt idx="259">
                  <c:v>42676</c:v>
                </c:pt>
                <c:pt idx="260">
                  <c:v>42677</c:v>
                </c:pt>
                <c:pt idx="261">
                  <c:v>42678</c:v>
                </c:pt>
                <c:pt idx="262">
                  <c:v>42681</c:v>
                </c:pt>
                <c:pt idx="263">
                  <c:v>42682</c:v>
                </c:pt>
                <c:pt idx="264">
                  <c:v>42683</c:v>
                </c:pt>
                <c:pt idx="265">
                  <c:v>42684</c:v>
                </c:pt>
                <c:pt idx="266">
                  <c:v>42685</c:v>
                </c:pt>
                <c:pt idx="267">
                  <c:v>42688</c:v>
                </c:pt>
                <c:pt idx="268">
                  <c:v>42689</c:v>
                </c:pt>
                <c:pt idx="269">
                  <c:v>42690</c:v>
                </c:pt>
                <c:pt idx="270">
                  <c:v>42691</c:v>
                </c:pt>
                <c:pt idx="271">
                  <c:v>42692</c:v>
                </c:pt>
                <c:pt idx="272">
                  <c:v>42695</c:v>
                </c:pt>
                <c:pt idx="273">
                  <c:v>42696</c:v>
                </c:pt>
                <c:pt idx="274">
                  <c:v>42697</c:v>
                </c:pt>
                <c:pt idx="275">
                  <c:v>42698</c:v>
                </c:pt>
                <c:pt idx="276">
                  <c:v>42699</c:v>
                </c:pt>
                <c:pt idx="277">
                  <c:v>42702</c:v>
                </c:pt>
                <c:pt idx="278">
                  <c:v>42703</c:v>
                </c:pt>
                <c:pt idx="279">
                  <c:v>42704</c:v>
                </c:pt>
                <c:pt idx="280">
                  <c:v>42705</c:v>
                </c:pt>
                <c:pt idx="281">
                  <c:v>42706</c:v>
                </c:pt>
                <c:pt idx="282">
                  <c:v>42709</c:v>
                </c:pt>
                <c:pt idx="283">
                  <c:v>42710</c:v>
                </c:pt>
                <c:pt idx="284">
                  <c:v>42711</c:v>
                </c:pt>
                <c:pt idx="285">
                  <c:v>42712</c:v>
                </c:pt>
                <c:pt idx="286">
                  <c:v>42713</c:v>
                </c:pt>
                <c:pt idx="287">
                  <c:v>42716</c:v>
                </c:pt>
                <c:pt idx="288">
                  <c:v>42717</c:v>
                </c:pt>
                <c:pt idx="289">
                  <c:v>42718</c:v>
                </c:pt>
                <c:pt idx="290">
                  <c:v>42719</c:v>
                </c:pt>
                <c:pt idx="291">
                  <c:v>42720</c:v>
                </c:pt>
                <c:pt idx="292">
                  <c:v>42723</c:v>
                </c:pt>
                <c:pt idx="293">
                  <c:v>42724</c:v>
                </c:pt>
                <c:pt idx="294">
                  <c:v>42725</c:v>
                </c:pt>
                <c:pt idx="295">
                  <c:v>42726</c:v>
                </c:pt>
                <c:pt idx="296">
                  <c:v>42727</c:v>
                </c:pt>
                <c:pt idx="297">
                  <c:v>42730</c:v>
                </c:pt>
                <c:pt idx="298">
                  <c:v>42731</c:v>
                </c:pt>
                <c:pt idx="299">
                  <c:v>42732</c:v>
                </c:pt>
                <c:pt idx="300">
                  <c:v>42733</c:v>
                </c:pt>
                <c:pt idx="301">
                  <c:v>42734</c:v>
                </c:pt>
                <c:pt idx="302">
                  <c:v>42737</c:v>
                </c:pt>
                <c:pt idx="303">
                  <c:v>42738</c:v>
                </c:pt>
                <c:pt idx="304">
                  <c:v>42739</c:v>
                </c:pt>
                <c:pt idx="305">
                  <c:v>42740</c:v>
                </c:pt>
                <c:pt idx="306">
                  <c:v>42741</c:v>
                </c:pt>
                <c:pt idx="307">
                  <c:v>42744</c:v>
                </c:pt>
                <c:pt idx="308">
                  <c:v>42745</c:v>
                </c:pt>
                <c:pt idx="309">
                  <c:v>42746</c:v>
                </c:pt>
                <c:pt idx="310">
                  <c:v>42747</c:v>
                </c:pt>
                <c:pt idx="311">
                  <c:v>42748</c:v>
                </c:pt>
                <c:pt idx="312">
                  <c:v>42751</c:v>
                </c:pt>
                <c:pt idx="313">
                  <c:v>42752</c:v>
                </c:pt>
                <c:pt idx="314">
                  <c:v>42753</c:v>
                </c:pt>
                <c:pt idx="315">
                  <c:v>42754</c:v>
                </c:pt>
                <c:pt idx="316">
                  <c:v>42755</c:v>
                </c:pt>
                <c:pt idx="317">
                  <c:v>42758</c:v>
                </c:pt>
                <c:pt idx="318">
                  <c:v>42759</c:v>
                </c:pt>
                <c:pt idx="319">
                  <c:v>42760</c:v>
                </c:pt>
                <c:pt idx="320">
                  <c:v>42761</c:v>
                </c:pt>
                <c:pt idx="321">
                  <c:v>42762</c:v>
                </c:pt>
                <c:pt idx="322">
                  <c:v>42765</c:v>
                </c:pt>
                <c:pt idx="323">
                  <c:v>42766</c:v>
                </c:pt>
                <c:pt idx="324">
                  <c:v>42767</c:v>
                </c:pt>
                <c:pt idx="325">
                  <c:v>42768</c:v>
                </c:pt>
                <c:pt idx="326">
                  <c:v>42769</c:v>
                </c:pt>
                <c:pt idx="327">
                  <c:v>42772</c:v>
                </c:pt>
                <c:pt idx="328">
                  <c:v>42773</c:v>
                </c:pt>
                <c:pt idx="329">
                  <c:v>42774</c:v>
                </c:pt>
                <c:pt idx="330">
                  <c:v>42775</c:v>
                </c:pt>
                <c:pt idx="331">
                  <c:v>42776</c:v>
                </c:pt>
                <c:pt idx="332">
                  <c:v>42779</c:v>
                </c:pt>
                <c:pt idx="333">
                  <c:v>42780</c:v>
                </c:pt>
                <c:pt idx="334">
                  <c:v>42781</c:v>
                </c:pt>
                <c:pt idx="335">
                  <c:v>42782</c:v>
                </c:pt>
                <c:pt idx="336">
                  <c:v>42783</c:v>
                </c:pt>
                <c:pt idx="337">
                  <c:v>42786</c:v>
                </c:pt>
                <c:pt idx="338">
                  <c:v>42787</c:v>
                </c:pt>
                <c:pt idx="339">
                  <c:v>42788</c:v>
                </c:pt>
                <c:pt idx="340">
                  <c:v>42789</c:v>
                </c:pt>
                <c:pt idx="341">
                  <c:v>42790</c:v>
                </c:pt>
                <c:pt idx="342">
                  <c:v>42793</c:v>
                </c:pt>
                <c:pt idx="343">
                  <c:v>42794</c:v>
                </c:pt>
              </c:numCache>
            </c:numRef>
          </c:cat>
          <c:val>
            <c:numRef>
              <c:f>Sheet1!$C$2:$C$345</c:f>
              <c:numCache>
                <c:formatCode>General</c:formatCode>
                <c:ptCount val="344"/>
                <c:pt idx="0">
                  <c:v>10.56</c:v>
                </c:pt>
                <c:pt idx="1">
                  <c:v>10.65</c:v>
                </c:pt>
                <c:pt idx="2">
                  <c:v>10.65</c:v>
                </c:pt>
                <c:pt idx="3">
                  <c:v>10.6</c:v>
                </c:pt>
                <c:pt idx="4">
                  <c:v>10.4</c:v>
                </c:pt>
                <c:pt idx="5">
                  <c:v>10.17</c:v>
                </c:pt>
                <c:pt idx="6">
                  <c:v>10.17</c:v>
                </c:pt>
                <c:pt idx="7">
                  <c:v>10.130000000000001</c:v>
                </c:pt>
                <c:pt idx="8">
                  <c:v>10.01</c:v>
                </c:pt>
                <c:pt idx="9">
                  <c:v>9.9600000000000026</c:v>
                </c:pt>
                <c:pt idx="10">
                  <c:v>10.119999999999999</c:v>
                </c:pt>
                <c:pt idx="11">
                  <c:v>10</c:v>
                </c:pt>
                <c:pt idx="12">
                  <c:v>10.09</c:v>
                </c:pt>
                <c:pt idx="13">
                  <c:v>10.050000000000001</c:v>
                </c:pt>
                <c:pt idx="14">
                  <c:v>9.9700000000000006</c:v>
                </c:pt>
                <c:pt idx="15">
                  <c:v>9.9700000000000006</c:v>
                </c:pt>
                <c:pt idx="16">
                  <c:v>9.94</c:v>
                </c:pt>
                <c:pt idx="17">
                  <c:v>9.9499999999999993</c:v>
                </c:pt>
                <c:pt idx="18">
                  <c:v>9.94</c:v>
                </c:pt>
                <c:pt idx="19">
                  <c:v>10</c:v>
                </c:pt>
                <c:pt idx="20">
                  <c:v>10.1</c:v>
                </c:pt>
                <c:pt idx="21">
                  <c:v>10.01</c:v>
                </c:pt>
                <c:pt idx="22">
                  <c:v>9.9499999999999993</c:v>
                </c:pt>
                <c:pt idx="23">
                  <c:v>9.9700000000000006</c:v>
                </c:pt>
                <c:pt idx="24">
                  <c:v>9.94</c:v>
                </c:pt>
                <c:pt idx="25">
                  <c:v>9.7900000000000009</c:v>
                </c:pt>
                <c:pt idx="26">
                  <c:v>9.75</c:v>
                </c:pt>
                <c:pt idx="27">
                  <c:v>9.81</c:v>
                </c:pt>
                <c:pt idx="28">
                  <c:v>9.8000000000000007</c:v>
                </c:pt>
                <c:pt idx="29">
                  <c:v>9.4600000000000026</c:v>
                </c:pt>
                <c:pt idx="30">
                  <c:v>9.56</c:v>
                </c:pt>
                <c:pt idx="31">
                  <c:v>9.86</c:v>
                </c:pt>
                <c:pt idx="32">
                  <c:v>9.84</c:v>
                </c:pt>
                <c:pt idx="33">
                  <c:v>9.84</c:v>
                </c:pt>
                <c:pt idx="34">
                  <c:v>9.86</c:v>
                </c:pt>
                <c:pt idx="35">
                  <c:v>10.02</c:v>
                </c:pt>
                <c:pt idx="36">
                  <c:v>10.199999999999999</c:v>
                </c:pt>
                <c:pt idx="37">
                  <c:v>10.26</c:v>
                </c:pt>
                <c:pt idx="38">
                  <c:v>10.18</c:v>
                </c:pt>
                <c:pt idx="39">
                  <c:v>10</c:v>
                </c:pt>
                <c:pt idx="40">
                  <c:v>9.94</c:v>
                </c:pt>
                <c:pt idx="41">
                  <c:v>9.91</c:v>
                </c:pt>
                <c:pt idx="42">
                  <c:v>9.9499999999999993</c:v>
                </c:pt>
                <c:pt idx="43">
                  <c:v>10.01</c:v>
                </c:pt>
                <c:pt idx="44">
                  <c:v>10</c:v>
                </c:pt>
                <c:pt idx="45">
                  <c:v>9.83</c:v>
                </c:pt>
                <c:pt idx="46">
                  <c:v>9.6299999999999972</c:v>
                </c:pt>
                <c:pt idx="47">
                  <c:v>9.4700000000000006</c:v>
                </c:pt>
                <c:pt idx="48">
                  <c:v>9.36</c:v>
                </c:pt>
                <c:pt idx="49">
                  <c:v>9.26</c:v>
                </c:pt>
                <c:pt idx="50">
                  <c:v>8.98</c:v>
                </c:pt>
                <c:pt idx="51">
                  <c:v>9.06</c:v>
                </c:pt>
                <c:pt idx="52">
                  <c:v>8.82</c:v>
                </c:pt>
                <c:pt idx="53">
                  <c:v>8.8000000000000007</c:v>
                </c:pt>
                <c:pt idx="54">
                  <c:v>8.7000000000000011</c:v>
                </c:pt>
                <c:pt idx="55">
                  <c:v>8.4600000000000026</c:v>
                </c:pt>
                <c:pt idx="56">
                  <c:v>8.57</c:v>
                </c:pt>
                <c:pt idx="57">
                  <c:v>8.7900000000000009</c:v>
                </c:pt>
                <c:pt idx="58">
                  <c:v>8.620000000000001</c:v>
                </c:pt>
                <c:pt idx="59">
                  <c:v>8.85</c:v>
                </c:pt>
                <c:pt idx="60">
                  <c:v>8.7000000000000011</c:v>
                </c:pt>
                <c:pt idx="61">
                  <c:v>8.7800000000000011</c:v>
                </c:pt>
                <c:pt idx="62">
                  <c:v>8.99</c:v>
                </c:pt>
                <c:pt idx="63">
                  <c:v>9.11</c:v>
                </c:pt>
                <c:pt idx="64">
                  <c:v>8.9700000000000006</c:v>
                </c:pt>
                <c:pt idx="65">
                  <c:v>8.9499999999999993</c:v>
                </c:pt>
                <c:pt idx="66">
                  <c:v>8.9499999999999993</c:v>
                </c:pt>
                <c:pt idx="67">
                  <c:v>8.84</c:v>
                </c:pt>
                <c:pt idx="68">
                  <c:v>8.56</c:v>
                </c:pt>
                <c:pt idx="69">
                  <c:v>8.4600000000000026</c:v>
                </c:pt>
                <c:pt idx="70">
                  <c:v>8.44</c:v>
                </c:pt>
                <c:pt idx="71">
                  <c:v>8.17</c:v>
                </c:pt>
                <c:pt idx="72">
                  <c:v>8.27</c:v>
                </c:pt>
                <c:pt idx="73">
                  <c:v>8.3000000000000007</c:v>
                </c:pt>
                <c:pt idx="74">
                  <c:v>8.32</c:v>
                </c:pt>
                <c:pt idx="75">
                  <c:v>8.4499999999999993</c:v>
                </c:pt>
                <c:pt idx="76">
                  <c:v>8.43</c:v>
                </c:pt>
                <c:pt idx="77">
                  <c:v>8.41</c:v>
                </c:pt>
                <c:pt idx="78">
                  <c:v>8.48</c:v>
                </c:pt>
                <c:pt idx="79">
                  <c:v>8.4499999999999993</c:v>
                </c:pt>
                <c:pt idx="80">
                  <c:v>8.5</c:v>
                </c:pt>
                <c:pt idx="81">
                  <c:v>8.65</c:v>
                </c:pt>
                <c:pt idx="82">
                  <c:v>8.69</c:v>
                </c:pt>
                <c:pt idx="83">
                  <c:v>8.76</c:v>
                </c:pt>
                <c:pt idx="84">
                  <c:v>8.9499999999999993</c:v>
                </c:pt>
                <c:pt idx="85">
                  <c:v>9.0300000000000011</c:v>
                </c:pt>
                <c:pt idx="86">
                  <c:v>9.120000000000001</c:v>
                </c:pt>
                <c:pt idx="87">
                  <c:v>9.1399999999999988</c:v>
                </c:pt>
                <c:pt idx="88">
                  <c:v>9.120000000000001</c:v>
                </c:pt>
                <c:pt idx="89">
                  <c:v>9</c:v>
                </c:pt>
                <c:pt idx="90">
                  <c:v>9.0300000000000011</c:v>
                </c:pt>
                <c:pt idx="91">
                  <c:v>9.0500000000000007</c:v>
                </c:pt>
                <c:pt idx="92">
                  <c:v>9.18</c:v>
                </c:pt>
                <c:pt idx="93">
                  <c:v>9.17</c:v>
                </c:pt>
                <c:pt idx="94">
                  <c:v>9.17</c:v>
                </c:pt>
                <c:pt idx="95">
                  <c:v>9.34</c:v>
                </c:pt>
                <c:pt idx="96">
                  <c:v>9.42</c:v>
                </c:pt>
                <c:pt idx="97">
                  <c:v>9.4600000000000026</c:v>
                </c:pt>
                <c:pt idx="98">
                  <c:v>9.4499999999999993</c:v>
                </c:pt>
                <c:pt idx="99">
                  <c:v>9.4499999999999993</c:v>
                </c:pt>
                <c:pt idx="100">
                  <c:v>9.42</c:v>
                </c:pt>
                <c:pt idx="101">
                  <c:v>9.26</c:v>
                </c:pt>
                <c:pt idx="102">
                  <c:v>9.25</c:v>
                </c:pt>
                <c:pt idx="103">
                  <c:v>9.24</c:v>
                </c:pt>
                <c:pt idx="104">
                  <c:v>9.34</c:v>
                </c:pt>
                <c:pt idx="105">
                  <c:v>9.42</c:v>
                </c:pt>
                <c:pt idx="106">
                  <c:v>9.49</c:v>
                </c:pt>
                <c:pt idx="107">
                  <c:v>9.4600000000000026</c:v>
                </c:pt>
                <c:pt idx="108">
                  <c:v>9.42</c:v>
                </c:pt>
                <c:pt idx="109">
                  <c:v>9.3000000000000007</c:v>
                </c:pt>
                <c:pt idx="110">
                  <c:v>9.42</c:v>
                </c:pt>
                <c:pt idx="111">
                  <c:v>9.3700000000000028</c:v>
                </c:pt>
                <c:pt idx="112">
                  <c:v>9.26</c:v>
                </c:pt>
                <c:pt idx="113">
                  <c:v>9.27</c:v>
                </c:pt>
                <c:pt idx="114">
                  <c:v>9.39</c:v>
                </c:pt>
                <c:pt idx="115">
                  <c:v>9.4499999999999993</c:v>
                </c:pt>
                <c:pt idx="116">
                  <c:v>9.5400000000000009</c:v>
                </c:pt>
                <c:pt idx="117">
                  <c:v>9.5500000000000007</c:v>
                </c:pt>
                <c:pt idx="118">
                  <c:v>9.5300000000000011</c:v>
                </c:pt>
                <c:pt idx="119">
                  <c:v>9.56</c:v>
                </c:pt>
                <c:pt idx="120">
                  <c:v>9.6</c:v>
                </c:pt>
                <c:pt idx="121">
                  <c:v>9.66</c:v>
                </c:pt>
                <c:pt idx="122">
                  <c:v>9.7900000000000009</c:v>
                </c:pt>
                <c:pt idx="123">
                  <c:v>9.73</c:v>
                </c:pt>
                <c:pt idx="124">
                  <c:v>9.77</c:v>
                </c:pt>
                <c:pt idx="125">
                  <c:v>9.7900000000000009</c:v>
                </c:pt>
                <c:pt idx="126">
                  <c:v>9.76</c:v>
                </c:pt>
                <c:pt idx="127">
                  <c:v>9.65</c:v>
                </c:pt>
                <c:pt idx="128">
                  <c:v>9.7199999999999989</c:v>
                </c:pt>
                <c:pt idx="129">
                  <c:v>9.69</c:v>
                </c:pt>
                <c:pt idx="130">
                  <c:v>9.67</c:v>
                </c:pt>
                <c:pt idx="131">
                  <c:v>9.67</c:v>
                </c:pt>
                <c:pt idx="132">
                  <c:v>9.65</c:v>
                </c:pt>
                <c:pt idx="133">
                  <c:v>9.5500000000000007</c:v>
                </c:pt>
                <c:pt idx="134">
                  <c:v>9.6</c:v>
                </c:pt>
                <c:pt idx="135">
                  <c:v>9.58</c:v>
                </c:pt>
                <c:pt idx="136">
                  <c:v>9.620000000000001</c:v>
                </c:pt>
                <c:pt idx="137">
                  <c:v>9.58</c:v>
                </c:pt>
                <c:pt idx="138">
                  <c:v>9.64</c:v>
                </c:pt>
                <c:pt idx="139">
                  <c:v>9.66</c:v>
                </c:pt>
                <c:pt idx="140">
                  <c:v>9.65</c:v>
                </c:pt>
                <c:pt idx="141">
                  <c:v>9.59</c:v>
                </c:pt>
                <c:pt idx="142">
                  <c:v>9.52</c:v>
                </c:pt>
                <c:pt idx="143">
                  <c:v>9.58</c:v>
                </c:pt>
                <c:pt idx="144">
                  <c:v>9.61</c:v>
                </c:pt>
                <c:pt idx="145">
                  <c:v>9.7100000000000009</c:v>
                </c:pt>
                <c:pt idx="146">
                  <c:v>9.64</c:v>
                </c:pt>
                <c:pt idx="147">
                  <c:v>9.6299999999999972</c:v>
                </c:pt>
                <c:pt idx="148">
                  <c:v>9.67</c:v>
                </c:pt>
                <c:pt idx="149">
                  <c:v>9.69</c:v>
                </c:pt>
                <c:pt idx="150">
                  <c:v>9.73</c:v>
                </c:pt>
                <c:pt idx="151">
                  <c:v>9.68</c:v>
                </c:pt>
                <c:pt idx="152">
                  <c:v>9.7199999999999989</c:v>
                </c:pt>
                <c:pt idx="153">
                  <c:v>9.77</c:v>
                </c:pt>
                <c:pt idx="154">
                  <c:v>9.85</c:v>
                </c:pt>
                <c:pt idx="155">
                  <c:v>9.84</c:v>
                </c:pt>
                <c:pt idx="156">
                  <c:v>9.92</c:v>
                </c:pt>
                <c:pt idx="157">
                  <c:v>9.7199999999999989</c:v>
                </c:pt>
                <c:pt idx="158">
                  <c:v>9.6299999999999972</c:v>
                </c:pt>
                <c:pt idx="159">
                  <c:v>9.58</c:v>
                </c:pt>
                <c:pt idx="160">
                  <c:v>9.65</c:v>
                </c:pt>
                <c:pt idx="161">
                  <c:v>9.69</c:v>
                </c:pt>
                <c:pt idx="162">
                  <c:v>9.7100000000000009</c:v>
                </c:pt>
                <c:pt idx="163">
                  <c:v>9.7199999999999989</c:v>
                </c:pt>
                <c:pt idx="164">
                  <c:v>9.69</c:v>
                </c:pt>
                <c:pt idx="165">
                  <c:v>9.65</c:v>
                </c:pt>
                <c:pt idx="166">
                  <c:v>9.7800000000000011</c:v>
                </c:pt>
                <c:pt idx="167">
                  <c:v>9.6</c:v>
                </c:pt>
                <c:pt idx="168">
                  <c:v>9.43</c:v>
                </c:pt>
                <c:pt idx="169">
                  <c:v>9.68</c:v>
                </c:pt>
                <c:pt idx="170">
                  <c:v>9.7800000000000011</c:v>
                </c:pt>
                <c:pt idx="171">
                  <c:v>9.83</c:v>
                </c:pt>
                <c:pt idx="172">
                  <c:v>9.85</c:v>
                </c:pt>
                <c:pt idx="173">
                  <c:v>9.9700000000000006</c:v>
                </c:pt>
                <c:pt idx="174">
                  <c:v>9.98</c:v>
                </c:pt>
                <c:pt idx="175">
                  <c:v>10.15</c:v>
                </c:pt>
                <c:pt idx="176">
                  <c:v>10.18</c:v>
                </c:pt>
                <c:pt idx="177">
                  <c:v>10.15</c:v>
                </c:pt>
                <c:pt idx="178">
                  <c:v>10</c:v>
                </c:pt>
                <c:pt idx="179">
                  <c:v>10.23</c:v>
                </c:pt>
                <c:pt idx="180">
                  <c:v>10.119999999999999</c:v>
                </c:pt>
                <c:pt idx="181">
                  <c:v>10.16</c:v>
                </c:pt>
                <c:pt idx="182">
                  <c:v>10.220000000000001</c:v>
                </c:pt>
                <c:pt idx="183">
                  <c:v>10.32</c:v>
                </c:pt>
                <c:pt idx="184">
                  <c:v>10.34</c:v>
                </c:pt>
                <c:pt idx="185">
                  <c:v>10.4</c:v>
                </c:pt>
                <c:pt idx="186">
                  <c:v>10.44</c:v>
                </c:pt>
                <c:pt idx="187">
                  <c:v>10.47</c:v>
                </c:pt>
                <c:pt idx="188">
                  <c:v>10.39</c:v>
                </c:pt>
                <c:pt idx="189">
                  <c:v>10.33</c:v>
                </c:pt>
                <c:pt idx="190">
                  <c:v>10.45</c:v>
                </c:pt>
                <c:pt idx="191">
                  <c:v>10.45</c:v>
                </c:pt>
                <c:pt idx="192">
                  <c:v>10.42</c:v>
                </c:pt>
                <c:pt idx="193">
                  <c:v>10.42</c:v>
                </c:pt>
                <c:pt idx="194">
                  <c:v>10.32</c:v>
                </c:pt>
                <c:pt idx="195">
                  <c:v>10.4</c:v>
                </c:pt>
                <c:pt idx="196">
                  <c:v>10.4</c:v>
                </c:pt>
                <c:pt idx="197">
                  <c:v>10.4</c:v>
                </c:pt>
                <c:pt idx="198">
                  <c:v>10.26</c:v>
                </c:pt>
                <c:pt idx="199">
                  <c:v>10.36</c:v>
                </c:pt>
                <c:pt idx="200">
                  <c:v>10.24</c:v>
                </c:pt>
                <c:pt idx="201">
                  <c:v>10.32</c:v>
                </c:pt>
                <c:pt idx="202">
                  <c:v>10.27</c:v>
                </c:pt>
                <c:pt idx="203">
                  <c:v>10.44</c:v>
                </c:pt>
                <c:pt idx="204">
                  <c:v>10.59</c:v>
                </c:pt>
                <c:pt idx="205">
                  <c:v>10.6</c:v>
                </c:pt>
                <c:pt idx="206">
                  <c:v>10.66</c:v>
                </c:pt>
                <c:pt idx="207">
                  <c:v>10.55</c:v>
                </c:pt>
                <c:pt idx="208">
                  <c:v>10.53</c:v>
                </c:pt>
                <c:pt idx="209">
                  <c:v>10.58</c:v>
                </c:pt>
                <c:pt idx="210">
                  <c:v>10.61</c:v>
                </c:pt>
                <c:pt idx="211">
                  <c:v>10.56</c:v>
                </c:pt>
                <c:pt idx="212">
                  <c:v>10.64</c:v>
                </c:pt>
                <c:pt idx="213">
                  <c:v>10.61</c:v>
                </c:pt>
                <c:pt idx="214">
                  <c:v>10.6</c:v>
                </c:pt>
                <c:pt idx="215">
                  <c:v>10.59</c:v>
                </c:pt>
                <c:pt idx="216">
                  <c:v>10.56</c:v>
                </c:pt>
                <c:pt idx="217">
                  <c:v>10.68</c:v>
                </c:pt>
                <c:pt idx="218">
                  <c:v>10.7</c:v>
                </c:pt>
                <c:pt idx="219">
                  <c:v>10.74</c:v>
                </c:pt>
                <c:pt idx="220">
                  <c:v>10.56</c:v>
                </c:pt>
                <c:pt idx="221">
                  <c:v>10.17</c:v>
                </c:pt>
                <c:pt idx="222">
                  <c:v>10.32</c:v>
                </c:pt>
                <c:pt idx="223">
                  <c:v>10.17</c:v>
                </c:pt>
                <c:pt idx="224">
                  <c:v>10.29</c:v>
                </c:pt>
                <c:pt idx="225">
                  <c:v>10.210000000000001</c:v>
                </c:pt>
                <c:pt idx="226">
                  <c:v>10.32</c:v>
                </c:pt>
                <c:pt idx="227">
                  <c:v>10.34</c:v>
                </c:pt>
                <c:pt idx="228">
                  <c:v>10.37</c:v>
                </c:pt>
                <c:pt idx="229">
                  <c:v>10.42</c:v>
                </c:pt>
                <c:pt idx="230">
                  <c:v>10.48</c:v>
                </c:pt>
                <c:pt idx="231">
                  <c:v>10.49</c:v>
                </c:pt>
                <c:pt idx="232">
                  <c:v>10.36</c:v>
                </c:pt>
                <c:pt idx="233">
                  <c:v>10.49</c:v>
                </c:pt>
                <c:pt idx="234">
                  <c:v>10.47</c:v>
                </c:pt>
                <c:pt idx="235">
                  <c:v>10.32</c:v>
                </c:pt>
                <c:pt idx="236">
                  <c:v>10.33</c:v>
                </c:pt>
                <c:pt idx="237">
                  <c:v>10.37</c:v>
                </c:pt>
                <c:pt idx="238">
                  <c:v>10.37</c:v>
                </c:pt>
                <c:pt idx="239">
                  <c:v>10.38</c:v>
                </c:pt>
                <c:pt idx="240">
                  <c:v>10.199999999999999</c:v>
                </c:pt>
                <c:pt idx="241">
                  <c:v>10.11</c:v>
                </c:pt>
                <c:pt idx="242">
                  <c:v>10.130000000000001</c:v>
                </c:pt>
                <c:pt idx="243">
                  <c:v>10.09</c:v>
                </c:pt>
                <c:pt idx="244">
                  <c:v>10.029999999999999</c:v>
                </c:pt>
                <c:pt idx="245">
                  <c:v>10.06</c:v>
                </c:pt>
                <c:pt idx="246">
                  <c:v>10.11</c:v>
                </c:pt>
                <c:pt idx="247">
                  <c:v>9.89</c:v>
                </c:pt>
                <c:pt idx="248">
                  <c:v>9.93</c:v>
                </c:pt>
                <c:pt idx="249">
                  <c:v>10.06</c:v>
                </c:pt>
                <c:pt idx="250">
                  <c:v>10.029999999999999</c:v>
                </c:pt>
                <c:pt idx="251">
                  <c:v>10.11</c:v>
                </c:pt>
                <c:pt idx="252">
                  <c:v>10.06</c:v>
                </c:pt>
                <c:pt idx="253">
                  <c:v>10.08</c:v>
                </c:pt>
                <c:pt idx="254">
                  <c:v>10.06</c:v>
                </c:pt>
                <c:pt idx="255">
                  <c:v>9.93</c:v>
                </c:pt>
                <c:pt idx="256">
                  <c:v>9.91</c:v>
                </c:pt>
                <c:pt idx="257">
                  <c:v>9.89</c:v>
                </c:pt>
                <c:pt idx="258">
                  <c:v>9.75</c:v>
                </c:pt>
                <c:pt idx="259">
                  <c:v>9.67</c:v>
                </c:pt>
                <c:pt idx="260">
                  <c:v>9.56</c:v>
                </c:pt>
                <c:pt idx="261">
                  <c:v>9.57</c:v>
                </c:pt>
                <c:pt idx="262">
                  <c:v>9.73</c:v>
                </c:pt>
                <c:pt idx="263">
                  <c:v>9.65</c:v>
                </c:pt>
                <c:pt idx="264">
                  <c:v>9.68</c:v>
                </c:pt>
                <c:pt idx="265">
                  <c:v>9.5</c:v>
                </c:pt>
                <c:pt idx="266">
                  <c:v>9.49</c:v>
                </c:pt>
                <c:pt idx="267">
                  <c:v>9.5</c:v>
                </c:pt>
                <c:pt idx="268">
                  <c:v>9.65</c:v>
                </c:pt>
                <c:pt idx="269">
                  <c:v>9.7800000000000011</c:v>
                </c:pt>
                <c:pt idx="270">
                  <c:v>9.7199999999999989</c:v>
                </c:pt>
                <c:pt idx="271">
                  <c:v>9.73</c:v>
                </c:pt>
                <c:pt idx="272">
                  <c:v>9.92</c:v>
                </c:pt>
                <c:pt idx="273">
                  <c:v>9.98</c:v>
                </c:pt>
                <c:pt idx="274">
                  <c:v>9.9</c:v>
                </c:pt>
                <c:pt idx="275">
                  <c:v>9.9</c:v>
                </c:pt>
                <c:pt idx="276">
                  <c:v>9.94</c:v>
                </c:pt>
                <c:pt idx="277">
                  <c:v>9.94</c:v>
                </c:pt>
                <c:pt idx="278">
                  <c:v>9.93</c:v>
                </c:pt>
                <c:pt idx="279">
                  <c:v>9.89</c:v>
                </c:pt>
                <c:pt idx="280">
                  <c:v>9.84</c:v>
                </c:pt>
                <c:pt idx="281">
                  <c:v>9.7900000000000009</c:v>
                </c:pt>
                <c:pt idx="282">
                  <c:v>9.85</c:v>
                </c:pt>
                <c:pt idx="283">
                  <c:v>9.8800000000000008</c:v>
                </c:pt>
                <c:pt idx="284">
                  <c:v>9.9700000000000006</c:v>
                </c:pt>
                <c:pt idx="285">
                  <c:v>9.83</c:v>
                </c:pt>
                <c:pt idx="286">
                  <c:v>10.02</c:v>
                </c:pt>
                <c:pt idx="287">
                  <c:v>9.93</c:v>
                </c:pt>
                <c:pt idx="288">
                  <c:v>10</c:v>
                </c:pt>
                <c:pt idx="289">
                  <c:v>10</c:v>
                </c:pt>
                <c:pt idx="290">
                  <c:v>10.07</c:v>
                </c:pt>
                <c:pt idx="291">
                  <c:v>10.1</c:v>
                </c:pt>
                <c:pt idx="292">
                  <c:v>10.11</c:v>
                </c:pt>
                <c:pt idx="293">
                  <c:v>10.119999999999999</c:v>
                </c:pt>
                <c:pt idx="294">
                  <c:v>10.130000000000001</c:v>
                </c:pt>
                <c:pt idx="295">
                  <c:v>10.14</c:v>
                </c:pt>
                <c:pt idx="296">
                  <c:v>10.17</c:v>
                </c:pt>
                <c:pt idx="297">
                  <c:v>10.199999999999999</c:v>
                </c:pt>
                <c:pt idx="298">
                  <c:v>10.26</c:v>
                </c:pt>
                <c:pt idx="299">
                  <c:v>10.09</c:v>
                </c:pt>
                <c:pt idx="300">
                  <c:v>10.16</c:v>
                </c:pt>
                <c:pt idx="301">
                  <c:v>10.09</c:v>
                </c:pt>
                <c:pt idx="302">
                  <c:v>10.15</c:v>
                </c:pt>
                <c:pt idx="303">
                  <c:v>10.31</c:v>
                </c:pt>
                <c:pt idx="304">
                  <c:v>10.49</c:v>
                </c:pt>
                <c:pt idx="305">
                  <c:v>10.52</c:v>
                </c:pt>
                <c:pt idx="306">
                  <c:v>10.47</c:v>
                </c:pt>
                <c:pt idx="307">
                  <c:v>10.5</c:v>
                </c:pt>
                <c:pt idx="308">
                  <c:v>10.5</c:v>
                </c:pt>
                <c:pt idx="309">
                  <c:v>10.49</c:v>
                </c:pt>
                <c:pt idx="310">
                  <c:v>10.5</c:v>
                </c:pt>
                <c:pt idx="311">
                  <c:v>10.55</c:v>
                </c:pt>
                <c:pt idx="312">
                  <c:v>10.5</c:v>
                </c:pt>
                <c:pt idx="313">
                  <c:v>10.5</c:v>
                </c:pt>
                <c:pt idx="314">
                  <c:v>10.53</c:v>
                </c:pt>
                <c:pt idx="315">
                  <c:v>10.47</c:v>
                </c:pt>
                <c:pt idx="316">
                  <c:v>10.5</c:v>
                </c:pt>
                <c:pt idx="317">
                  <c:v>10.45</c:v>
                </c:pt>
                <c:pt idx="318">
                  <c:v>10.52</c:v>
                </c:pt>
                <c:pt idx="319">
                  <c:v>10.6</c:v>
                </c:pt>
                <c:pt idx="320">
                  <c:v>10.65</c:v>
                </c:pt>
                <c:pt idx="321">
                  <c:v>10.75</c:v>
                </c:pt>
                <c:pt idx="322">
                  <c:v>10.72</c:v>
                </c:pt>
                <c:pt idx="323">
                  <c:v>10.82</c:v>
                </c:pt>
                <c:pt idx="324">
                  <c:v>10.78</c:v>
                </c:pt>
                <c:pt idx="325">
                  <c:v>10.82</c:v>
                </c:pt>
                <c:pt idx="326">
                  <c:v>10.9</c:v>
                </c:pt>
                <c:pt idx="327">
                  <c:v>10.89</c:v>
                </c:pt>
                <c:pt idx="328">
                  <c:v>10.94</c:v>
                </c:pt>
                <c:pt idx="329">
                  <c:v>10.91</c:v>
                </c:pt>
                <c:pt idx="330">
                  <c:v>10.92</c:v>
                </c:pt>
                <c:pt idx="331">
                  <c:v>10.94</c:v>
                </c:pt>
                <c:pt idx="332">
                  <c:v>11.04</c:v>
                </c:pt>
                <c:pt idx="333">
                  <c:v>11.01</c:v>
                </c:pt>
                <c:pt idx="334">
                  <c:v>10.97</c:v>
                </c:pt>
                <c:pt idx="335">
                  <c:v>10.9</c:v>
                </c:pt>
                <c:pt idx="336">
                  <c:v>10.91</c:v>
                </c:pt>
                <c:pt idx="337">
                  <c:v>10.91</c:v>
                </c:pt>
                <c:pt idx="338">
                  <c:v>10.91</c:v>
                </c:pt>
                <c:pt idx="339">
                  <c:v>10.91</c:v>
                </c:pt>
                <c:pt idx="340">
                  <c:v>10.92</c:v>
                </c:pt>
                <c:pt idx="341">
                  <c:v>10.98</c:v>
                </c:pt>
                <c:pt idx="342">
                  <c:v>11.02</c:v>
                </c:pt>
                <c:pt idx="343">
                  <c:v>10.98</c:v>
                </c:pt>
              </c:numCache>
            </c:numRef>
          </c:val>
          <c:smooth val="0"/>
          <c:extLst>
            <c:ext xmlns:c16="http://schemas.microsoft.com/office/drawing/2014/chart" uri="{C3380CC4-5D6E-409C-BE32-E72D297353CC}">
              <c16:uniqueId val="{00000002-5551-8A4C-A605-0514AC7804CB}"/>
            </c:ext>
          </c:extLst>
        </c:ser>
        <c:dLbls>
          <c:showLegendKey val="0"/>
          <c:showVal val="0"/>
          <c:showCatName val="0"/>
          <c:showSerName val="0"/>
          <c:showPercent val="0"/>
          <c:showBubbleSize val="0"/>
        </c:dLbls>
        <c:smooth val="0"/>
        <c:axId val="-2145271064"/>
        <c:axId val="-2145276744"/>
      </c:lineChart>
      <c:dateAx>
        <c:axId val="-2145271064"/>
        <c:scaling>
          <c:orientation val="minMax"/>
        </c:scaling>
        <c:delete val="0"/>
        <c:axPos val="b"/>
        <c:numFmt formatCode="m/d/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45276744"/>
        <c:crosses val="autoZero"/>
        <c:auto val="1"/>
        <c:lblOffset val="100"/>
        <c:baseTimeUnit val="days"/>
        <c:majorUnit val="2"/>
        <c:majorTimeUnit val="months"/>
      </c:dateAx>
      <c:valAx>
        <c:axId val="-2145276744"/>
        <c:scaling>
          <c:orientation val="minMax"/>
          <c:min val="7"/>
        </c:scaling>
        <c:delete val="0"/>
        <c:axPos val="l"/>
        <c:majorGridlines>
          <c:spPr>
            <a:ln w="9525" cap="flat" cmpd="sng" algn="ctr">
              <a:solidFill>
                <a:schemeClr val="tx1">
                  <a:lumMod val="15000"/>
                  <a:lumOff val="85000"/>
                </a:schemeClr>
              </a:solidFill>
              <a:round/>
            </a:ln>
            <a:effectLst/>
          </c:spPr>
        </c:majorGridlines>
        <c:numFmt formatCode="&quot;$&quot;#,##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45271064"/>
        <c:crosses val="autoZero"/>
        <c:crossBetween val="between"/>
      </c:valAx>
      <c:spPr>
        <a:noFill/>
        <a:ln>
          <a:noFill/>
        </a:ln>
        <a:effectLst/>
      </c:spPr>
    </c:plotArea>
    <c:legend>
      <c:legendPos val="b"/>
      <c:layout>
        <c:manualLayout>
          <c:xMode val="edge"/>
          <c:yMode val="edge"/>
          <c:x val="0.37514337270341203"/>
          <c:y val="6.17613188976378E-2"/>
          <c:w val="0.24971309055118099"/>
          <c:h val="6.011368110236219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Diversified</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manualLayout>
          <c:layoutTarget val="inner"/>
          <c:xMode val="edge"/>
          <c:yMode val="edge"/>
          <c:x val="7.1257636364246327E-2"/>
          <c:y val="0.12758771929824564"/>
          <c:w val="0.86575486921310918"/>
          <c:h val="0.60856195607128061"/>
        </c:manualLayout>
      </c:layout>
      <c:areaChart>
        <c:grouping val="standard"/>
        <c:varyColors val="0"/>
        <c:ser>
          <c:idx val="13"/>
          <c:order val="0"/>
          <c:tx>
            <c:v>Diversified Historical Avg Discount</c:v>
          </c:tx>
          <c:spPr>
            <a:solidFill>
              <a:srgbClr val="CAAA79"/>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[0]!DivHist</c:f>
              <c:numCache>
                <c:formatCode>0.00%</c:formatCode>
                <c:ptCount val="68"/>
                <c:pt idx="0">
                  <c:v>-3.741474139101207</c:v>
                </c:pt>
                <c:pt idx="1">
                  <c:v>-3.741474139101207</c:v>
                </c:pt>
                <c:pt idx="2">
                  <c:v>-3.741474139101207</c:v>
                </c:pt>
                <c:pt idx="3">
                  <c:v>-3.741474139101207</c:v>
                </c:pt>
                <c:pt idx="4">
                  <c:v>-3.741474139101207</c:v>
                </c:pt>
                <c:pt idx="5">
                  <c:v>-3.741474139101207</c:v>
                </c:pt>
                <c:pt idx="6">
                  <c:v>-3.741474139101207</c:v>
                </c:pt>
                <c:pt idx="7">
                  <c:v>-3.741474139101207</c:v>
                </c:pt>
                <c:pt idx="8">
                  <c:v>-3.741474139101207</c:v>
                </c:pt>
                <c:pt idx="9">
                  <c:v>-3.741474139101207</c:v>
                </c:pt>
                <c:pt idx="10">
                  <c:v>-3.741474139101207</c:v>
                </c:pt>
                <c:pt idx="11">
                  <c:v>-3.741474139101207</c:v>
                </c:pt>
                <c:pt idx="12">
                  <c:v>-3.741474139101207</c:v>
                </c:pt>
                <c:pt idx="13">
                  <c:v>-3.741474139101207</c:v>
                </c:pt>
                <c:pt idx="14">
                  <c:v>-3.741474139101207</c:v>
                </c:pt>
                <c:pt idx="15">
                  <c:v>-3.741474139101207</c:v>
                </c:pt>
                <c:pt idx="16">
                  <c:v>-3.741474139101207</c:v>
                </c:pt>
                <c:pt idx="17">
                  <c:v>-3.741474139101207</c:v>
                </c:pt>
                <c:pt idx="18">
                  <c:v>-3.741474139101207</c:v>
                </c:pt>
                <c:pt idx="19">
                  <c:v>-3.741474139101207</c:v>
                </c:pt>
                <c:pt idx="20">
                  <c:v>-3.741474139101207</c:v>
                </c:pt>
                <c:pt idx="21">
                  <c:v>-3.741474139101207</c:v>
                </c:pt>
                <c:pt idx="22">
                  <c:v>-3.741474139101207</c:v>
                </c:pt>
                <c:pt idx="23">
                  <c:v>-3.741474139101207</c:v>
                </c:pt>
                <c:pt idx="24">
                  <c:v>-3.741474139101207</c:v>
                </c:pt>
                <c:pt idx="25">
                  <c:v>-3.741474139101207</c:v>
                </c:pt>
                <c:pt idx="26">
                  <c:v>-3.741474139101207</c:v>
                </c:pt>
                <c:pt idx="27">
                  <c:v>-3.741474139101207</c:v>
                </c:pt>
                <c:pt idx="28">
                  <c:v>-3.741474139101207</c:v>
                </c:pt>
                <c:pt idx="29">
                  <c:v>-3.741474139101207</c:v>
                </c:pt>
                <c:pt idx="30">
                  <c:v>-3.741474139101207</c:v>
                </c:pt>
                <c:pt idx="31">
                  <c:v>-3.741474139101207</c:v>
                </c:pt>
                <c:pt idx="32">
                  <c:v>-3.741474139101207</c:v>
                </c:pt>
                <c:pt idx="33">
                  <c:v>-3.741474139101207</c:v>
                </c:pt>
                <c:pt idx="34">
                  <c:v>-3.741474139101207</c:v>
                </c:pt>
                <c:pt idx="35">
                  <c:v>-3.741474139101207</c:v>
                </c:pt>
                <c:pt idx="36">
                  <c:v>-3.741474139101207</c:v>
                </c:pt>
                <c:pt idx="37">
                  <c:v>-3.741474139101207</c:v>
                </c:pt>
                <c:pt idx="38">
                  <c:v>-3.741474139101207</c:v>
                </c:pt>
                <c:pt idx="39">
                  <c:v>-3.741474139101207</c:v>
                </c:pt>
                <c:pt idx="40">
                  <c:v>-3.741474139101207</c:v>
                </c:pt>
                <c:pt idx="41">
                  <c:v>-3.741474139101207</c:v>
                </c:pt>
                <c:pt idx="42">
                  <c:v>-3.741474139101207</c:v>
                </c:pt>
                <c:pt idx="43">
                  <c:v>-3.741474139101207</c:v>
                </c:pt>
                <c:pt idx="44">
                  <c:v>-3.741474139101207</c:v>
                </c:pt>
                <c:pt idx="45">
                  <c:v>-3.741474139101207</c:v>
                </c:pt>
                <c:pt idx="46">
                  <c:v>-3.741474139101207</c:v>
                </c:pt>
                <c:pt idx="47">
                  <c:v>-3.741474139101207</c:v>
                </c:pt>
                <c:pt idx="48">
                  <c:v>-3.741474139101207</c:v>
                </c:pt>
                <c:pt idx="49">
                  <c:v>-3.741474139101207</c:v>
                </c:pt>
                <c:pt idx="50">
                  <c:v>-3.741474139101207</c:v>
                </c:pt>
                <c:pt idx="51">
                  <c:v>-3.741474139101207</c:v>
                </c:pt>
                <c:pt idx="52">
                  <c:v>-3.741474139101207</c:v>
                </c:pt>
                <c:pt idx="53">
                  <c:v>-3.741474139101207</c:v>
                </c:pt>
                <c:pt idx="54">
                  <c:v>-3.741474139101207</c:v>
                </c:pt>
                <c:pt idx="55">
                  <c:v>-3.741474139101207</c:v>
                </c:pt>
                <c:pt idx="56">
                  <c:v>-3.741474139101207</c:v>
                </c:pt>
                <c:pt idx="57">
                  <c:v>-3.741474139101207</c:v>
                </c:pt>
                <c:pt idx="58">
                  <c:v>-3.741474139101207</c:v>
                </c:pt>
                <c:pt idx="59">
                  <c:v>-3.741474139101207</c:v>
                </c:pt>
                <c:pt idx="60">
                  <c:v>-3.741474139101207</c:v>
                </c:pt>
                <c:pt idx="61">
                  <c:v>-3.741474139101207</c:v>
                </c:pt>
                <c:pt idx="62">
                  <c:v>-3.741474139101207</c:v>
                </c:pt>
                <c:pt idx="63">
                  <c:v>-3.741474139101207</c:v>
                </c:pt>
                <c:pt idx="64">
                  <c:v>-3.741474139101207</c:v>
                </c:pt>
                <c:pt idx="65">
                  <c:v>-3.741474139101207</c:v>
                </c:pt>
                <c:pt idx="66">
                  <c:v>-3.741474139101207</c:v>
                </c:pt>
                <c:pt idx="67">
                  <c:v>-3.741474139101207</c:v>
                </c:pt>
              </c:numCache>
            </c:numRef>
          </c:val>
          <c:extLst>
            <c:ext xmlns:c16="http://schemas.microsoft.com/office/drawing/2014/chart" uri="{C3380CC4-5D6E-409C-BE32-E72D297353CC}">
              <c16:uniqueId val="{00000000-2C83-42A1-96C9-584CCFD4DC48}"/>
            </c:ext>
          </c:extLst>
        </c:ser>
        <c:ser>
          <c:idx val="11"/>
          <c:order val="1"/>
          <c:tx>
            <c:v>Diversified Current Avg Discount</c:v>
          </c:tx>
          <c:spPr>
            <a:solidFill>
              <a:srgbClr val="63666B"/>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[0]!DivAvg</c:f>
              <c:numCache>
                <c:formatCode>0.00%</c:formatCode>
                <c:ptCount val="68"/>
                <c:pt idx="0">
                  <c:v>-4.0184159096115435</c:v>
                </c:pt>
                <c:pt idx="1">
                  <c:v>-3.144890590790789</c:v>
                </c:pt>
                <c:pt idx="2">
                  <c:v>-2.4755870455763107</c:v>
                </c:pt>
                <c:pt idx="3">
                  <c:v>-2.0841862959100617</c:v>
                </c:pt>
                <c:pt idx="4">
                  <c:v>-2.0137761267447054</c:v>
                </c:pt>
                <c:pt idx="5">
                  <c:v>-2.272107719522955</c:v>
                </c:pt>
                <c:pt idx="6">
                  <c:v>-2.830742354785026</c:v>
                </c:pt>
                <c:pt idx="7">
                  <c:v>-3.628182120092564</c:v>
                </c:pt>
                <c:pt idx="8">
                  <c:v>-4.576639975820399</c:v>
                </c:pt>
                <c:pt idx="9">
                  <c:v>-5.571703888626456</c:v>
                </c:pt>
                <c:pt idx="10">
                  <c:v>-6.503831145765034</c:v>
                </c:pt>
                <c:pt idx="11">
                  <c:v>-7.270407485923784</c:v>
                </c:pt>
                <c:pt idx="12">
                  <c:v>-4.0184159096115435</c:v>
                </c:pt>
                <c:pt idx="13">
                  <c:v>-3.144890590790789</c:v>
                </c:pt>
                <c:pt idx="14">
                  <c:v>-2.4755870455763107</c:v>
                </c:pt>
                <c:pt idx="15">
                  <c:v>-2.0841862959100617</c:v>
                </c:pt>
                <c:pt idx="16">
                  <c:v>-2.0137761267447054</c:v>
                </c:pt>
                <c:pt idx="17">
                  <c:v>-2.272107719522955</c:v>
                </c:pt>
                <c:pt idx="18">
                  <c:v>-2.830742354785026</c:v>
                </c:pt>
                <c:pt idx="19">
                  <c:v>-3.628182120092564</c:v>
                </c:pt>
                <c:pt idx="20">
                  <c:v>-4.576639975820399</c:v>
                </c:pt>
                <c:pt idx="21">
                  <c:v>-5.571703888626456</c:v>
                </c:pt>
                <c:pt idx="22">
                  <c:v>-6.503831145765034</c:v>
                </c:pt>
                <c:pt idx="23">
                  <c:v>-7.270407485923784</c:v>
                </c:pt>
                <c:pt idx="24">
                  <c:v>-4.0184159096115435</c:v>
                </c:pt>
                <c:pt idx="25">
                  <c:v>-3.144890590790789</c:v>
                </c:pt>
                <c:pt idx="26">
                  <c:v>-2.4755870455763107</c:v>
                </c:pt>
                <c:pt idx="27">
                  <c:v>-2.0841862959100617</c:v>
                </c:pt>
                <c:pt idx="28">
                  <c:v>-2.0137761267447054</c:v>
                </c:pt>
                <c:pt idx="29">
                  <c:v>-2.272107719522955</c:v>
                </c:pt>
                <c:pt idx="30">
                  <c:v>-2.830742354785026</c:v>
                </c:pt>
                <c:pt idx="31">
                  <c:v>-3.628182120092564</c:v>
                </c:pt>
                <c:pt idx="32">
                  <c:v>-4.576639975820399</c:v>
                </c:pt>
                <c:pt idx="33">
                  <c:v>-5.571703888626456</c:v>
                </c:pt>
                <c:pt idx="34">
                  <c:v>-6.503831145765034</c:v>
                </c:pt>
                <c:pt idx="35">
                  <c:v>-7.270407485923784</c:v>
                </c:pt>
                <c:pt idx="36">
                  <c:v>-4.0184159096115435</c:v>
                </c:pt>
                <c:pt idx="37">
                  <c:v>-3.144890590790789</c:v>
                </c:pt>
                <c:pt idx="38">
                  <c:v>-2.4755870455763107</c:v>
                </c:pt>
                <c:pt idx="39">
                  <c:v>-2.0841862959100617</c:v>
                </c:pt>
                <c:pt idx="40">
                  <c:v>-2.0137761267447054</c:v>
                </c:pt>
                <c:pt idx="41">
                  <c:v>-2.272107719522955</c:v>
                </c:pt>
                <c:pt idx="42">
                  <c:v>-2.830742354785026</c:v>
                </c:pt>
                <c:pt idx="43">
                  <c:v>-3.628182120092564</c:v>
                </c:pt>
                <c:pt idx="44">
                  <c:v>-4.576639975820399</c:v>
                </c:pt>
                <c:pt idx="45">
                  <c:v>-5.571703888626456</c:v>
                </c:pt>
                <c:pt idx="46">
                  <c:v>-6.503831145765034</c:v>
                </c:pt>
                <c:pt idx="47">
                  <c:v>-7.270407485923784</c:v>
                </c:pt>
                <c:pt idx="48">
                  <c:v>-4.0184159096115435</c:v>
                </c:pt>
                <c:pt idx="49">
                  <c:v>-3.144890590790789</c:v>
                </c:pt>
                <c:pt idx="50">
                  <c:v>-2.4755870455763107</c:v>
                </c:pt>
                <c:pt idx="51">
                  <c:v>-2.0841862959100617</c:v>
                </c:pt>
                <c:pt idx="52">
                  <c:v>-2.0137761267447054</c:v>
                </c:pt>
                <c:pt idx="53">
                  <c:v>-2.272107719522955</c:v>
                </c:pt>
                <c:pt idx="54">
                  <c:v>-2.830742354785026</c:v>
                </c:pt>
                <c:pt idx="55">
                  <c:v>-3.628182120092564</c:v>
                </c:pt>
                <c:pt idx="56">
                  <c:v>-4.576639975820399</c:v>
                </c:pt>
                <c:pt idx="57">
                  <c:v>-5.571703888626456</c:v>
                </c:pt>
                <c:pt idx="58">
                  <c:v>-6.503831145765034</c:v>
                </c:pt>
                <c:pt idx="59">
                  <c:v>-7.270407485923784</c:v>
                </c:pt>
                <c:pt idx="60">
                  <c:v>-4.0184159096115435</c:v>
                </c:pt>
                <c:pt idx="61">
                  <c:v>-3.144890590790789</c:v>
                </c:pt>
                <c:pt idx="62">
                  <c:v>-2.4755870455763107</c:v>
                </c:pt>
                <c:pt idx="63">
                  <c:v>-2.0841862959100617</c:v>
                </c:pt>
                <c:pt idx="64">
                  <c:v>-2.0137761267447054</c:v>
                </c:pt>
                <c:pt idx="65">
                  <c:v>-2.272107719522955</c:v>
                </c:pt>
                <c:pt idx="66">
                  <c:v>-2.830742354785026</c:v>
                </c:pt>
                <c:pt idx="67">
                  <c:v>-3.628182120092564</c:v>
                </c:pt>
              </c:numCache>
            </c:numRef>
          </c:val>
          <c:extLst>
            <c:ext xmlns:c16="http://schemas.microsoft.com/office/drawing/2014/chart" uri="{C3380CC4-5D6E-409C-BE32-E72D297353CC}">
              <c16:uniqueId val="{00000001-2C83-42A1-96C9-584CCFD4DC48}"/>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no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layout>
        <c:manualLayout>
          <c:xMode val="edge"/>
          <c:yMode val="edge"/>
          <c:x val="0.12374252713622315"/>
          <c:y val="0.88978230506985057"/>
          <c:w val="0.69745253855848544"/>
          <c:h val="7.2954132787591747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Corp/HY</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15"/>
          <c:order val="0"/>
          <c:tx>
            <c:v>Corp/HY Historical Avg Discount</c:v>
          </c:tx>
          <c:spPr>
            <a:solidFill>
              <a:srgbClr val="CAAA79"/>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[0]!CorpHist</c:f>
              <c:numCache>
                <c:formatCode>0.00%</c:formatCode>
                <c:ptCount val="68"/>
                <c:pt idx="0">
                  <c:v>-4.875624420422052</c:v>
                </c:pt>
                <c:pt idx="1">
                  <c:v>-4.875624420422052</c:v>
                </c:pt>
                <c:pt idx="2">
                  <c:v>-4.875624420422052</c:v>
                </c:pt>
                <c:pt idx="3">
                  <c:v>-4.875624420422052</c:v>
                </c:pt>
                <c:pt idx="4">
                  <c:v>-4.875624420422052</c:v>
                </c:pt>
                <c:pt idx="5">
                  <c:v>-4.875624420422052</c:v>
                </c:pt>
                <c:pt idx="6">
                  <c:v>-4.875624420422052</c:v>
                </c:pt>
                <c:pt idx="7">
                  <c:v>-4.875624420422052</c:v>
                </c:pt>
                <c:pt idx="8">
                  <c:v>-4.875624420422052</c:v>
                </c:pt>
                <c:pt idx="9">
                  <c:v>-4.875624420422052</c:v>
                </c:pt>
                <c:pt idx="10">
                  <c:v>-4.875624420422052</c:v>
                </c:pt>
                <c:pt idx="11">
                  <c:v>-4.875624420422052</c:v>
                </c:pt>
                <c:pt idx="12">
                  <c:v>-4.875624420422052</c:v>
                </c:pt>
                <c:pt idx="13">
                  <c:v>-4.875624420422052</c:v>
                </c:pt>
                <c:pt idx="14">
                  <c:v>-4.875624420422052</c:v>
                </c:pt>
                <c:pt idx="15">
                  <c:v>-4.875624420422052</c:v>
                </c:pt>
                <c:pt idx="16">
                  <c:v>-4.875624420422052</c:v>
                </c:pt>
                <c:pt idx="17">
                  <c:v>-4.875624420422052</c:v>
                </c:pt>
                <c:pt idx="18">
                  <c:v>-4.875624420422052</c:v>
                </c:pt>
                <c:pt idx="19">
                  <c:v>-4.875624420422052</c:v>
                </c:pt>
                <c:pt idx="20">
                  <c:v>-4.875624420422052</c:v>
                </c:pt>
                <c:pt idx="21">
                  <c:v>-4.875624420422052</c:v>
                </c:pt>
                <c:pt idx="22">
                  <c:v>-4.875624420422052</c:v>
                </c:pt>
                <c:pt idx="23">
                  <c:v>-4.875624420422052</c:v>
                </c:pt>
                <c:pt idx="24">
                  <c:v>-4.875624420422052</c:v>
                </c:pt>
                <c:pt idx="25">
                  <c:v>-4.875624420422052</c:v>
                </c:pt>
                <c:pt idx="26">
                  <c:v>-4.875624420422052</c:v>
                </c:pt>
                <c:pt idx="27">
                  <c:v>-4.875624420422052</c:v>
                </c:pt>
                <c:pt idx="28">
                  <c:v>-4.875624420422052</c:v>
                </c:pt>
                <c:pt idx="29">
                  <c:v>-4.875624420422052</c:v>
                </c:pt>
                <c:pt idx="30">
                  <c:v>-4.875624420422052</c:v>
                </c:pt>
                <c:pt idx="31">
                  <c:v>-4.875624420422052</c:v>
                </c:pt>
                <c:pt idx="32">
                  <c:v>-4.875624420422052</c:v>
                </c:pt>
                <c:pt idx="33">
                  <c:v>-4.875624420422052</c:v>
                </c:pt>
                <c:pt idx="34">
                  <c:v>-4.875624420422052</c:v>
                </c:pt>
                <c:pt idx="35">
                  <c:v>-4.875624420422052</c:v>
                </c:pt>
                <c:pt idx="36">
                  <c:v>-4.875624420422052</c:v>
                </c:pt>
                <c:pt idx="37">
                  <c:v>-4.875624420422052</c:v>
                </c:pt>
                <c:pt idx="38">
                  <c:v>-4.875624420422052</c:v>
                </c:pt>
                <c:pt idx="39">
                  <c:v>-4.875624420422052</c:v>
                </c:pt>
                <c:pt idx="40">
                  <c:v>-4.875624420422052</c:v>
                </c:pt>
                <c:pt idx="41">
                  <c:v>-4.875624420422052</c:v>
                </c:pt>
                <c:pt idx="42">
                  <c:v>-4.875624420422052</c:v>
                </c:pt>
                <c:pt idx="43">
                  <c:v>-4.875624420422052</c:v>
                </c:pt>
                <c:pt idx="44">
                  <c:v>-4.875624420422052</c:v>
                </c:pt>
                <c:pt idx="45">
                  <c:v>-4.875624420422052</c:v>
                </c:pt>
                <c:pt idx="46">
                  <c:v>-4.875624420422052</c:v>
                </c:pt>
                <c:pt idx="47">
                  <c:v>-4.875624420422052</c:v>
                </c:pt>
                <c:pt idx="48">
                  <c:v>-4.875624420422052</c:v>
                </c:pt>
                <c:pt idx="49">
                  <c:v>-4.875624420422052</c:v>
                </c:pt>
                <c:pt idx="50">
                  <c:v>-4.875624420422052</c:v>
                </c:pt>
                <c:pt idx="51">
                  <c:v>-4.875624420422052</c:v>
                </c:pt>
                <c:pt idx="52">
                  <c:v>-4.875624420422052</c:v>
                </c:pt>
                <c:pt idx="53">
                  <c:v>-4.875624420422052</c:v>
                </c:pt>
                <c:pt idx="54">
                  <c:v>-4.875624420422052</c:v>
                </c:pt>
                <c:pt idx="55">
                  <c:v>-4.875624420422052</c:v>
                </c:pt>
                <c:pt idx="56">
                  <c:v>-4.875624420422052</c:v>
                </c:pt>
                <c:pt idx="57">
                  <c:v>-4.875624420422052</c:v>
                </c:pt>
                <c:pt idx="58">
                  <c:v>-4.875624420422052</c:v>
                </c:pt>
                <c:pt idx="59">
                  <c:v>-4.875624420422052</c:v>
                </c:pt>
                <c:pt idx="60">
                  <c:v>-4.875624420422052</c:v>
                </c:pt>
                <c:pt idx="61">
                  <c:v>-4.875624420422052</c:v>
                </c:pt>
                <c:pt idx="62">
                  <c:v>-4.875624420422052</c:v>
                </c:pt>
                <c:pt idx="63">
                  <c:v>-4.875624420422052</c:v>
                </c:pt>
                <c:pt idx="64">
                  <c:v>-4.875624420422052</c:v>
                </c:pt>
                <c:pt idx="65">
                  <c:v>-4.875624420422052</c:v>
                </c:pt>
                <c:pt idx="66">
                  <c:v>-4.875624420422052</c:v>
                </c:pt>
                <c:pt idx="67">
                  <c:v>-4.875624420422052</c:v>
                </c:pt>
              </c:numCache>
            </c:numRef>
          </c:val>
          <c:extLst>
            <c:ext xmlns:c16="http://schemas.microsoft.com/office/drawing/2014/chart" uri="{C3380CC4-5D6E-409C-BE32-E72D297353CC}">
              <c16:uniqueId val="{00000000-D701-4F88-A3CD-79CF6EF7B267}"/>
            </c:ext>
          </c:extLst>
        </c:ser>
        <c:ser>
          <c:idx val="2"/>
          <c:order val="1"/>
          <c:tx>
            <c:v>Corp/HY Current Avg Discount</c:v>
          </c:tx>
          <c:spPr>
            <a:solidFill>
              <a:srgbClr val="63666B"/>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[0]!CorpAvg</c:f>
              <c:numCache>
                <c:formatCode>0.00%</c:formatCode>
                <c:ptCount val="68"/>
                <c:pt idx="0">
                  <c:v>-2.0841862959100617</c:v>
                </c:pt>
                <c:pt idx="1">
                  <c:v>-2.0137761267447054</c:v>
                </c:pt>
                <c:pt idx="2">
                  <c:v>-2.272107719522955</c:v>
                </c:pt>
                <c:pt idx="3">
                  <c:v>-2.8307423547850257</c:v>
                </c:pt>
                <c:pt idx="4">
                  <c:v>-3.628182120092565</c:v>
                </c:pt>
                <c:pt idx="5">
                  <c:v>-4.576639975820399</c:v>
                </c:pt>
                <c:pt idx="6">
                  <c:v>-5.571703888626456</c:v>
                </c:pt>
                <c:pt idx="7">
                  <c:v>-6.503831145765034</c:v>
                </c:pt>
                <c:pt idx="8">
                  <c:v>-7.270407485923784</c:v>
                </c:pt>
                <c:pt idx="9">
                  <c:v>-7.787043503812287</c:v>
                </c:pt>
                <c:pt idx="10">
                  <c:v>-7.996864751293785</c:v>
                </c:pt>
                <c:pt idx="11">
                  <c:v>-7.876772823989415</c:v>
                </c:pt>
                <c:pt idx="12">
                  <c:v>-2.0841862959100617</c:v>
                </c:pt>
                <c:pt idx="13">
                  <c:v>-2.0137761267447054</c:v>
                </c:pt>
                <c:pt idx="14">
                  <c:v>-2.272107719522955</c:v>
                </c:pt>
                <c:pt idx="15">
                  <c:v>-2.8307423547850257</c:v>
                </c:pt>
                <c:pt idx="16">
                  <c:v>-3.628182120092565</c:v>
                </c:pt>
                <c:pt idx="17">
                  <c:v>-4.576639975820399</c:v>
                </c:pt>
                <c:pt idx="18">
                  <c:v>-5.571703888626456</c:v>
                </c:pt>
                <c:pt idx="19">
                  <c:v>-6.503831145765034</c:v>
                </c:pt>
                <c:pt idx="20">
                  <c:v>-7.270407485923784</c:v>
                </c:pt>
                <c:pt idx="21">
                  <c:v>-7.787043503812287</c:v>
                </c:pt>
                <c:pt idx="22">
                  <c:v>-7.996864751293785</c:v>
                </c:pt>
                <c:pt idx="23">
                  <c:v>-7.876772823989415</c:v>
                </c:pt>
                <c:pt idx="24">
                  <c:v>-2.0841862959100617</c:v>
                </c:pt>
                <c:pt idx="25">
                  <c:v>-2.0137761267447054</c:v>
                </c:pt>
                <c:pt idx="26">
                  <c:v>-2.272107719522955</c:v>
                </c:pt>
                <c:pt idx="27">
                  <c:v>-2.8307423547850257</c:v>
                </c:pt>
                <c:pt idx="28">
                  <c:v>-3.628182120092565</c:v>
                </c:pt>
                <c:pt idx="29">
                  <c:v>-4.576639975820399</c:v>
                </c:pt>
                <c:pt idx="30">
                  <c:v>-5.571703888626456</c:v>
                </c:pt>
                <c:pt idx="31">
                  <c:v>-6.503831145765034</c:v>
                </c:pt>
                <c:pt idx="32">
                  <c:v>-7.270407485923784</c:v>
                </c:pt>
                <c:pt idx="33">
                  <c:v>-7.787043503812287</c:v>
                </c:pt>
                <c:pt idx="34">
                  <c:v>-7.996864751293785</c:v>
                </c:pt>
                <c:pt idx="35">
                  <c:v>-7.876772823989415</c:v>
                </c:pt>
                <c:pt idx="36">
                  <c:v>-2.0841862959100617</c:v>
                </c:pt>
                <c:pt idx="37">
                  <c:v>-2.0137761267447054</c:v>
                </c:pt>
                <c:pt idx="38">
                  <c:v>-2.272107719522955</c:v>
                </c:pt>
                <c:pt idx="39">
                  <c:v>-2.8307423547850257</c:v>
                </c:pt>
                <c:pt idx="40">
                  <c:v>-3.628182120092565</c:v>
                </c:pt>
                <c:pt idx="41">
                  <c:v>-4.576639975820399</c:v>
                </c:pt>
                <c:pt idx="42">
                  <c:v>-5.571703888626456</c:v>
                </c:pt>
                <c:pt idx="43">
                  <c:v>-6.503831145765034</c:v>
                </c:pt>
                <c:pt idx="44">
                  <c:v>-7.270407485923784</c:v>
                </c:pt>
                <c:pt idx="45">
                  <c:v>-7.787043503812287</c:v>
                </c:pt>
                <c:pt idx="46">
                  <c:v>-7.996864751293785</c:v>
                </c:pt>
                <c:pt idx="47">
                  <c:v>-7.876772823989415</c:v>
                </c:pt>
                <c:pt idx="48">
                  <c:v>-2.0841862959100617</c:v>
                </c:pt>
                <c:pt idx="49">
                  <c:v>-2.0137761267447054</c:v>
                </c:pt>
                <c:pt idx="50">
                  <c:v>-2.272107719522955</c:v>
                </c:pt>
                <c:pt idx="51">
                  <c:v>-2.8307423547850257</c:v>
                </c:pt>
                <c:pt idx="52">
                  <c:v>-3.628182120092565</c:v>
                </c:pt>
                <c:pt idx="53">
                  <c:v>-4.576639975820399</c:v>
                </c:pt>
                <c:pt idx="54">
                  <c:v>-5.571703888626456</c:v>
                </c:pt>
                <c:pt idx="55">
                  <c:v>-6.503831145765034</c:v>
                </c:pt>
                <c:pt idx="56">
                  <c:v>-7.270407485923784</c:v>
                </c:pt>
                <c:pt idx="57">
                  <c:v>-7.787043503812287</c:v>
                </c:pt>
                <c:pt idx="58">
                  <c:v>-7.996864751293785</c:v>
                </c:pt>
                <c:pt idx="59">
                  <c:v>-7.876772823989415</c:v>
                </c:pt>
                <c:pt idx="60">
                  <c:v>-2.0841862959100617</c:v>
                </c:pt>
                <c:pt idx="61">
                  <c:v>-2.0137761267447054</c:v>
                </c:pt>
                <c:pt idx="62">
                  <c:v>-2.272107719522955</c:v>
                </c:pt>
                <c:pt idx="63">
                  <c:v>-2.8307423547850257</c:v>
                </c:pt>
                <c:pt idx="64">
                  <c:v>-3.628182120092565</c:v>
                </c:pt>
                <c:pt idx="65">
                  <c:v>-4.576639975820399</c:v>
                </c:pt>
                <c:pt idx="66">
                  <c:v>-5.571703888626456</c:v>
                </c:pt>
                <c:pt idx="67">
                  <c:v>-6.503831145765034</c:v>
                </c:pt>
              </c:numCache>
            </c:numRef>
          </c:val>
          <c:extLst>
            <c:ext xmlns:c16="http://schemas.microsoft.com/office/drawing/2014/chart" uri="{C3380CC4-5D6E-409C-BE32-E72D297353CC}">
              <c16:uniqueId val="{00000001-D701-4F88-A3CD-79CF6EF7B267}"/>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no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Preferreds</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0"/>
          <c:order val="0"/>
          <c:tx>
            <c:v>Preffered Historical Avg Discount</c:v>
          </c:tx>
          <c:spPr>
            <a:solidFill>
              <a:srgbClr val="CAAA79"/>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[0]!PrefHist</c:f>
              <c:numCache>
                <c:formatCode>0.00%</c:formatCode>
                <c:ptCount val="68"/>
                <c:pt idx="0">
                  <c:v>-6.12412503601949</c:v>
                </c:pt>
                <c:pt idx="1">
                  <c:v>-6.12412503601949</c:v>
                </c:pt>
                <c:pt idx="2">
                  <c:v>-6.12412503601949</c:v>
                </c:pt>
                <c:pt idx="3">
                  <c:v>-6.12412503601949</c:v>
                </c:pt>
                <c:pt idx="4">
                  <c:v>-6.12412503601949</c:v>
                </c:pt>
                <c:pt idx="5">
                  <c:v>-6.12412503601949</c:v>
                </c:pt>
                <c:pt idx="6">
                  <c:v>-6.12412503601949</c:v>
                </c:pt>
                <c:pt idx="7">
                  <c:v>-6.12412503601949</c:v>
                </c:pt>
                <c:pt idx="8">
                  <c:v>-6.12412503601949</c:v>
                </c:pt>
                <c:pt idx="9">
                  <c:v>-6.12412503601949</c:v>
                </c:pt>
                <c:pt idx="10">
                  <c:v>-6.12412503601949</c:v>
                </c:pt>
                <c:pt idx="11">
                  <c:v>-6.12412503601949</c:v>
                </c:pt>
                <c:pt idx="12">
                  <c:v>-6.12412503601949</c:v>
                </c:pt>
                <c:pt idx="13">
                  <c:v>-6.12412503601949</c:v>
                </c:pt>
                <c:pt idx="14">
                  <c:v>-6.12412503601949</c:v>
                </c:pt>
                <c:pt idx="15">
                  <c:v>-6.12412503601949</c:v>
                </c:pt>
                <c:pt idx="16">
                  <c:v>-6.12412503601949</c:v>
                </c:pt>
                <c:pt idx="17">
                  <c:v>-6.12412503601949</c:v>
                </c:pt>
                <c:pt idx="18">
                  <c:v>-6.12412503601949</c:v>
                </c:pt>
                <c:pt idx="19">
                  <c:v>-6.12412503601949</c:v>
                </c:pt>
                <c:pt idx="20">
                  <c:v>-6.12412503601949</c:v>
                </c:pt>
                <c:pt idx="21">
                  <c:v>-6.12412503601949</c:v>
                </c:pt>
                <c:pt idx="22">
                  <c:v>-6.12412503601949</c:v>
                </c:pt>
                <c:pt idx="23">
                  <c:v>-6.12412503601949</c:v>
                </c:pt>
                <c:pt idx="24">
                  <c:v>-6.12412503601949</c:v>
                </c:pt>
                <c:pt idx="25">
                  <c:v>-6.12412503601949</c:v>
                </c:pt>
                <c:pt idx="26">
                  <c:v>-6.12412503601949</c:v>
                </c:pt>
                <c:pt idx="27">
                  <c:v>-6.12412503601949</c:v>
                </c:pt>
                <c:pt idx="28">
                  <c:v>-6.12412503601949</c:v>
                </c:pt>
                <c:pt idx="29">
                  <c:v>-6.12412503601949</c:v>
                </c:pt>
                <c:pt idx="30">
                  <c:v>-6.12412503601949</c:v>
                </c:pt>
                <c:pt idx="31">
                  <c:v>-6.12412503601949</c:v>
                </c:pt>
                <c:pt idx="32">
                  <c:v>-6.12412503601949</c:v>
                </c:pt>
                <c:pt idx="33">
                  <c:v>-6.12412503601949</c:v>
                </c:pt>
                <c:pt idx="34">
                  <c:v>-6.12412503601949</c:v>
                </c:pt>
                <c:pt idx="35">
                  <c:v>-6.12412503601949</c:v>
                </c:pt>
                <c:pt idx="36">
                  <c:v>-6.12412503601949</c:v>
                </c:pt>
                <c:pt idx="37">
                  <c:v>-6.12412503601949</c:v>
                </c:pt>
                <c:pt idx="38">
                  <c:v>-6.12412503601949</c:v>
                </c:pt>
                <c:pt idx="39">
                  <c:v>-6.12412503601949</c:v>
                </c:pt>
                <c:pt idx="40">
                  <c:v>-6.12412503601949</c:v>
                </c:pt>
                <c:pt idx="41">
                  <c:v>-6.12412503601949</c:v>
                </c:pt>
                <c:pt idx="42">
                  <c:v>-6.12412503601949</c:v>
                </c:pt>
                <c:pt idx="43">
                  <c:v>-6.12412503601949</c:v>
                </c:pt>
                <c:pt idx="44">
                  <c:v>-6.12412503601949</c:v>
                </c:pt>
                <c:pt idx="45">
                  <c:v>-6.12412503601949</c:v>
                </c:pt>
                <c:pt idx="46">
                  <c:v>-6.12412503601949</c:v>
                </c:pt>
                <c:pt idx="47">
                  <c:v>-6.12412503601949</c:v>
                </c:pt>
                <c:pt idx="48">
                  <c:v>-6.12412503601949</c:v>
                </c:pt>
                <c:pt idx="49">
                  <c:v>-6.12412503601949</c:v>
                </c:pt>
                <c:pt idx="50">
                  <c:v>-6.12412503601949</c:v>
                </c:pt>
                <c:pt idx="51">
                  <c:v>-6.12412503601949</c:v>
                </c:pt>
                <c:pt idx="52">
                  <c:v>-6.12412503601949</c:v>
                </c:pt>
                <c:pt idx="53">
                  <c:v>-6.12412503601949</c:v>
                </c:pt>
                <c:pt idx="54">
                  <c:v>-6.12412503601949</c:v>
                </c:pt>
                <c:pt idx="55">
                  <c:v>-6.12412503601949</c:v>
                </c:pt>
                <c:pt idx="56">
                  <c:v>-6.12412503601949</c:v>
                </c:pt>
                <c:pt idx="57">
                  <c:v>-6.12412503601949</c:v>
                </c:pt>
                <c:pt idx="58">
                  <c:v>-6.12412503601949</c:v>
                </c:pt>
                <c:pt idx="59">
                  <c:v>-6.12412503601949</c:v>
                </c:pt>
                <c:pt idx="60">
                  <c:v>-6.12412503601949</c:v>
                </c:pt>
                <c:pt idx="61">
                  <c:v>-6.12412503601949</c:v>
                </c:pt>
                <c:pt idx="62">
                  <c:v>-6.12412503601949</c:v>
                </c:pt>
                <c:pt idx="63">
                  <c:v>-6.12412503601949</c:v>
                </c:pt>
                <c:pt idx="64">
                  <c:v>-6.12412503601949</c:v>
                </c:pt>
                <c:pt idx="65">
                  <c:v>-6.12412503601949</c:v>
                </c:pt>
                <c:pt idx="66">
                  <c:v>-6.12412503601949</c:v>
                </c:pt>
                <c:pt idx="67">
                  <c:v>-6.12412503601949</c:v>
                </c:pt>
              </c:numCache>
            </c:numRef>
          </c:val>
          <c:extLst>
            <c:ext xmlns:c16="http://schemas.microsoft.com/office/drawing/2014/chart" uri="{C3380CC4-5D6E-409C-BE32-E72D297353CC}">
              <c16:uniqueId val="{00000000-17FD-43B8-91EF-F28F50D8D9EB}"/>
            </c:ext>
          </c:extLst>
        </c:ser>
        <c:ser>
          <c:idx val="1"/>
          <c:order val="1"/>
          <c:tx>
            <c:v>Preffered Current Avg Discount</c:v>
          </c:tx>
          <c:spPr>
            <a:solidFill>
              <a:srgbClr val="63666B"/>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[0]!PrefAvg</c:f>
              <c:numCache>
                <c:formatCode>0.00%</c:formatCode>
                <c:ptCount val="68"/>
                <c:pt idx="0">
                  <c:v>-2.830742354785026</c:v>
                </c:pt>
                <c:pt idx="1">
                  <c:v>-3.628182120092564</c:v>
                </c:pt>
                <c:pt idx="2">
                  <c:v>-4.576639975820399</c:v>
                </c:pt>
                <c:pt idx="3">
                  <c:v>-5.5717038886264545</c:v>
                </c:pt>
                <c:pt idx="4">
                  <c:v>-6.5038311457650355</c:v>
                </c:pt>
                <c:pt idx="5">
                  <c:v>-7.270407485923784</c:v>
                </c:pt>
                <c:pt idx="6">
                  <c:v>-7.787043503812287</c:v>
                </c:pt>
                <c:pt idx="7">
                  <c:v>-7.996864751293785</c:v>
                </c:pt>
                <c:pt idx="8">
                  <c:v>-7.876772823989415</c:v>
                </c:pt>
                <c:pt idx="9">
                  <c:v>-7.439988174702739</c:v>
                </c:pt>
                <c:pt idx="10">
                  <c:v>-6.734594725232929</c:v>
                </c:pt>
                <c:pt idx="11">
                  <c:v>-5.838246494596778</c:v>
                </c:pt>
                <c:pt idx="12">
                  <c:v>-2.830742354785026</c:v>
                </c:pt>
                <c:pt idx="13">
                  <c:v>-3.628182120092564</c:v>
                </c:pt>
                <c:pt idx="14">
                  <c:v>-4.576639975820399</c:v>
                </c:pt>
                <c:pt idx="15">
                  <c:v>-5.5717038886264545</c:v>
                </c:pt>
                <c:pt idx="16">
                  <c:v>-6.5038311457650355</c:v>
                </c:pt>
                <c:pt idx="17">
                  <c:v>-7.270407485923784</c:v>
                </c:pt>
                <c:pt idx="18">
                  <c:v>-7.787043503812287</c:v>
                </c:pt>
                <c:pt idx="19">
                  <c:v>-7.996864751293785</c:v>
                </c:pt>
                <c:pt idx="20">
                  <c:v>-7.876772823989415</c:v>
                </c:pt>
                <c:pt idx="21">
                  <c:v>-7.439988174702739</c:v>
                </c:pt>
                <c:pt idx="22">
                  <c:v>-6.734594725232929</c:v>
                </c:pt>
                <c:pt idx="23">
                  <c:v>-5.838246494596778</c:v>
                </c:pt>
                <c:pt idx="24">
                  <c:v>-2.830742354785026</c:v>
                </c:pt>
                <c:pt idx="25">
                  <c:v>-3.628182120092564</c:v>
                </c:pt>
                <c:pt idx="26">
                  <c:v>-4.576639975820399</c:v>
                </c:pt>
                <c:pt idx="27">
                  <c:v>-5.5717038886264545</c:v>
                </c:pt>
                <c:pt idx="28">
                  <c:v>-6.5038311457650355</c:v>
                </c:pt>
                <c:pt idx="29">
                  <c:v>-7.270407485923784</c:v>
                </c:pt>
                <c:pt idx="30">
                  <c:v>-7.787043503812287</c:v>
                </c:pt>
                <c:pt idx="31">
                  <c:v>-7.996864751293785</c:v>
                </c:pt>
                <c:pt idx="32">
                  <c:v>-7.876772823989415</c:v>
                </c:pt>
                <c:pt idx="33">
                  <c:v>-7.439988174702739</c:v>
                </c:pt>
                <c:pt idx="34">
                  <c:v>-6.734594725232929</c:v>
                </c:pt>
                <c:pt idx="35">
                  <c:v>-5.838246494596778</c:v>
                </c:pt>
                <c:pt idx="36">
                  <c:v>-2.830742354785026</c:v>
                </c:pt>
                <c:pt idx="37">
                  <c:v>-3.628182120092564</c:v>
                </c:pt>
                <c:pt idx="38">
                  <c:v>-4.576639975820399</c:v>
                </c:pt>
                <c:pt idx="39">
                  <c:v>-5.5717038886264545</c:v>
                </c:pt>
                <c:pt idx="40">
                  <c:v>-6.5038311457650355</c:v>
                </c:pt>
                <c:pt idx="41">
                  <c:v>-7.270407485923784</c:v>
                </c:pt>
                <c:pt idx="42">
                  <c:v>-7.787043503812287</c:v>
                </c:pt>
                <c:pt idx="43">
                  <c:v>-7.996864751293785</c:v>
                </c:pt>
                <c:pt idx="44">
                  <c:v>-7.876772823989415</c:v>
                </c:pt>
                <c:pt idx="45">
                  <c:v>-7.439988174702739</c:v>
                </c:pt>
                <c:pt idx="46">
                  <c:v>-6.734594725232929</c:v>
                </c:pt>
                <c:pt idx="47">
                  <c:v>-5.838246494596778</c:v>
                </c:pt>
                <c:pt idx="48">
                  <c:v>-2.830742354785026</c:v>
                </c:pt>
                <c:pt idx="49">
                  <c:v>-3.628182120092564</c:v>
                </c:pt>
                <c:pt idx="50">
                  <c:v>-4.576639975820399</c:v>
                </c:pt>
                <c:pt idx="51">
                  <c:v>-5.5717038886264545</c:v>
                </c:pt>
                <c:pt idx="52">
                  <c:v>-6.5038311457650355</c:v>
                </c:pt>
                <c:pt idx="53">
                  <c:v>-7.270407485923784</c:v>
                </c:pt>
                <c:pt idx="54">
                  <c:v>-7.787043503812287</c:v>
                </c:pt>
                <c:pt idx="55">
                  <c:v>-7.996864751293785</c:v>
                </c:pt>
                <c:pt idx="56">
                  <c:v>-7.876772823989415</c:v>
                </c:pt>
                <c:pt idx="57">
                  <c:v>-7.439988174702739</c:v>
                </c:pt>
                <c:pt idx="58">
                  <c:v>-6.734594725232929</c:v>
                </c:pt>
                <c:pt idx="59">
                  <c:v>-5.838246494596778</c:v>
                </c:pt>
                <c:pt idx="60">
                  <c:v>-2.830742354785026</c:v>
                </c:pt>
                <c:pt idx="61">
                  <c:v>-3.628182120092564</c:v>
                </c:pt>
                <c:pt idx="62">
                  <c:v>-4.576639975820399</c:v>
                </c:pt>
                <c:pt idx="63">
                  <c:v>-5.5717038886264545</c:v>
                </c:pt>
                <c:pt idx="64">
                  <c:v>-6.5038311457650355</c:v>
                </c:pt>
                <c:pt idx="65">
                  <c:v>-7.270407485923784</c:v>
                </c:pt>
                <c:pt idx="66">
                  <c:v>-7.787043503812287</c:v>
                </c:pt>
                <c:pt idx="67">
                  <c:v>-7.996864751293785</c:v>
                </c:pt>
              </c:numCache>
            </c:numRef>
          </c:val>
          <c:extLst>
            <c:ext xmlns:c16="http://schemas.microsoft.com/office/drawing/2014/chart" uri="{C3380CC4-5D6E-409C-BE32-E72D297353CC}">
              <c16:uniqueId val="{00000001-17FD-43B8-91EF-F28F50D8D9EB}"/>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no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Floating Rate</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0"/>
          <c:order val="0"/>
          <c:tx>
            <c:v>Floating Rate Historical Avg Discount</c:v>
          </c:tx>
          <c:spPr>
            <a:solidFill>
              <a:srgbClr val="CAAA79"/>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[0]!FloatHist</c:f>
              <c:numCache>
                <c:formatCode>0.00%</c:formatCode>
                <c:ptCount val="68"/>
                <c:pt idx="0">
                  <c:v>-6.339110277668819</c:v>
                </c:pt>
                <c:pt idx="1">
                  <c:v>-6.339110277668819</c:v>
                </c:pt>
                <c:pt idx="2">
                  <c:v>-6.339110277668819</c:v>
                </c:pt>
                <c:pt idx="3">
                  <c:v>-6.339110277668819</c:v>
                </c:pt>
                <c:pt idx="4">
                  <c:v>-6.339110277668819</c:v>
                </c:pt>
                <c:pt idx="5">
                  <c:v>-6.339110277668819</c:v>
                </c:pt>
                <c:pt idx="6">
                  <c:v>-6.339110277668819</c:v>
                </c:pt>
                <c:pt idx="7">
                  <c:v>-6.339110277668819</c:v>
                </c:pt>
                <c:pt idx="8">
                  <c:v>-6.339110277668819</c:v>
                </c:pt>
                <c:pt idx="9">
                  <c:v>-6.339110277668819</c:v>
                </c:pt>
                <c:pt idx="10">
                  <c:v>-6.339110277668819</c:v>
                </c:pt>
                <c:pt idx="11">
                  <c:v>-6.339110277668819</c:v>
                </c:pt>
                <c:pt idx="12">
                  <c:v>-6.339110277668819</c:v>
                </c:pt>
                <c:pt idx="13">
                  <c:v>-6.339110277668819</c:v>
                </c:pt>
                <c:pt idx="14">
                  <c:v>-6.339110277668819</c:v>
                </c:pt>
                <c:pt idx="15">
                  <c:v>-6.339110277668819</c:v>
                </c:pt>
                <c:pt idx="16">
                  <c:v>-6.339110277668819</c:v>
                </c:pt>
                <c:pt idx="17">
                  <c:v>-6.339110277668819</c:v>
                </c:pt>
                <c:pt idx="18">
                  <c:v>-6.339110277668819</c:v>
                </c:pt>
                <c:pt idx="19">
                  <c:v>-6.339110277668819</c:v>
                </c:pt>
                <c:pt idx="20">
                  <c:v>-6.339110277668819</c:v>
                </c:pt>
                <c:pt idx="21">
                  <c:v>-6.339110277668819</c:v>
                </c:pt>
                <c:pt idx="22">
                  <c:v>-6.339110277668819</c:v>
                </c:pt>
                <c:pt idx="23">
                  <c:v>-6.339110277668819</c:v>
                </c:pt>
                <c:pt idx="24">
                  <c:v>-6.339110277668819</c:v>
                </c:pt>
                <c:pt idx="25">
                  <c:v>-6.339110277668819</c:v>
                </c:pt>
                <c:pt idx="26">
                  <c:v>-6.339110277668819</c:v>
                </c:pt>
                <c:pt idx="27">
                  <c:v>-6.339110277668819</c:v>
                </c:pt>
                <c:pt idx="28">
                  <c:v>-6.339110277668819</c:v>
                </c:pt>
                <c:pt idx="29">
                  <c:v>-6.339110277668819</c:v>
                </c:pt>
                <c:pt idx="30">
                  <c:v>-6.339110277668819</c:v>
                </c:pt>
                <c:pt idx="31">
                  <c:v>-6.339110277668819</c:v>
                </c:pt>
                <c:pt idx="32">
                  <c:v>-6.339110277668819</c:v>
                </c:pt>
                <c:pt idx="33">
                  <c:v>-6.339110277668819</c:v>
                </c:pt>
                <c:pt idx="34">
                  <c:v>-6.339110277668819</c:v>
                </c:pt>
                <c:pt idx="35">
                  <c:v>-6.339110277668819</c:v>
                </c:pt>
                <c:pt idx="36">
                  <c:v>-6.339110277668819</c:v>
                </c:pt>
                <c:pt idx="37">
                  <c:v>-6.339110277668819</c:v>
                </c:pt>
                <c:pt idx="38">
                  <c:v>-6.339110277668819</c:v>
                </c:pt>
                <c:pt idx="39">
                  <c:v>-6.339110277668819</c:v>
                </c:pt>
                <c:pt idx="40">
                  <c:v>-6.339110277668819</c:v>
                </c:pt>
                <c:pt idx="41">
                  <c:v>-6.339110277668819</c:v>
                </c:pt>
                <c:pt idx="42">
                  <c:v>-6.339110277668819</c:v>
                </c:pt>
                <c:pt idx="43">
                  <c:v>-6.339110277668819</c:v>
                </c:pt>
                <c:pt idx="44">
                  <c:v>-6.339110277668819</c:v>
                </c:pt>
                <c:pt idx="45">
                  <c:v>-6.339110277668819</c:v>
                </c:pt>
                <c:pt idx="46">
                  <c:v>-6.339110277668819</c:v>
                </c:pt>
                <c:pt idx="47">
                  <c:v>-6.339110277668819</c:v>
                </c:pt>
                <c:pt idx="48">
                  <c:v>-6.339110277668819</c:v>
                </c:pt>
                <c:pt idx="49">
                  <c:v>-6.339110277668819</c:v>
                </c:pt>
                <c:pt idx="50">
                  <c:v>-6.339110277668819</c:v>
                </c:pt>
                <c:pt idx="51">
                  <c:v>-6.339110277668819</c:v>
                </c:pt>
                <c:pt idx="52">
                  <c:v>-6.339110277668819</c:v>
                </c:pt>
                <c:pt idx="53">
                  <c:v>-6.339110277668819</c:v>
                </c:pt>
                <c:pt idx="54">
                  <c:v>-6.339110277668819</c:v>
                </c:pt>
                <c:pt idx="55">
                  <c:v>-6.339110277668819</c:v>
                </c:pt>
                <c:pt idx="56">
                  <c:v>-6.339110277668819</c:v>
                </c:pt>
                <c:pt idx="57">
                  <c:v>-6.339110277668819</c:v>
                </c:pt>
                <c:pt idx="58">
                  <c:v>-6.339110277668819</c:v>
                </c:pt>
                <c:pt idx="59">
                  <c:v>-6.339110277668819</c:v>
                </c:pt>
                <c:pt idx="60">
                  <c:v>-6.339110277668819</c:v>
                </c:pt>
                <c:pt idx="61">
                  <c:v>-6.339110277668819</c:v>
                </c:pt>
                <c:pt idx="62">
                  <c:v>-6.339110277668819</c:v>
                </c:pt>
                <c:pt idx="63">
                  <c:v>-6.339110277668819</c:v>
                </c:pt>
                <c:pt idx="64">
                  <c:v>-6.339110277668819</c:v>
                </c:pt>
                <c:pt idx="65">
                  <c:v>-6.339110277668819</c:v>
                </c:pt>
                <c:pt idx="66">
                  <c:v>-6.339110277668819</c:v>
                </c:pt>
                <c:pt idx="67">
                  <c:v>-6.339110277668819</c:v>
                </c:pt>
              </c:numCache>
            </c:numRef>
          </c:val>
          <c:extLst>
            <c:ext xmlns:c16="http://schemas.microsoft.com/office/drawing/2014/chart" uri="{C3380CC4-5D6E-409C-BE32-E72D297353CC}">
              <c16:uniqueId val="{00000000-801D-4D7B-9343-810EB904DDD8}"/>
            </c:ext>
          </c:extLst>
        </c:ser>
        <c:ser>
          <c:idx val="1"/>
          <c:order val="1"/>
          <c:tx>
            <c:v>Floating Rate Current Avg Discount</c:v>
          </c:tx>
          <c:spPr>
            <a:solidFill>
              <a:srgbClr val="63666B"/>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[0]!FloatAvg</c:f>
              <c:numCache>
                <c:formatCode>0.00%</c:formatCode>
                <c:ptCount val="68"/>
                <c:pt idx="0">
                  <c:v>-5.571703888626456</c:v>
                </c:pt>
                <c:pt idx="1">
                  <c:v>-6.503831145765034</c:v>
                </c:pt>
                <c:pt idx="2">
                  <c:v>-7.270407485923784</c:v>
                </c:pt>
                <c:pt idx="3">
                  <c:v>-7.787043503812286</c:v>
                </c:pt>
                <c:pt idx="4">
                  <c:v>-7.996864751293785</c:v>
                </c:pt>
                <c:pt idx="5">
                  <c:v>-7.876772823989415</c:v>
                </c:pt>
                <c:pt idx="6">
                  <c:v>-7.439988174702739</c:v>
                </c:pt>
                <c:pt idx="7">
                  <c:v>-6.734594725232929</c:v>
                </c:pt>
                <c:pt idx="8">
                  <c:v>-5.838246494596778</c:v>
                </c:pt>
                <c:pt idx="9">
                  <c:v>-4.849618970353479</c:v>
                </c:pt>
                <c:pt idx="10">
                  <c:v>-3.877546308286343</c:v>
                </c:pt>
                <c:pt idx="11">
                  <c:v>-3.029040203843633</c:v>
                </c:pt>
                <c:pt idx="12">
                  <c:v>-5.571703888626456</c:v>
                </c:pt>
                <c:pt idx="13">
                  <c:v>-6.503831145765034</c:v>
                </c:pt>
                <c:pt idx="14">
                  <c:v>-7.270407485923784</c:v>
                </c:pt>
                <c:pt idx="15">
                  <c:v>-7.787043503812286</c:v>
                </c:pt>
                <c:pt idx="16">
                  <c:v>-7.996864751293785</c:v>
                </c:pt>
                <c:pt idx="17">
                  <c:v>-7.876772823989415</c:v>
                </c:pt>
                <c:pt idx="18">
                  <c:v>-7.439988174702739</c:v>
                </c:pt>
                <c:pt idx="19">
                  <c:v>-6.734594725232929</c:v>
                </c:pt>
                <c:pt idx="20">
                  <c:v>-5.838246494596778</c:v>
                </c:pt>
                <c:pt idx="21">
                  <c:v>-4.849618970353479</c:v>
                </c:pt>
                <c:pt idx="22">
                  <c:v>-3.877546308286343</c:v>
                </c:pt>
                <c:pt idx="23">
                  <c:v>-3.029040203843633</c:v>
                </c:pt>
                <c:pt idx="24">
                  <c:v>-5.571703888626456</c:v>
                </c:pt>
                <c:pt idx="25">
                  <c:v>-6.503831145765034</c:v>
                </c:pt>
                <c:pt idx="26">
                  <c:v>-7.270407485923784</c:v>
                </c:pt>
                <c:pt idx="27">
                  <c:v>-7.787043503812286</c:v>
                </c:pt>
                <c:pt idx="28">
                  <c:v>-7.996864751293785</c:v>
                </c:pt>
                <c:pt idx="29">
                  <c:v>-7.876772823989415</c:v>
                </c:pt>
                <c:pt idx="30">
                  <c:v>-7.439988174702739</c:v>
                </c:pt>
                <c:pt idx="31">
                  <c:v>-6.734594725232929</c:v>
                </c:pt>
                <c:pt idx="32">
                  <c:v>-5.838246494596778</c:v>
                </c:pt>
                <c:pt idx="33">
                  <c:v>-4.849618970353479</c:v>
                </c:pt>
                <c:pt idx="34">
                  <c:v>-3.877546308286343</c:v>
                </c:pt>
                <c:pt idx="35">
                  <c:v>-3.029040203843633</c:v>
                </c:pt>
                <c:pt idx="36">
                  <c:v>-5.571703888626456</c:v>
                </c:pt>
                <c:pt idx="37">
                  <c:v>-6.503831145765034</c:v>
                </c:pt>
                <c:pt idx="38">
                  <c:v>-7.270407485923784</c:v>
                </c:pt>
                <c:pt idx="39">
                  <c:v>-7.787043503812286</c:v>
                </c:pt>
                <c:pt idx="40">
                  <c:v>-7.996864751293785</c:v>
                </c:pt>
                <c:pt idx="41">
                  <c:v>-7.876772823989415</c:v>
                </c:pt>
                <c:pt idx="42">
                  <c:v>-7.439988174702739</c:v>
                </c:pt>
                <c:pt idx="43">
                  <c:v>-6.734594725232929</c:v>
                </c:pt>
                <c:pt idx="44">
                  <c:v>-5.838246494596778</c:v>
                </c:pt>
                <c:pt idx="45">
                  <c:v>-4.849618970353479</c:v>
                </c:pt>
                <c:pt idx="46">
                  <c:v>-3.877546308286343</c:v>
                </c:pt>
                <c:pt idx="47">
                  <c:v>-3.029040203843633</c:v>
                </c:pt>
                <c:pt idx="48">
                  <c:v>-5.571703888626456</c:v>
                </c:pt>
                <c:pt idx="49">
                  <c:v>-6.503831145765034</c:v>
                </c:pt>
                <c:pt idx="50">
                  <c:v>-7.270407485923784</c:v>
                </c:pt>
                <c:pt idx="51">
                  <c:v>-7.787043503812286</c:v>
                </c:pt>
                <c:pt idx="52">
                  <c:v>-7.996864751293785</c:v>
                </c:pt>
                <c:pt idx="53">
                  <c:v>-7.876772823989415</c:v>
                </c:pt>
                <c:pt idx="54">
                  <c:v>-7.439988174702739</c:v>
                </c:pt>
                <c:pt idx="55">
                  <c:v>-6.734594725232929</c:v>
                </c:pt>
                <c:pt idx="56">
                  <c:v>-5.838246494596778</c:v>
                </c:pt>
                <c:pt idx="57">
                  <c:v>-4.849618970353479</c:v>
                </c:pt>
                <c:pt idx="58">
                  <c:v>-3.877546308286343</c:v>
                </c:pt>
                <c:pt idx="59">
                  <c:v>-3.029040203843633</c:v>
                </c:pt>
                <c:pt idx="60">
                  <c:v>-5.571703888626456</c:v>
                </c:pt>
                <c:pt idx="61">
                  <c:v>-6.503831145765034</c:v>
                </c:pt>
                <c:pt idx="62">
                  <c:v>-7.270407485923784</c:v>
                </c:pt>
                <c:pt idx="63">
                  <c:v>-7.787043503812286</c:v>
                </c:pt>
                <c:pt idx="64">
                  <c:v>-7.996864751293785</c:v>
                </c:pt>
                <c:pt idx="65">
                  <c:v>-7.876772823989415</c:v>
                </c:pt>
                <c:pt idx="66">
                  <c:v>-7.439988174702739</c:v>
                </c:pt>
                <c:pt idx="67">
                  <c:v>-6.734594725232929</c:v>
                </c:pt>
              </c:numCache>
            </c:numRef>
          </c:val>
          <c:extLst>
            <c:ext xmlns:c16="http://schemas.microsoft.com/office/drawing/2014/chart" uri="{C3380CC4-5D6E-409C-BE32-E72D297353CC}">
              <c16:uniqueId val="{00000001-801D-4D7B-9343-810EB904DDD8}"/>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no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Municipals</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0"/>
          <c:order val="0"/>
          <c:tx>
            <c:v>Municipals Historical Avg Discount</c:v>
          </c:tx>
          <c:spPr>
            <a:solidFill>
              <a:srgbClr val="CAAA79"/>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[0]!MunHist</c:f>
              <c:numCache>
                <c:formatCode>0.00%</c:formatCode>
                <c:ptCount val="68"/>
                <c:pt idx="0">
                  <c:v>-5.322923705652887</c:v>
                </c:pt>
                <c:pt idx="1">
                  <c:v>-5.322923705652887</c:v>
                </c:pt>
                <c:pt idx="2">
                  <c:v>-5.322923705652887</c:v>
                </c:pt>
                <c:pt idx="3">
                  <c:v>-5.322923705652887</c:v>
                </c:pt>
                <c:pt idx="4">
                  <c:v>-5.322923705652887</c:v>
                </c:pt>
                <c:pt idx="5">
                  <c:v>-5.322923705652887</c:v>
                </c:pt>
                <c:pt idx="6">
                  <c:v>-5.322923705652887</c:v>
                </c:pt>
                <c:pt idx="7">
                  <c:v>-5.322923705652887</c:v>
                </c:pt>
                <c:pt idx="8">
                  <c:v>-5.322923705652887</c:v>
                </c:pt>
                <c:pt idx="9">
                  <c:v>-5.322923705652887</c:v>
                </c:pt>
                <c:pt idx="10">
                  <c:v>-5.322923705652887</c:v>
                </c:pt>
                <c:pt idx="11">
                  <c:v>-5.322923705652887</c:v>
                </c:pt>
                <c:pt idx="12">
                  <c:v>-5.322923705652887</c:v>
                </c:pt>
                <c:pt idx="13">
                  <c:v>-5.322923705652887</c:v>
                </c:pt>
                <c:pt idx="14">
                  <c:v>-5.322923705652887</c:v>
                </c:pt>
                <c:pt idx="15">
                  <c:v>-5.322923705652887</c:v>
                </c:pt>
                <c:pt idx="16">
                  <c:v>-5.322923705652887</c:v>
                </c:pt>
                <c:pt idx="17">
                  <c:v>-5.322923705652887</c:v>
                </c:pt>
                <c:pt idx="18">
                  <c:v>-5.322923705652887</c:v>
                </c:pt>
                <c:pt idx="19">
                  <c:v>-5.322923705652887</c:v>
                </c:pt>
                <c:pt idx="20">
                  <c:v>-5.322923705652887</c:v>
                </c:pt>
                <c:pt idx="21">
                  <c:v>-5.322923705652887</c:v>
                </c:pt>
                <c:pt idx="22">
                  <c:v>-5.322923705652887</c:v>
                </c:pt>
                <c:pt idx="23">
                  <c:v>-5.322923705652887</c:v>
                </c:pt>
                <c:pt idx="24">
                  <c:v>-5.322923705652887</c:v>
                </c:pt>
                <c:pt idx="25">
                  <c:v>-5.322923705652887</c:v>
                </c:pt>
                <c:pt idx="26">
                  <c:v>-5.322923705652887</c:v>
                </c:pt>
                <c:pt idx="27">
                  <c:v>-5.322923705652887</c:v>
                </c:pt>
                <c:pt idx="28">
                  <c:v>-5.322923705652887</c:v>
                </c:pt>
                <c:pt idx="29">
                  <c:v>-5.322923705652887</c:v>
                </c:pt>
                <c:pt idx="30">
                  <c:v>-5.322923705652887</c:v>
                </c:pt>
                <c:pt idx="31">
                  <c:v>-5.322923705652887</c:v>
                </c:pt>
                <c:pt idx="32">
                  <c:v>-5.322923705652887</c:v>
                </c:pt>
                <c:pt idx="33">
                  <c:v>-5.322923705652887</c:v>
                </c:pt>
                <c:pt idx="34">
                  <c:v>-5.322923705652887</c:v>
                </c:pt>
                <c:pt idx="35">
                  <c:v>-5.322923705652887</c:v>
                </c:pt>
                <c:pt idx="36">
                  <c:v>-5.322923705652887</c:v>
                </c:pt>
                <c:pt idx="37">
                  <c:v>-5.322923705652887</c:v>
                </c:pt>
                <c:pt idx="38">
                  <c:v>-5.322923705652887</c:v>
                </c:pt>
                <c:pt idx="39">
                  <c:v>-5.322923705652887</c:v>
                </c:pt>
                <c:pt idx="40">
                  <c:v>-5.322923705652887</c:v>
                </c:pt>
                <c:pt idx="41">
                  <c:v>-5.322923705652887</c:v>
                </c:pt>
                <c:pt idx="42">
                  <c:v>-5.322923705652887</c:v>
                </c:pt>
                <c:pt idx="43">
                  <c:v>-5.322923705652887</c:v>
                </c:pt>
                <c:pt idx="44">
                  <c:v>-5.322923705652887</c:v>
                </c:pt>
                <c:pt idx="45">
                  <c:v>-5.322923705652887</c:v>
                </c:pt>
                <c:pt idx="46">
                  <c:v>-5.322923705652887</c:v>
                </c:pt>
                <c:pt idx="47">
                  <c:v>-5.322923705652887</c:v>
                </c:pt>
                <c:pt idx="48">
                  <c:v>-5.322923705652887</c:v>
                </c:pt>
                <c:pt idx="49">
                  <c:v>-5.322923705652887</c:v>
                </c:pt>
                <c:pt idx="50">
                  <c:v>-5.322923705652887</c:v>
                </c:pt>
                <c:pt idx="51">
                  <c:v>-5.322923705652887</c:v>
                </c:pt>
                <c:pt idx="52">
                  <c:v>-5.322923705652887</c:v>
                </c:pt>
                <c:pt idx="53">
                  <c:v>-5.322923705652887</c:v>
                </c:pt>
                <c:pt idx="54">
                  <c:v>-5.322923705652887</c:v>
                </c:pt>
                <c:pt idx="55">
                  <c:v>-5.322923705652887</c:v>
                </c:pt>
                <c:pt idx="56">
                  <c:v>-5.322923705652887</c:v>
                </c:pt>
                <c:pt idx="57">
                  <c:v>-5.322923705652887</c:v>
                </c:pt>
                <c:pt idx="58">
                  <c:v>-5.322923705652887</c:v>
                </c:pt>
                <c:pt idx="59">
                  <c:v>-5.322923705652887</c:v>
                </c:pt>
                <c:pt idx="60">
                  <c:v>-5.322923705652887</c:v>
                </c:pt>
                <c:pt idx="61">
                  <c:v>-5.322923705652887</c:v>
                </c:pt>
                <c:pt idx="62">
                  <c:v>-5.322923705652887</c:v>
                </c:pt>
                <c:pt idx="63">
                  <c:v>-5.322923705652887</c:v>
                </c:pt>
                <c:pt idx="64">
                  <c:v>-5.322923705652887</c:v>
                </c:pt>
                <c:pt idx="65">
                  <c:v>-5.322923705652887</c:v>
                </c:pt>
                <c:pt idx="66">
                  <c:v>-5.322923705652887</c:v>
                </c:pt>
                <c:pt idx="67">
                  <c:v>-5.322923705652887</c:v>
                </c:pt>
              </c:numCache>
            </c:numRef>
          </c:val>
          <c:extLst>
            <c:ext xmlns:c16="http://schemas.microsoft.com/office/drawing/2014/chart" uri="{C3380CC4-5D6E-409C-BE32-E72D297353CC}">
              <c16:uniqueId val="{00000000-6358-4C06-867D-FD085D8B5504}"/>
            </c:ext>
          </c:extLst>
        </c:ser>
        <c:ser>
          <c:idx val="1"/>
          <c:order val="1"/>
          <c:tx>
            <c:v>Municipals Current Avg Discount</c:v>
          </c:tx>
          <c:spPr>
            <a:solidFill>
              <a:srgbClr val="63666B"/>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[0]!MunAvg</c:f>
              <c:numCache>
                <c:formatCode>0.00%</c:formatCode>
                <c:ptCount val="68"/>
                <c:pt idx="0">
                  <c:v>-7.787043503812286</c:v>
                </c:pt>
                <c:pt idx="1">
                  <c:v>-7.996864751293785</c:v>
                </c:pt>
                <c:pt idx="2">
                  <c:v>-7.876772823989415</c:v>
                </c:pt>
                <c:pt idx="3">
                  <c:v>-7.43998817470274</c:v>
                </c:pt>
                <c:pt idx="4">
                  <c:v>-6.734594725232927</c:v>
                </c:pt>
                <c:pt idx="5">
                  <c:v>-5.838246494596778</c:v>
                </c:pt>
                <c:pt idx="6">
                  <c:v>-4.849618970353479</c:v>
                </c:pt>
                <c:pt idx="7">
                  <c:v>-3.877546308286343</c:v>
                </c:pt>
                <c:pt idx="8">
                  <c:v>-3.029040203843633</c:v>
                </c:pt>
                <c:pt idx="9">
                  <c:v>-2.397509391143581</c:v>
                </c:pt>
                <c:pt idx="10">
                  <c:v>-2.0524766390408806</c:v>
                </c:pt>
                <c:pt idx="11">
                  <c:v>-2.0319252601298547</c:v>
                </c:pt>
                <c:pt idx="12">
                  <c:v>-7.787043503812286</c:v>
                </c:pt>
                <c:pt idx="13">
                  <c:v>-7.996864751293785</c:v>
                </c:pt>
                <c:pt idx="14">
                  <c:v>-7.876772823989415</c:v>
                </c:pt>
                <c:pt idx="15">
                  <c:v>-7.43998817470274</c:v>
                </c:pt>
                <c:pt idx="16">
                  <c:v>-6.734594725232927</c:v>
                </c:pt>
                <c:pt idx="17">
                  <c:v>-5.838246494596778</c:v>
                </c:pt>
                <c:pt idx="18">
                  <c:v>-4.849618970353479</c:v>
                </c:pt>
                <c:pt idx="19">
                  <c:v>-3.877546308286343</c:v>
                </c:pt>
                <c:pt idx="20">
                  <c:v>-3.029040203843633</c:v>
                </c:pt>
                <c:pt idx="21">
                  <c:v>-2.397509391143581</c:v>
                </c:pt>
                <c:pt idx="22">
                  <c:v>-2.0524766390408806</c:v>
                </c:pt>
                <c:pt idx="23">
                  <c:v>-2.0319252601298547</c:v>
                </c:pt>
                <c:pt idx="24">
                  <c:v>-7.787043503812286</c:v>
                </c:pt>
                <c:pt idx="25">
                  <c:v>-7.996864751293785</c:v>
                </c:pt>
                <c:pt idx="26">
                  <c:v>-7.876772823989415</c:v>
                </c:pt>
                <c:pt idx="27">
                  <c:v>-7.43998817470274</c:v>
                </c:pt>
                <c:pt idx="28">
                  <c:v>-6.734594725232927</c:v>
                </c:pt>
                <c:pt idx="29">
                  <c:v>-5.838246494596778</c:v>
                </c:pt>
                <c:pt idx="30">
                  <c:v>-4.849618970353479</c:v>
                </c:pt>
                <c:pt idx="31">
                  <c:v>-3.877546308286343</c:v>
                </c:pt>
                <c:pt idx="32">
                  <c:v>-3.029040203843633</c:v>
                </c:pt>
                <c:pt idx="33">
                  <c:v>-2.397509391143581</c:v>
                </c:pt>
                <c:pt idx="34">
                  <c:v>-2.0524766390408806</c:v>
                </c:pt>
                <c:pt idx="35">
                  <c:v>-2.0319252601298547</c:v>
                </c:pt>
                <c:pt idx="36">
                  <c:v>-7.787043503812286</c:v>
                </c:pt>
                <c:pt idx="37">
                  <c:v>-7.996864751293785</c:v>
                </c:pt>
                <c:pt idx="38">
                  <c:v>-7.876772823989415</c:v>
                </c:pt>
                <c:pt idx="39">
                  <c:v>-7.43998817470274</c:v>
                </c:pt>
                <c:pt idx="40">
                  <c:v>-6.734594725232927</c:v>
                </c:pt>
                <c:pt idx="41">
                  <c:v>-5.838246494596778</c:v>
                </c:pt>
                <c:pt idx="42">
                  <c:v>-4.849618970353479</c:v>
                </c:pt>
                <c:pt idx="43">
                  <c:v>-3.877546308286343</c:v>
                </c:pt>
                <c:pt idx="44">
                  <c:v>-3.029040203843633</c:v>
                </c:pt>
                <c:pt idx="45">
                  <c:v>-2.397509391143581</c:v>
                </c:pt>
                <c:pt idx="46">
                  <c:v>-2.0524766390408806</c:v>
                </c:pt>
                <c:pt idx="47">
                  <c:v>-2.0319252601298547</c:v>
                </c:pt>
                <c:pt idx="48">
                  <c:v>-7.787043503812286</c:v>
                </c:pt>
                <c:pt idx="49">
                  <c:v>-7.996864751293785</c:v>
                </c:pt>
                <c:pt idx="50">
                  <c:v>-7.876772823989415</c:v>
                </c:pt>
                <c:pt idx="51">
                  <c:v>-7.43998817470274</c:v>
                </c:pt>
                <c:pt idx="52">
                  <c:v>-6.734594725232927</c:v>
                </c:pt>
                <c:pt idx="53">
                  <c:v>-5.838246494596778</c:v>
                </c:pt>
                <c:pt idx="54">
                  <c:v>-4.849618970353479</c:v>
                </c:pt>
                <c:pt idx="55">
                  <c:v>-3.877546308286343</c:v>
                </c:pt>
                <c:pt idx="56">
                  <c:v>-3.029040203843633</c:v>
                </c:pt>
                <c:pt idx="57">
                  <c:v>-2.397509391143581</c:v>
                </c:pt>
                <c:pt idx="58">
                  <c:v>-2.0524766390408806</c:v>
                </c:pt>
                <c:pt idx="59">
                  <c:v>-2.0319252601298547</c:v>
                </c:pt>
                <c:pt idx="60">
                  <c:v>-7.787043503812286</c:v>
                </c:pt>
                <c:pt idx="61">
                  <c:v>-7.996864751293785</c:v>
                </c:pt>
                <c:pt idx="62">
                  <c:v>-7.876772823989415</c:v>
                </c:pt>
                <c:pt idx="63">
                  <c:v>-7.43998817470274</c:v>
                </c:pt>
                <c:pt idx="64">
                  <c:v>-6.734594725232927</c:v>
                </c:pt>
                <c:pt idx="65">
                  <c:v>-5.838246494596778</c:v>
                </c:pt>
                <c:pt idx="66">
                  <c:v>-4.849618970353479</c:v>
                </c:pt>
                <c:pt idx="67">
                  <c:v>-3.877546308286343</c:v>
                </c:pt>
              </c:numCache>
            </c:numRef>
          </c:val>
          <c:extLst>
            <c:ext xmlns:c16="http://schemas.microsoft.com/office/drawing/2014/chart" uri="{C3380CC4-5D6E-409C-BE32-E72D297353CC}">
              <c16:uniqueId val="{00000001-6358-4C06-867D-FD085D8B5504}"/>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MBB</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14"/>
          <c:order val="0"/>
          <c:tx>
            <c:v>MBB Historical Avg Discount</c:v>
          </c:tx>
          <c:spPr>
            <a:solidFill>
              <a:srgbClr val="CAAA79"/>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[0]!MBBHist</c:f>
              <c:numCache>
                <c:formatCode>0.00%</c:formatCode>
                <c:ptCount val="68"/>
                <c:pt idx="0">
                  <c:v>-4.009842567898658</c:v>
                </c:pt>
                <c:pt idx="1">
                  <c:v>-4.009842567898658</c:v>
                </c:pt>
                <c:pt idx="2">
                  <c:v>-4.009842567898658</c:v>
                </c:pt>
                <c:pt idx="3">
                  <c:v>-4.009842567898658</c:v>
                </c:pt>
                <c:pt idx="4">
                  <c:v>-4.009842567898658</c:v>
                </c:pt>
                <c:pt idx="5">
                  <c:v>-4.009842567898658</c:v>
                </c:pt>
                <c:pt idx="6">
                  <c:v>-4.009842567898658</c:v>
                </c:pt>
                <c:pt idx="7">
                  <c:v>-4.009842567898658</c:v>
                </c:pt>
                <c:pt idx="8">
                  <c:v>-4.009842567898658</c:v>
                </c:pt>
                <c:pt idx="9">
                  <c:v>-4.009842567898658</c:v>
                </c:pt>
                <c:pt idx="10">
                  <c:v>-4.009842567898658</c:v>
                </c:pt>
                <c:pt idx="11">
                  <c:v>-4.009842567898658</c:v>
                </c:pt>
                <c:pt idx="12">
                  <c:v>-4.009842567898658</c:v>
                </c:pt>
                <c:pt idx="13">
                  <c:v>-4.009842567898658</c:v>
                </c:pt>
                <c:pt idx="14">
                  <c:v>-4.009842567898658</c:v>
                </c:pt>
                <c:pt idx="15">
                  <c:v>-4.009842567898658</c:v>
                </c:pt>
                <c:pt idx="16">
                  <c:v>-4.009842567898658</c:v>
                </c:pt>
                <c:pt idx="17">
                  <c:v>-4.009842567898658</c:v>
                </c:pt>
                <c:pt idx="18">
                  <c:v>-4.009842567898658</c:v>
                </c:pt>
                <c:pt idx="19">
                  <c:v>-4.009842567898658</c:v>
                </c:pt>
                <c:pt idx="20">
                  <c:v>-4.009842567898658</c:v>
                </c:pt>
                <c:pt idx="21">
                  <c:v>-4.009842567898658</c:v>
                </c:pt>
                <c:pt idx="22">
                  <c:v>-4.009842567898658</c:v>
                </c:pt>
                <c:pt idx="23">
                  <c:v>-4.009842567898658</c:v>
                </c:pt>
                <c:pt idx="24">
                  <c:v>-4.009842567898658</c:v>
                </c:pt>
                <c:pt idx="25">
                  <c:v>-4.009842567898658</c:v>
                </c:pt>
                <c:pt idx="26">
                  <c:v>-4.009842567898658</c:v>
                </c:pt>
                <c:pt idx="27">
                  <c:v>-4.009842567898658</c:v>
                </c:pt>
                <c:pt idx="28">
                  <c:v>-4.009842567898658</c:v>
                </c:pt>
                <c:pt idx="29">
                  <c:v>-4.009842567898658</c:v>
                </c:pt>
                <c:pt idx="30">
                  <c:v>-4.009842567898658</c:v>
                </c:pt>
                <c:pt idx="31">
                  <c:v>-4.009842567898658</c:v>
                </c:pt>
                <c:pt idx="32">
                  <c:v>-4.009842567898658</c:v>
                </c:pt>
                <c:pt idx="33">
                  <c:v>-4.009842567898658</c:v>
                </c:pt>
                <c:pt idx="34">
                  <c:v>-4.009842567898658</c:v>
                </c:pt>
                <c:pt idx="35">
                  <c:v>-4.009842567898658</c:v>
                </c:pt>
                <c:pt idx="36">
                  <c:v>-4.009842567898658</c:v>
                </c:pt>
                <c:pt idx="37">
                  <c:v>-4.009842567898658</c:v>
                </c:pt>
                <c:pt idx="38">
                  <c:v>-4.009842567898658</c:v>
                </c:pt>
                <c:pt idx="39">
                  <c:v>-4.009842567898658</c:v>
                </c:pt>
                <c:pt idx="40">
                  <c:v>-4.009842567898658</c:v>
                </c:pt>
                <c:pt idx="41">
                  <c:v>-4.009842567898658</c:v>
                </c:pt>
                <c:pt idx="42">
                  <c:v>-4.009842567898658</c:v>
                </c:pt>
                <c:pt idx="43">
                  <c:v>-4.009842567898658</c:v>
                </c:pt>
                <c:pt idx="44">
                  <c:v>-4.009842567898658</c:v>
                </c:pt>
                <c:pt idx="45">
                  <c:v>-4.009842567898658</c:v>
                </c:pt>
                <c:pt idx="46">
                  <c:v>-4.009842567898658</c:v>
                </c:pt>
                <c:pt idx="47">
                  <c:v>-4.009842567898658</c:v>
                </c:pt>
                <c:pt idx="48">
                  <c:v>-4.009842567898658</c:v>
                </c:pt>
                <c:pt idx="49">
                  <c:v>-4.009842567898658</c:v>
                </c:pt>
                <c:pt idx="50">
                  <c:v>-4.009842567898658</c:v>
                </c:pt>
                <c:pt idx="51">
                  <c:v>-4.009842567898658</c:v>
                </c:pt>
                <c:pt idx="52">
                  <c:v>-4.009842567898658</c:v>
                </c:pt>
                <c:pt idx="53">
                  <c:v>-4.009842567898658</c:v>
                </c:pt>
                <c:pt idx="54">
                  <c:v>-4.009842567898658</c:v>
                </c:pt>
                <c:pt idx="55">
                  <c:v>-4.009842567898658</c:v>
                </c:pt>
                <c:pt idx="56">
                  <c:v>-4.009842567898658</c:v>
                </c:pt>
                <c:pt idx="57">
                  <c:v>-4.009842567898658</c:v>
                </c:pt>
                <c:pt idx="58">
                  <c:v>-4.009842567898658</c:v>
                </c:pt>
                <c:pt idx="59">
                  <c:v>-4.009842567898658</c:v>
                </c:pt>
                <c:pt idx="60">
                  <c:v>-4.009842567898658</c:v>
                </c:pt>
                <c:pt idx="61">
                  <c:v>-4.009842567898658</c:v>
                </c:pt>
                <c:pt idx="62">
                  <c:v>-4.009842567898658</c:v>
                </c:pt>
                <c:pt idx="63">
                  <c:v>-4.009842567898658</c:v>
                </c:pt>
                <c:pt idx="64">
                  <c:v>-4.009842567898658</c:v>
                </c:pt>
                <c:pt idx="65">
                  <c:v>-4.009842567898658</c:v>
                </c:pt>
                <c:pt idx="66">
                  <c:v>-4.009842567898658</c:v>
                </c:pt>
                <c:pt idx="67">
                  <c:v>-4.009842567898658</c:v>
                </c:pt>
              </c:numCache>
            </c:numRef>
          </c:val>
          <c:extLst>
            <c:ext xmlns:c16="http://schemas.microsoft.com/office/drawing/2014/chart" uri="{C3380CC4-5D6E-409C-BE32-E72D297353CC}">
              <c16:uniqueId val="{00000000-EF05-4D51-86EA-6E3852CA7764}"/>
            </c:ext>
          </c:extLst>
        </c:ser>
        <c:ser>
          <c:idx val="0"/>
          <c:order val="1"/>
          <c:tx>
            <c:v>MBB Current Avg Discount</c:v>
          </c:tx>
          <c:spPr>
            <a:solidFill>
              <a:srgbClr val="63666B"/>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[0]!MBBAvg</c:f>
              <c:numCache>
                <c:formatCode>0.00%</c:formatCode>
                <c:ptCount val="68"/>
                <c:pt idx="0">
                  <c:v>-7.43998817470274</c:v>
                </c:pt>
                <c:pt idx="1">
                  <c:v>-6.734594725232927</c:v>
                </c:pt>
                <c:pt idx="2">
                  <c:v>-5.838246494596778</c:v>
                </c:pt>
                <c:pt idx="3">
                  <c:v>-4.8496189703534816</c:v>
                </c:pt>
                <c:pt idx="4">
                  <c:v>-3.87754630828634</c:v>
                </c:pt>
                <c:pt idx="5">
                  <c:v>-3.029040203843633</c:v>
                </c:pt>
                <c:pt idx="6">
                  <c:v>-2.397509391143581</c:v>
                </c:pt>
                <c:pt idx="7">
                  <c:v>-2.0524766390408806</c:v>
                </c:pt>
                <c:pt idx="8">
                  <c:v>-2.0319252601298547</c:v>
                </c:pt>
                <c:pt idx="9">
                  <c:v>-2.3381176757159166</c:v>
                </c:pt>
                <c:pt idx="10">
                  <c:v>-2.9373463546608147</c:v>
                </c:pt>
                <c:pt idx="11">
                  <c:v>-3.7636445442747304</c:v>
                </c:pt>
                <c:pt idx="12">
                  <c:v>-7.43998817470274</c:v>
                </c:pt>
                <c:pt idx="13">
                  <c:v>-6.734594725232927</c:v>
                </c:pt>
                <c:pt idx="14">
                  <c:v>-5.838246494596778</c:v>
                </c:pt>
                <c:pt idx="15">
                  <c:v>-4.8496189703534816</c:v>
                </c:pt>
                <c:pt idx="16">
                  <c:v>-3.87754630828634</c:v>
                </c:pt>
                <c:pt idx="17">
                  <c:v>-3.029040203843633</c:v>
                </c:pt>
                <c:pt idx="18">
                  <c:v>-2.397509391143581</c:v>
                </c:pt>
                <c:pt idx="19">
                  <c:v>-2.0524766390408806</c:v>
                </c:pt>
                <c:pt idx="20">
                  <c:v>-2.0319252601298547</c:v>
                </c:pt>
                <c:pt idx="21">
                  <c:v>-2.3381176757159166</c:v>
                </c:pt>
                <c:pt idx="22">
                  <c:v>-2.9373463546608147</c:v>
                </c:pt>
                <c:pt idx="23">
                  <c:v>-3.7636445442747304</c:v>
                </c:pt>
                <c:pt idx="24">
                  <c:v>-7.43998817470274</c:v>
                </c:pt>
                <c:pt idx="25">
                  <c:v>-6.734594725232927</c:v>
                </c:pt>
                <c:pt idx="26">
                  <c:v>-5.838246494596778</c:v>
                </c:pt>
                <c:pt idx="27">
                  <c:v>-4.8496189703534816</c:v>
                </c:pt>
                <c:pt idx="28">
                  <c:v>-3.87754630828634</c:v>
                </c:pt>
                <c:pt idx="29">
                  <c:v>-3.029040203843633</c:v>
                </c:pt>
                <c:pt idx="30">
                  <c:v>-2.397509391143581</c:v>
                </c:pt>
                <c:pt idx="31">
                  <c:v>-2.0524766390408806</c:v>
                </c:pt>
                <c:pt idx="32">
                  <c:v>-2.0319252601298547</c:v>
                </c:pt>
                <c:pt idx="33">
                  <c:v>-2.3381176757159166</c:v>
                </c:pt>
                <c:pt idx="34">
                  <c:v>-2.9373463546608147</c:v>
                </c:pt>
                <c:pt idx="35">
                  <c:v>-3.7636445442747304</c:v>
                </c:pt>
                <c:pt idx="36">
                  <c:v>-7.43998817470274</c:v>
                </c:pt>
                <c:pt idx="37">
                  <c:v>-6.734594725232927</c:v>
                </c:pt>
                <c:pt idx="38">
                  <c:v>-5.838246494596778</c:v>
                </c:pt>
                <c:pt idx="39">
                  <c:v>-4.8496189703534816</c:v>
                </c:pt>
                <c:pt idx="40">
                  <c:v>-3.87754630828634</c:v>
                </c:pt>
                <c:pt idx="41">
                  <c:v>-3.029040203843633</c:v>
                </c:pt>
                <c:pt idx="42">
                  <c:v>-2.397509391143581</c:v>
                </c:pt>
                <c:pt idx="43">
                  <c:v>-2.0524766390408806</c:v>
                </c:pt>
                <c:pt idx="44">
                  <c:v>-2.0319252601298547</c:v>
                </c:pt>
                <c:pt idx="45">
                  <c:v>-2.3381176757159166</c:v>
                </c:pt>
                <c:pt idx="46">
                  <c:v>-2.9373463546608147</c:v>
                </c:pt>
                <c:pt idx="47">
                  <c:v>-3.7636445442747304</c:v>
                </c:pt>
                <c:pt idx="48">
                  <c:v>-7.43998817470274</c:v>
                </c:pt>
                <c:pt idx="49">
                  <c:v>-6.734594725232927</c:v>
                </c:pt>
                <c:pt idx="50">
                  <c:v>-5.838246494596778</c:v>
                </c:pt>
                <c:pt idx="51">
                  <c:v>-4.8496189703534816</c:v>
                </c:pt>
                <c:pt idx="52">
                  <c:v>-3.87754630828634</c:v>
                </c:pt>
                <c:pt idx="53">
                  <c:v>-3.029040203843633</c:v>
                </c:pt>
                <c:pt idx="54">
                  <c:v>-2.397509391143581</c:v>
                </c:pt>
                <c:pt idx="55">
                  <c:v>-2.0524766390408806</c:v>
                </c:pt>
                <c:pt idx="56">
                  <c:v>-2.0319252601298547</c:v>
                </c:pt>
                <c:pt idx="57">
                  <c:v>-2.3381176757159166</c:v>
                </c:pt>
                <c:pt idx="58">
                  <c:v>-2.9373463546608147</c:v>
                </c:pt>
                <c:pt idx="59">
                  <c:v>-3.7636445442747304</c:v>
                </c:pt>
                <c:pt idx="60">
                  <c:v>-7.43998817470274</c:v>
                </c:pt>
                <c:pt idx="61">
                  <c:v>-6.734594725232927</c:v>
                </c:pt>
                <c:pt idx="62">
                  <c:v>-5.838246494596778</c:v>
                </c:pt>
                <c:pt idx="63">
                  <c:v>-4.8496189703534816</c:v>
                </c:pt>
                <c:pt idx="64">
                  <c:v>-3.87754630828634</c:v>
                </c:pt>
                <c:pt idx="65">
                  <c:v>-3.029040203843633</c:v>
                </c:pt>
                <c:pt idx="66">
                  <c:v>-2.397509391143581</c:v>
                </c:pt>
                <c:pt idx="67">
                  <c:v>-2.0524766390408806</c:v>
                </c:pt>
              </c:numCache>
            </c:numRef>
          </c:val>
          <c:extLst>
            <c:ext xmlns:c16="http://schemas.microsoft.com/office/drawing/2014/chart" uri="{C3380CC4-5D6E-409C-BE32-E72D297353CC}">
              <c16:uniqueId val="{00000001-EF05-4D51-86EA-6E3852CA7764}"/>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no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Low Duration</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16"/>
          <c:order val="0"/>
          <c:tx>
            <c:v>Low Duration Historical Avg Discount</c:v>
          </c:tx>
          <c:spPr>
            <a:solidFill>
              <a:srgbClr val="CAAA79"/>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[0]!LowHist</c:f>
              <c:numCache>
                <c:formatCode>0.00%</c:formatCode>
                <c:ptCount val="68"/>
                <c:pt idx="0">
                  <c:v>-3.607107606873452</c:v>
                </c:pt>
                <c:pt idx="1">
                  <c:v>-3.607107606873452</c:v>
                </c:pt>
                <c:pt idx="2">
                  <c:v>-3.607107606873452</c:v>
                </c:pt>
                <c:pt idx="3">
                  <c:v>-3.607107606873452</c:v>
                </c:pt>
                <c:pt idx="4">
                  <c:v>-3.607107606873452</c:v>
                </c:pt>
                <c:pt idx="5">
                  <c:v>-3.607107606873452</c:v>
                </c:pt>
                <c:pt idx="6">
                  <c:v>-3.607107606873452</c:v>
                </c:pt>
                <c:pt idx="7">
                  <c:v>-3.607107606873452</c:v>
                </c:pt>
                <c:pt idx="8">
                  <c:v>-3.607107606873452</c:v>
                </c:pt>
                <c:pt idx="9">
                  <c:v>-3.607107606873452</c:v>
                </c:pt>
                <c:pt idx="10">
                  <c:v>-3.607107606873452</c:v>
                </c:pt>
                <c:pt idx="11">
                  <c:v>-3.607107606873452</c:v>
                </c:pt>
                <c:pt idx="12">
                  <c:v>-3.607107606873452</c:v>
                </c:pt>
                <c:pt idx="13">
                  <c:v>-3.607107606873452</c:v>
                </c:pt>
                <c:pt idx="14">
                  <c:v>-3.607107606873452</c:v>
                </c:pt>
                <c:pt idx="15">
                  <c:v>-3.607107606873452</c:v>
                </c:pt>
                <c:pt idx="16">
                  <c:v>-3.607107606873452</c:v>
                </c:pt>
                <c:pt idx="17">
                  <c:v>-3.607107606873452</c:v>
                </c:pt>
                <c:pt idx="18">
                  <c:v>-3.607107606873452</c:v>
                </c:pt>
                <c:pt idx="19">
                  <c:v>-3.607107606873452</c:v>
                </c:pt>
                <c:pt idx="20">
                  <c:v>-3.607107606873452</c:v>
                </c:pt>
                <c:pt idx="21">
                  <c:v>-3.607107606873452</c:v>
                </c:pt>
                <c:pt idx="22">
                  <c:v>-3.607107606873452</c:v>
                </c:pt>
                <c:pt idx="23">
                  <c:v>-3.607107606873452</c:v>
                </c:pt>
                <c:pt idx="24">
                  <c:v>-3.607107606873452</c:v>
                </c:pt>
                <c:pt idx="25">
                  <c:v>-3.607107606873452</c:v>
                </c:pt>
                <c:pt idx="26">
                  <c:v>-3.607107606873452</c:v>
                </c:pt>
                <c:pt idx="27">
                  <c:v>-3.607107606873452</c:v>
                </c:pt>
                <c:pt idx="28">
                  <c:v>-3.607107606873452</c:v>
                </c:pt>
                <c:pt idx="29">
                  <c:v>-3.607107606873452</c:v>
                </c:pt>
                <c:pt idx="30">
                  <c:v>-3.607107606873452</c:v>
                </c:pt>
                <c:pt idx="31">
                  <c:v>-3.607107606873452</c:v>
                </c:pt>
                <c:pt idx="32">
                  <c:v>-3.607107606873452</c:v>
                </c:pt>
                <c:pt idx="33">
                  <c:v>-3.607107606873452</c:v>
                </c:pt>
                <c:pt idx="34">
                  <c:v>-3.607107606873452</c:v>
                </c:pt>
                <c:pt idx="35">
                  <c:v>-3.607107606873452</c:v>
                </c:pt>
                <c:pt idx="36">
                  <c:v>-3.607107606873452</c:v>
                </c:pt>
                <c:pt idx="37">
                  <c:v>-3.607107606873452</c:v>
                </c:pt>
                <c:pt idx="38">
                  <c:v>-3.607107606873452</c:v>
                </c:pt>
                <c:pt idx="39">
                  <c:v>-3.607107606873452</c:v>
                </c:pt>
                <c:pt idx="40">
                  <c:v>-3.607107606873452</c:v>
                </c:pt>
                <c:pt idx="41">
                  <c:v>-3.607107606873452</c:v>
                </c:pt>
                <c:pt idx="42">
                  <c:v>-3.607107606873452</c:v>
                </c:pt>
                <c:pt idx="43">
                  <c:v>-3.607107606873452</c:v>
                </c:pt>
                <c:pt idx="44">
                  <c:v>-3.607107606873452</c:v>
                </c:pt>
                <c:pt idx="45">
                  <c:v>-3.607107606873452</c:v>
                </c:pt>
                <c:pt idx="46">
                  <c:v>-3.607107606873452</c:v>
                </c:pt>
                <c:pt idx="47">
                  <c:v>-3.607107606873452</c:v>
                </c:pt>
                <c:pt idx="48">
                  <c:v>-3.607107606873452</c:v>
                </c:pt>
                <c:pt idx="49">
                  <c:v>-3.607107606873452</c:v>
                </c:pt>
                <c:pt idx="50">
                  <c:v>-3.607107606873452</c:v>
                </c:pt>
                <c:pt idx="51">
                  <c:v>-3.607107606873452</c:v>
                </c:pt>
                <c:pt idx="52">
                  <c:v>-3.607107606873452</c:v>
                </c:pt>
                <c:pt idx="53">
                  <c:v>-3.607107606873452</c:v>
                </c:pt>
                <c:pt idx="54">
                  <c:v>-3.607107606873452</c:v>
                </c:pt>
                <c:pt idx="55">
                  <c:v>-3.607107606873452</c:v>
                </c:pt>
                <c:pt idx="56">
                  <c:v>-3.607107606873452</c:v>
                </c:pt>
                <c:pt idx="57">
                  <c:v>-3.607107606873452</c:v>
                </c:pt>
                <c:pt idx="58">
                  <c:v>-3.607107606873452</c:v>
                </c:pt>
                <c:pt idx="59">
                  <c:v>-3.607107606873452</c:v>
                </c:pt>
                <c:pt idx="60">
                  <c:v>-3.607107606873452</c:v>
                </c:pt>
                <c:pt idx="61">
                  <c:v>-3.607107606873452</c:v>
                </c:pt>
                <c:pt idx="62">
                  <c:v>-3.607107606873452</c:v>
                </c:pt>
                <c:pt idx="63">
                  <c:v>-3.607107606873452</c:v>
                </c:pt>
                <c:pt idx="64">
                  <c:v>-3.607107606873452</c:v>
                </c:pt>
                <c:pt idx="65">
                  <c:v>-3.607107606873452</c:v>
                </c:pt>
                <c:pt idx="66">
                  <c:v>-3.607107606873452</c:v>
                </c:pt>
                <c:pt idx="67">
                  <c:v>-3.607107606873452</c:v>
                </c:pt>
              </c:numCache>
            </c:numRef>
          </c:val>
          <c:extLst>
            <c:ext xmlns:c16="http://schemas.microsoft.com/office/drawing/2014/chart" uri="{C3380CC4-5D6E-409C-BE32-E72D297353CC}">
              <c16:uniqueId val="{00000000-D6D6-4635-A1CF-B3875A436A8A}"/>
            </c:ext>
          </c:extLst>
        </c:ser>
        <c:ser>
          <c:idx val="0"/>
          <c:order val="1"/>
          <c:tx>
            <c:v>Low Duration Current Avg Discount</c:v>
          </c:tx>
          <c:spPr>
            <a:solidFill>
              <a:srgbClr val="63666B"/>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[0]!LowAvg</c:f>
              <c:numCache>
                <c:formatCode>0.00%</c:formatCode>
                <c:ptCount val="68"/>
                <c:pt idx="0">
                  <c:v>-4.8496189703534816</c:v>
                </c:pt>
                <c:pt idx="1">
                  <c:v>-3.87754630828634</c:v>
                </c:pt>
                <c:pt idx="2">
                  <c:v>-3.029040203843633</c:v>
                </c:pt>
                <c:pt idx="3">
                  <c:v>-2.3975093911435823</c:v>
                </c:pt>
                <c:pt idx="4">
                  <c:v>-2.05247663904088</c:v>
                </c:pt>
                <c:pt idx="5">
                  <c:v>-2.0319252601298547</c:v>
                </c:pt>
                <c:pt idx="6">
                  <c:v>-2.3381176757159166</c:v>
                </c:pt>
                <c:pt idx="7">
                  <c:v>-2.9373463546608147</c:v>
                </c:pt>
                <c:pt idx="8">
                  <c:v>-3.7636445442747304</c:v>
                </c:pt>
                <c:pt idx="9">
                  <c:v>-4.726048293335752</c:v>
                </c:pt>
                <c:pt idx="10">
                  <c:v>-5.718610319390947</c:v>
                </c:pt>
                <c:pt idx="11">
                  <c:v>-6.6320633326681095</c:v>
                </c:pt>
                <c:pt idx="12">
                  <c:v>-4.8496189703534816</c:v>
                </c:pt>
                <c:pt idx="13">
                  <c:v>-3.87754630828634</c:v>
                </c:pt>
                <c:pt idx="14">
                  <c:v>-3.029040203843633</c:v>
                </c:pt>
                <c:pt idx="15">
                  <c:v>-2.3975093911435823</c:v>
                </c:pt>
                <c:pt idx="16">
                  <c:v>-2.05247663904088</c:v>
                </c:pt>
                <c:pt idx="17">
                  <c:v>-2.0319252601298547</c:v>
                </c:pt>
                <c:pt idx="18">
                  <c:v>-2.3381176757159166</c:v>
                </c:pt>
                <c:pt idx="19">
                  <c:v>-2.9373463546608147</c:v>
                </c:pt>
                <c:pt idx="20">
                  <c:v>-3.7636445442747304</c:v>
                </c:pt>
                <c:pt idx="21">
                  <c:v>-4.726048293335752</c:v>
                </c:pt>
                <c:pt idx="22">
                  <c:v>-5.718610319390947</c:v>
                </c:pt>
                <c:pt idx="23">
                  <c:v>-6.6320633326681095</c:v>
                </c:pt>
                <c:pt idx="24">
                  <c:v>-4.8496189703534816</c:v>
                </c:pt>
                <c:pt idx="25">
                  <c:v>-3.87754630828634</c:v>
                </c:pt>
                <c:pt idx="26">
                  <c:v>-3.029040203843633</c:v>
                </c:pt>
                <c:pt idx="27">
                  <c:v>-2.3975093911435823</c:v>
                </c:pt>
                <c:pt idx="28">
                  <c:v>-2.05247663904088</c:v>
                </c:pt>
                <c:pt idx="29">
                  <c:v>-2.0319252601298547</c:v>
                </c:pt>
                <c:pt idx="30">
                  <c:v>-2.3381176757159166</c:v>
                </c:pt>
                <c:pt idx="31">
                  <c:v>-2.9373463546608147</c:v>
                </c:pt>
                <c:pt idx="32">
                  <c:v>-3.7636445442747304</c:v>
                </c:pt>
                <c:pt idx="33">
                  <c:v>-4.726048293335752</c:v>
                </c:pt>
                <c:pt idx="34">
                  <c:v>-5.718610319390947</c:v>
                </c:pt>
                <c:pt idx="35">
                  <c:v>-6.6320633326681095</c:v>
                </c:pt>
                <c:pt idx="36">
                  <c:v>-4.8496189703534816</c:v>
                </c:pt>
                <c:pt idx="37">
                  <c:v>-3.87754630828634</c:v>
                </c:pt>
                <c:pt idx="38">
                  <c:v>-3.029040203843633</c:v>
                </c:pt>
                <c:pt idx="39">
                  <c:v>-2.3975093911435823</c:v>
                </c:pt>
                <c:pt idx="40">
                  <c:v>-2.05247663904088</c:v>
                </c:pt>
                <c:pt idx="41">
                  <c:v>-2.0319252601298547</c:v>
                </c:pt>
                <c:pt idx="42">
                  <c:v>-2.3381176757159166</c:v>
                </c:pt>
                <c:pt idx="43">
                  <c:v>-2.9373463546608147</c:v>
                </c:pt>
                <c:pt idx="44">
                  <c:v>-3.7636445442747304</c:v>
                </c:pt>
                <c:pt idx="45">
                  <c:v>-4.726048293335752</c:v>
                </c:pt>
                <c:pt idx="46">
                  <c:v>-5.718610319390947</c:v>
                </c:pt>
                <c:pt idx="47">
                  <c:v>-6.6320633326681095</c:v>
                </c:pt>
                <c:pt idx="48">
                  <c:v>-4.8496189703534816</c:v>
                </c:pt>
                <c:pt idx="49">
                  <c:v>-3.87754630828634</c:v>
                </c:pt>
                <c:pt idx="50">
                  <c:v>-3.029040203843633</c:v>
                </c:pt>
                <c:pt idx="51">
                  <c:v>-2.3975093911435823</c:v>
                </c:pt>
                <c:pt idx="52">
                  <c:v>-2.05247663904088</c:v>
                </c:pt>
                <c:pt idx="53">
                  <c:v>-2.0319252601298547</c:v>
                </c:pt>
                <c:pt idx="54">
                  <c:v>-2.3381176757159166</c:v>
                </c:pt>
                <c:pt idx="55">
                  <c:v>-2.9373463546608147</c:v>
                </c:pt>
                <c:pt idx="56">
                  <c:v>-3.7636445442747304</c:v>
                </c:pt>
                <c:pt idx="57">
                  <c:v>-4.726048293335752</c:v>
                </c:pt>
                <c:pt idx="58">
                  <c:v>-5.718610319390947</c:v>
                </c:pt>
                <c:pt idx="59">
                  <c:v>-6.6320633326681095</c:v>
                </c:pt>
                <c:pt idx="60">
                  <c:v>-4.8496189703534816</c:v>
                </c:pt>
                <c:pt idx="61">
                  <c:v>-3.87754630828634</c:v>
                </c:pt>
                <c:pt idx="62">
                  <c:v>-3.029040203843633</c:v>
                </c:pt>
                <c:pt idx="63">
                  <c:v>-2.3975093911435823</c:v>
                </c:pt>
                <c:pt idx="64">
                  <c:v>-2.05247663904088</c:v>
                </c:pt>
                <c:pt idx="65">
                  <c:v>-2.0319252601298547</c:v>
                </c:pt>
                <c:pt idx="66">
                  <c:v>-2.3381176757159166</c:v>
                </c:pt>
                <c:pt idx="67">
                  <c:v>-2.9373463546608147</c:v>
                </c:pt>
              </c:numCache>
            </c:numRef>
          </c:val>
          <c:extLst>
            <c:ext xmlns:c16="http://schemas.microsoft.com/office/drawing/2014/chart" uri="{C3380CC4-5D6E-409C-BE32-E72D297353CC}">
              <c16:uniqueId val="{00000001-D6D6-4635-A1CF-B3875A436A8A}"/>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Convertibles</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0"/>
          <c:order val="0"/>
          <c:tx>
            <c:v>Convertibles Historical Avg Discount</c:v>
          </c:tx>
          <c:spPr>
            <a:solidFill>
              <a:srgbClr val="CAAA79"/>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[0]!ConHist</c:f>
              <c:numCache>
                <c:formatCode>0.00%</c:formatCode>
                <c:ptCount val="68"/>
                <c:pt idx="0">
                  <c:v>-4.484991488436411</c:v>
                </c:pt>
                <c:pt idx="1">
                  <c:v>-4.484991488436411</c:v>
                </c:pt>
                <c:pt idx="2">
                  <c:v>-4.484991488436411</c:v>
                </c:pt>
                <c:pt idx="3">
                  <c:v>-4.484991488436411</c:v>
                </c:pt>
                <c:pt idx="4">
                  <c:v>-4.484991488436411</c:v>
                </c:pt>
                <c:pt idx="5">
                  <c:v>-4.484991488436411</c:v>
                </c:pt>
                <c:pt idx="6">
                  <c:v>-4.484991488436411</c:v>
                </c:pt>
                <c:pt idx="7">
                  <c:v>-4.484991488436411</c:v>
                </c:pt>
                <c:pt idx="8">
                  <c:v>-4.484991488436411</c:v>
                </c:pt>
                <c:pt idx="9">
                  <c:v>-4.484991488436411</c:v>
                </c:pt>
                <c:pt idx="10">
                  <c:v>-4.484991488436411</c:v>
                </c:pt>
                <c:pt idx="11">
                  <c:v>-4.484991488436411</c:v>
                </c:pt>
                <c:pt idx="12">
                  <c:v>-4.484991488436411</c:v>
                </c:pt>
                <c:pt idx="13">
                  <c:v>-4.484991488436411</c:v>
                </c:pt>
                <c:pt idx="14">
                  <c:v>-4.484991488436411</c:v>
                </c:pt>
                <c:pt idx="15">
                  <c:v>-4.484991488436411</c:v>
                </c:pt>
                <c:pt idx="16">
                  <c:v>-4.484991488436411</c:v>
                </c:pt>
                <c:pt idx="17">
                  <c:v>-4.484991488436411</c:v>
                </c:pt>
                <c:pt idx="18">
                  <c:v>-4.484991488436411</c:v>
                </c:pt>
                <c:pt idx="19">
                  <c:v>-4.484991488436411</c:v>
                </c:pt>
                <c:pt idx="20">
                  <c:v>-4.484991488436411</c:v>
                </c:pt>
                <c:pt idx="21">
                  <c:v>-4.484991488436411</c:v>
                </c:pt>
                <c:pt idx="22">
                  <c:v>-4.484991488436411</c:v>
                </c:pt>
                <c:pt idx="23">
                  <c:v>-4.484991488436411</c:v>
                </c:pt>
                <c:pt idx="24">
                  <c:v>-4.484991488436411</c:v>
                </c:pt>
                <c:pt idx="25">
                  <c:v>-4.484991488436411</c:v>
                </c:pt>
                <c:pt idx="26">
                  <c:v>-4.484991488436411</c:v>
                </c:pt>
                <c:pt idx="27">
                  <c:v>-4.484991488436411</c:v>
                </c:pt>
                <c:pt idx="28">
                  <c:v>-4.484991488436411</c:v>
                </c:pt>
                <c:pt idx="29">
                  <c:v>-4.484991488436411</c:v>
                </c:pt>
                <c:pt idx="30">
                  <c:v>-4.484991488436411</c:v>
                </c:pt>
                <c:pt idx="31">
                  <c:v>-4.484991488436411</c:v>
                </c:pt>
                <c:pt idx="32">
                  <c:v>-4.484991488436411</c:v>
                </c:pt>
                <c:pt idx="33">
                  <c:v>-4.484991488436411</c:v>
                </c:pt>
                <c:pt idx="34">
                  <c:v>-4.484991488436411</c:v>
                </c:pt>
                <c:pt idx="35">
                  <c:v>-4.484991488436411</c:v>
                </c:pt>
                <c:pt idx="36">
                  <c:v>-4.484991488436411</c:v>
                </c:pt>
                <c:pt idx="37">
                  <c:v>-4.484991488436411</c:v>
                </c:pt>
                <c:pt idx="38">
                  <c:v>-4.484991488436411</c:v>
                </c:pt>
                <c:pt idx="39">
                  <c:v>-4.484991488436411</c:v>
                </c:pt>
                <c:pt idx="40">
                  <c:v>-4.484991488436411</c:v>
                </c:pt>
                <c:pt idx="41">
                  <c:v>-4.484991488436411</c:v>
                </c:pt>
                <c:pt idx="42">
                  <c:v>-4.484991488436411</c:v>
                </c:pt>
                <c:pt idx="43">
                  <c:v>-4.484991488436411</c:v>
                </c:pt>
                <c:pt idx="44">
                  <c:v>-4.484991488436411</c:v>
                </c:pt>
                <c:pt idx="45">
                  <c:v>-4.484991488436411</c:v>
                </c:pt>
                <c:pt idx="46">
                  <c:v>-4.484991488436411</c:v>
                </c:pt>
                <c:pt idx="47">
                  <c:v>-4.484991488436411</c:v>
                </c:pt>
                <c:pt idx="48">
                  <c:v>-4.484991488436411</c:v>
                </c:pt>
                <c:pt idx="49">
                  <c:v>-4.484991488436411</c:v>
                </c:pt>
                <c:pt idx="50">
                  <c:v>-4.484991488436411</c:v>
                </c:pt>
                <c:pt idx="51">
                  <c:v>-4.484991488436411</c:v>
                </c:pt>
                <c:pt idx="52">
                  <c:v>-4.484991488436411</c:v>
                </c:pt>
                <c:pt idx="53">
                  <c:v>-4.484991488436411</c:v>
                </c:pt>
                <c:pt idx="54">
                  <c:v>-4.484991488436411</c:v>
                </c:pt>
                <c:pt idx="55">
                  <c:v>-4.484991488436411</c:v>
                </c:pt>
                <c:pt idx="56">
                  <c:v>-4.484991488436411</c:v>
                </c:pt>
                <c:pt idx="57">
                  <c:v>-4.484991488436411</c:v>
                </c:pt>
                <c:pt idx="58">
                  <c:v>-4.484991488436411</c:v>
                </c:pt>
                <c:pt idx="59">
                  <c:v>-4.484991488436411</c:v>
                </c:pt>
                <c:pt idx="60">
                  <c:v>-4.484991488436411</c:v>
                </c:pt>
                <c:pt idx="61">
                  <c:v>-4.484991488436411</c:v>
                </c:pt>
                <c:pt idx="62">
                  <c:v>-4.484991488436411</c:v>
                </c:pt>
                <c:pt idx="63">
                  <c:v>-4.484991488436411</c:v>
                </c:pt>
                <c:pt idx="64">
                  <c:v>-4.484991488436411</c:v>
                </c:pt>
                <c:pt idx="65">
                  <c:v>-4.484991488436411</c:v>
                </c:pt>
                <c:pt idx="66">
                  <c:v>-4.484991488436411</c:v>
                </c:pt>
                <c:pt idx="67">
                  <c:v>-4.484991488436411</c:v>
                </c:pt>
              </c:numCache>
            </c:numRef>
          </c:val>
          <c:extLst>
            <c:ext xmlns:c16="http://schemas.microsoft.com/office/drawing/2014/chart" uri="{C3380CC4-5D6E-409C-BE32-E72D297353CC}">
              <c16:uniqueId val="{00000000-8497-4AB1-BD21-FFE62C88C275}"/>
            </c:ext>
          </c:extLst>
        </c:ser>
        <c:ser>
          <c:idx val="1"/>
          <c:order val="1"/>
          <c:tx>
            <c:v>Convertibles Current Avg Discount</c:v>
          </c:tx>
          <c:spPr>
            <a:solidFill>
              <a:srgbClr val="63666B"/>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[0]!ConAvg</c:f>
              <c:numCache>
                <c:formatCode>0.00%</c:formatCode>
                <c:ptCount val="68"/>
                <c:pt idx="0">
                  <c:v>-2.3975093911435823</c:v>
                </c:pt>
                <c:pt idx="1">
                  <c:v>-2.05247663904088</c:v>
                </c:pt>
                <c:pt idx="2">
                  <c:v>-2.0319252601298547</c:v>
                </c:pt>
                <c:pt idx="3">
                  <c:v>-2.3381176757159166</c:v>
                </c:pt>
                <c:pt idx="4">
                  <c:v>-2.9373463546608147</c:v>
                </c:pt>
                <c:pt idx="5">
                  <c:v>-3.7636445442747304</c:v>
                </c:pt>
                <c:pt idx="6">
                  <c:v>-4.726048293335752</c:v>
                </c:pt>
                <c:pt idx="7">
                  <c:v>-5.718610319390947</c:v>
                </c:pt>
                <c:pt idx="8">
                  <c:v>-6.6320633326681095</c:v>
                </c:pt>
                <c:pt idx="9">
                  <c:v>-7.365848846669673</c:v>
                </c:pt>
                <c:pt idx="10">
                  <c:v>-7.839187270514324</c:v>
                </c:pt>
                <c:pt idx="11">
                  <c:v>-7.99997061965211</c:v>
                </c:pt>
                <c:pt idx="12">
                  <c:v>-2.3975093911435823</c:v>
                </c:pt>
                <c:pt idx="13">
                  <c:v>-2.05247663904088</c:v>
                </c:pt>
                <c:pt idx="14">
                  <c:v>-2.0319252601298547</c:v>
                </c:pt>
                <c:pt idx="15">
                  <c:v>-2.3381176757159166</c:v>
                </c:pt>
                <c:pt idx="16">
                  <c:v>-2.9373463546608147</c:v>
                </c:pt>
                <c:pt idx="17">
                  <c:v>-3.7636445442747304</c:v>
                </c:pt>
                <c:pt idx="18">
                  <c:v>-4.726048293335752</c:v>
                </c:pt>
                <c:pt idx="19">
                  <c:v>-5.718610319390947</c:v>
                </c:pt>
                <c:pt idx="20">
                  <c:v>-6.6320633326681095</c:v>
                </c:pt>
                <c:pt idx="21">
                  <c:v>-7.365848846669673</c:v>
                </c:pt>
                <c:pt idx="22">
                  <c:v>-7.839187270514324</c:v>
                </c:pt>
                <c:pt idx="23">
                  <c:v>-7.99997061965211</c:v>
                </c:pt>
                <c:pt idx="24">
                  <c:v>-2.3975093911435823</c:v>
                </c:pt>
                <c:pt idx="25">
                  <c:v>-2.05247663904088</c:v>
                </c:pt>
                <c:pt idx="26">
                  <c:v>-2.0319252601298547</c:v>
                </c:pt>
                <c:pt idx="27">
                  <c:v>-2.3381176757159166</c:v>
                </c:pt>
                <c:pt idx="28">
                  <c:v>-2.9373463546608147</c:v>
                </c:pt>
                <c:pt idx="29">
                  <c:v>-3.7636445442747304</c:v>
                </c:pt>
                <c:pt idx="30">
                  <c:v>-4.726048293335752</c:v>
                </c:pt>
                <c:pt idx="31">
                  <c:v>-5.718610319390947</c:v>
                </c:pt>
                <c:pt idx="32">
                  <c:v>-6.6320633326681095</c:v>
                </c:pt>
                <c:pt idx="33">
                  <c:v>-7.365848846669673</c:v>
                </c:pt>
                <c:pt idx="34">
                  <c:v>-7.839187270514324</c:v>
                </c:pt>
                <c:pt idx="35">
                  <c:v>-7.99997061965211</c:v>
                </c:pt>
                <c:pt idx="36">
                  <c:v>-2.3975093911435823</c:v>
                </c:pt>
                <c:pt idx="37">
                  <c:v>-2.05247663904088</c:v>
                </c:pt>
                <c:pt idx="38">
                  <c:v>-2.0319252601298547</c:v>
                </c:pt>
                <c:pt idx="39">
                  <c:v>-2.3381176757159166</c:v>
                </c:pt>
                <c:pt idx="40">
                  <c:v>-2.9373463546608147</c:v>
                </c:pt>
                <c:pt idx="41">
                  <c:v>-3.7636445442747304</c:v>
                </c:pt>
                <c:pt idx="42">
                  <c:v>-4.726048293335752</c:v>
                </c:pt>
                <c:pt idx="43">
                  <c:v>-5.718610319390947</c:v>
                </c:pt>
                <c:pt idx="44">
                  <c:v>-6.6320633326681095</c:v>
                </c:pt>
                <c:pt idx="45">
                  <c:v>-7.365848846669673</c:v>
                </c:pt>
                <c:pt idx="46">
                  <c:v>-7.839187270514324</c:v>
                </c:pt>
                <c:pt idx="47">
                  <c:v>-7.99997061965211</c:v>
                </c:pt>
                <c:pt idx="48">
                  <c:v>-2.3975093911435823</c:v>
                </c:pt>
                <c:pt idx="49">
                  <c:v>-2.05247663904088</c:v>
                </c:pt>
                <c:pt idx="50">
                  <c:v>-2.0319252601298547</c:v>
                </c:pt>
                <c:pt idx="51">
                  <c:v>-2.3381176757159166</c:v>
                </c:pt>
                <c:pt idx="52">
                  <c:v>-2.9373463546608147</c:v>
                </c:pt>
                <c:pt idx="53">
                  <c:v>-3.7636445442747304</c:v>
                </c:pt>
                <c:pt idx="54">
                  <c:v>-4.726048293335752</c:v>
                </c:pt>
                <c:pt idx="55">
                  <c:v>-5.718610319390947</c:v>
                </c:pt>
                <c:pt idx="56">
                  <c:v>-6.6320633326681095</c:v>
                </c:pt>
                <c:pt idx="57">
                  <c:v>-7.365848846669673</c:v>
                </c:pt>
                <c:pt idx="58">
                  <c:v>-7.839187270514324</c:v>
                </c:pt>
                <c:pt idx="59">
                  <c:v>-7.99997061965211</c:v>
                </c:pt>
                <c:pt idx="60">
                  <c:v>-2.3975093911435823</c:v>
                </c:pt>
                <c:pt idx="61">
                  <c:v>-2.05247663904088</c:v>
                </c:pt>
                <c:pt idx="62">
                  <c:v>-2.0319252601298547</c:v>
                </c:pt>
                <c:pt idx="63">
                  <c:v>-2.3381176757159166</c:v>
                </c:pt>
                <c:pt idx="64">
                  <c:v>-2.9373463546608147</c:v>
                </c:pt>
                <c:pt idx="65">
                  <c:v>-3.7636445442747304</c:v>
                </c:pt>
                <c:pt idx="66">
                  <c:v>-4.726048293335752</c:v>
                </c:pt>
                <c:pt idx="67">
                  <c:v>-5.718610319390947</c:v>
                </c:pt>
              </c:numCache>
            </c:numRef>
          </c:val>
          <c:extLst>
            <c:ext xmlns:c16="http://schemas.microsoft.com/office/drawing/2014/chart" uri="{C3380CC4-5D6E-409C-BE32-E72D297353CC}">
              <c16:uniqueId val="{00000001-8497-4AB1-BD21-FFE62C88C275}"/>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no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a:t>Foreign</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areaChart>
        <c:grouping val="standard"/>
        <c:varyColors val="0"/>
        <c:ser>
          <c:idx val="0"/>
          <c:order val="0"/>
          <c:tx>
            <c:v>Foreign Historical Avg Discount</c:v>
          </c:tx>
          <c:spPr>
            <a:solidFill>
              <a:srgbClr val="CAAA79"/>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[0]!ForHist</c:f>
              <c:numCache>
                <c:formatCode>0.00%</c:formatCode>
                <c:ptCount val="68"/>
                <c:pt idx="0">
                  <c:v>-5.836371820447497</c:v>
                </c:pt>
                <c:pt idx="1">
                  <c:v>-5.836371820447497</c:v>
                </c:pt>
                <c:pt idx="2">
                  <c:v>-5.836371820447497</c:v>
                </c:pt>
                <c:pt idx="3">
                  <c:v>-5.836371820447497</c:v>
                </c:pt>
                <c:pt idx="4">
                  <c:v>-5.836371820447497</c:v>
                </c:pt>
                <c:pt idx="5">
                  <c:v>-5.836371820447497</c:v>
                </c:pt>
                <c:pt idx="6">
                  <c:v>-5.836371820447497</c:v>
                </c:pt>
                <c:pt idx="7">
                  <c:v>-5.836371820447497</c:v>
                </c:pt>
                <c:pt idx="8">
                  <c:v>-5.836371820447497</c:v>
                </c:pt>
                <c:pt idx="9">
                  <c:v>-5.836371820447497</c:v>
                </c:pt>
                <c:pt idx="10">
                  <c:v>-5.836371820447497</c:v>
                </c:pt>
                <c:pt idx="11">
                  <c:v>-5.836371820447497</c:v>
                </c:pt>
                <c:pt idx="12">
                  <c:v>-5.836371820447497</c:v>
                </c:pt>
                <c:pt idx="13">
                  <c:v>-5.836371820447497</c:v>
                </c:pt>
                <c:pt idx="14">
                  <c:v>-5.836371820447497</c:v>
                </c:pt>
                <c:pt idx="15">
                  <c:v>-5.836371820447497</c:v>
                </c:pt>
                <c:pt idx="16">
                  <c:v>-5.836371820447497</c:v>
                </c:pt>
                <c:pt idx="17">
                  <c:v>-5.836371820447497</c:v>
                </c:pt>
                <c:pt idx="18">
                  <c:v>-5.836371820447497</c:v>
                </c:pt>
                <c:pt idx="19">
                  <c:v>-5.836371820447497</c:v>
                </c:pt>
                <c:pt idx="20">
                  <c:v>-5.836371820447497</c:v>
                </c:pt>
                <c:pt idx="21">
                  <c:v>-5.836371820447497</c:v>
                </c:pt>
                <c:pt idx="22">
                  <c:v>-5.836371820447497</c:v>
                </c:pt>
                <c:pt idx="23">
                  <c:v>-5.836371820447497</c:v>
                </c:pt>
                <c:pt idx="24">
                  <c:v>-5.836371820447497</c:v>
                </c:pt>
                <c:pt idx="25">
                  <c:v>-5.836371820447497</c:v>
                </c:pt>
                <c:pt idx="26">
                  <c:v>-5.836371820447497</c:v>
                </c:pt>
                <c:pt idx="27">
                  <c:v>-5.836371820447497</c:v>
                </c:pt>
                <c:pt idx="28">
                  <c:v>-5.836371820447497</c:v>
                </c:pt>
                <c:pt idx="29">
                  <c:v>-5.836371820447497</c:v>
                </c:pt>
                <c:pt idx="30">
                  <c:v>-5.836371820447497</c:v>
                </c:pt>
                <c:pt idx="31">
                  <c:v>-5.836371820447497</c:v>
                </c:pt>
                <c:pt idx="32">
                  <c:v>-5.836371820447497</c:v>
                </c:pt>
                <c:pt idx="33">
                  <c:v>-5.836371820447497</c:v>
                </c:pt>
                <c:pt idx="34">
                  <c:v>-5.836371820447497</c:v>
                </c:pt>
                <c:pt idx="35">
                  <c:v>-5.836371820447497</c:v>
                </c:pt>
                <c:pt idx="36">
                  <c:v>-5.836371820447497</c:v>
                </c:pt>
                <c:pt idx="37">
                  <c:v>-5.836371820447497</c:v>
                </c:pt>
                <c:pt idx="38">
                  <c:v>-5.836371820447497</c:v>
                </c:pt>
                <c:pt idx="39">
                  <c:v>-5.836371820447497</c:v>
                </c:pt>
                <c:pt idx="40">
                  <c:v>-5.836371820447497</c:v>
                </c:pt>
                <c:pt idx="41">
                  <c:v>-5.836371820447497</c:v>
                </c:pt>
                <c:pt idx="42">
                  <c:v>-5.836371820447497</c:v>
                </c:pt>
                <c:pt idx="43">
                  <c:v>-5.836371820447497</c:v>
                </c:pt>
                <c:pt idx="44">
                  <c:v>-5.836371820447497</c:v>
                </c:pt>
                <c:pt idx="45">
                  <c:v>-5.836371820447497</c:v>
                </c:pt>
                <c:pt idx="46">
                  <c:v>-5.836371820447497</c:v>
                </c:pt>
                <c:pt idx="47">
                  <c:v>-5.836371820447497</c:v>
                </c:pt>
                <c:pt idx="48">
                  <c:v>-5.836371820447497</c:v>
                </c:pt>
                <c:pt idx="49">
                  <c:v>-5.836371820447497</c:v>
                </c:pt>
                <c:pt idx="50">
                  <c:v>-5.836371820447497</c:v>
                </c:pt>
                <c:pt idx="51">
                  <c:v>-5.836371820447497</c:v>
                </c:pt>
                <c:pt idx="52">
                  <c:v>-5.836371820447497</c:v>
                </c:pt>
                <c:pt idx="53">
                  <c:v>-5.836371820447497</c:v>
                </c:pt>
                <c:pt idx="54">
                  <c:v>-5.836371820447497</c:v>
                </c:pt>
                <c:pt idx="55">
                  <c:v>-5.836371820447497</c:v>
                </c:pt>
                <c:pt idx="56">
                  <c:v>-5.836371820447497</c:v>
                </c:pt>
                <c:pt idx="57">
                  <c:v>-5.836371820447497</c:v>
                </c:pt>
                <c:pt idx="58">
                  <c:v>-5.836371820447497</c:v>
                </c:pt>
                <c:pt idx="59">
                  <c:v>-5.836371820447497</c:v>
                </c:pt>
                <c:pt idx="60">
                  <c:v>-5.836371820447497</c:v>
                </c:pt>
                <c:pt idx="61">
                  <c:v>-5.836371820447497</c:v>
                </c:pt>
                <c:pt idx="62">
                  <c:v>-5.836371820447497</c:v>
                </c:pt>
                <c:pt idx="63">
                  <c:v>-5.836371820447497</c:v>
                </c:pt>
                <c:pt idx="64">
                  <c:v>-5.836371820447497</c:v>
                </c:pt>
                <c:pt idx="65">
                  <c:v>-5.836371820447497</c:v>
                </c:pt>
                <c:pt idx="66">
                  <c:v>-5.836371820447497</c:v>
                </c:pt>
                <c:pt idx="67">
                  <c:v>-5.836371820447497</c:v>
                </c:pt>
              </c:numCache>
            </c:numRef>
          </c:val>
          <c:extLst>
            <c:ext xmlns:c16="http://schemas.microsoft.com/office/drawing/2014/chart" uri="{C3380CC4-5D6E-409C-BE32-E72D297353CC}">
              <c16:uniqueId val="{00000000-24F8-4467-8117-F31469B138B5}"/>
            </c:ext>
          </c:extLst>
        </c:ser>
        <c:ser>
          <c:idx val="1"/>
          <c:order val="1"/>
          <c:tx>
            <c:v>Foreign Current Avg Discount</c:v>
          </c:tx>
          <c:spPr>
            <a:solidFill>
              <a:srgbClr val="63666B"/>
            </a:solidFill>
            <a:ln w="25400" cap="flat" cmpd="sng" algn="ctr">
              <a:noFill/>
              <a:round/>
            </a:ln>
            <a:effectLst/>
          </c:spPr>
          <c:cat>
            <c:strRef>
              <c:f>[0]!Date</c:f>
              <c:strCache>
                <c:ptCount val="68"/>
                <c:pt idx="0">
                  <c:v>Jan-20</c:v>
                </c:pt>
                <c:pt idx="1">
                  <c:v>Feb-20</c:v>
                </c:pt>
                <c:pt idx="2">
                  <c:v>Mar-20</c:v>
                </c:pt>
                <c:pt idx="3">
                  <c:v>Apr-20</c:v>
                </c:pt>
                <c:pt idx="4">
                  <c:v>May-20</c:v>
                </c:pt>
                <c:pt idx="5">
                  <c:v>Jun-20</c:v>
                </c:pt>
                <c:pt idx="6">
                  <c:v>Jul-20</c:v>
                </c:pt>
                <c:pt idx="7">
                  <c:v>Aug-20</c:v>
                </c:pt>
                <c:pt idx="8">
                  <c:v>Sep-20</c:v>
                </c:pt>
                <c:pt idx="9">
                  <c:v>Oct-20</c:v>
                </c:pt>
                <c:pt idx="10">
                  <c:v>Nov-20</c:v>
                </c:pt>
                <c:pt idx="11">
                  <c:v>Dec-20</c:v>
                </c:pt>
                <c:pt idx="12">
                  <c:v>Jan-21</c:v>
                </c:pt>
                <c:pt idx="13">
                  <c:v>Feb-21</c:v>
                </c:pt>
                <c:pt idx="14">
                  <c:v>Mar-21</c:v>
                </c:pt>
                <c:pt idx="15">
                  <c:v>Apr-21</c:v>
                </c:pt>
                <c:pt idx="16">
                  <c:v>May-21</c:v>
                </c:pt>
                <c:pt idx="17">
                  <c:v>Jun-21</c:v>
                </c:pt>
                <c:pt idx="18">
                  <c:v>Jul-21</c:v>
                </c:pt>
                <c:pt idx="19">
                  <c:v>Aug-21</c:v>
                </c:pt>
                <c:pt idx="20">
                  <c:v>Sep-21</c:v>
                </c:pt>
                <c:pt idx="21">
                  <c:v>Oct-21</c:v>
                </c:pt>
                <c:pt idx="22">
                  <c:v>Nov-21</c:v>
                </c:pt>
                <c:pt idx="23">
                  <c:v>Dec-21</c:v>
                </c:pt>
                <c:pt idx="24">
                  <c:v>Jan-22</c:v>
                </c:pt>
                <c:pt idx="25">
                  <c:v>Feb-22</c:v>
                </c:pt>
                <c:pt idx="26">
                  <c:v>Mar-22</c:v>
                </c:pt>
                <c:pt idx="27">
                  <c:v>Apr-22</c:v>
                </c:pt>
                <c:pt idx="28">
                  <c:v>May-22</c:v>
                </c:pt>
                <c:pt idx="29">
                  <c:v>Jun-22</c:v>
                </c:pt>
                <c:pt idx="30">
                  <c:v>Jul-22</c:v>
                </c:pt>
                <c:pt idx="31">
                  <c:v>Aug-22</c:v>
                </c:pt>
                <c:pt idx="32">
                  <c:v>Sep-22</c:v>
                </c:pt>
                <c:pt idx="33">
                  <c:v>Oct-22</c:v>
                </c:pt>
                <c:pt idx="34">
                  <c:v>Nov-22</c:v>
                </c:pt>
                <c:pt idx="35">
                  <c:v>Dec-22</c:v>
                </c:pt>
                <c:pt idx="36">
                  <c:v>Jan-23</c:v>
                </c:pt>
                <c:pt idx="37">
                  <c:v>Feb-23</c:v>
                </c:pt>
                <c:pt idx="38">
                  <c:v>Mar-23</c:v>
                </c:pt>
                <c:pt idx="39">
                  <c:v>Apr-23</c:v>
                </c:pt>
                <c:pt idx="40">
                  <c:v>May-23</c:v>
                </c:pt>
                <c:pt idx="41">
                  <c:v>Jun-23</c:v>
                </c:pt>
                <c:pt idx="42">
                  <c:v>Jul-23</c:v>
                </c:pt>
                <c:pt idx="43">
                  <c:v>Aug-23</c:v>
                </c:pt>
                <c:pt idx="44">
                  <c:v>Sep-23</c:v>
                </c:pt>
                <c:pt idx="45">
                  <c:v>Oct-23</c:v>
                </c:pt>
                <c:pt idx="46">
                  <c:v>Nov-23</c:v>
                </c:pt>
                <c:pt idx="47">
                  <c:v>Dec-23</c:v>
                </c:pt>
                <c:pt idx="48">
                  <c:v>Jan-24</c:v>
                </c:pt>
                <c:pt idx="49">
                  <c:v>Feb-24</c:v>
                </c:pt>
                <c:pt idx="50">
                  <c:v>Mar-24</c:v>
                </c:pt>
                <c:pt idx="51">
                  <c:v>Apr-24</c:v>
                </c:pt>
                <c:pt idx="52">
                  <c:v>May-24</c:v>
                </c:pt>
                <c:pt idx="53">
                  <c:v>Jun-24</c:v>
                </c:pt>
                <c:pt idx="54">
                  <c:v>Jul-24</c:v>
                </c:pt>
                <c:pt idx="55">
                  <c:v>Aug-24</c:v>
                </c:pt>
                <c:pt idx="56">
                  <c:v>Sep-24</c:v>
                </c:pt>
                <c:pt idx="57">
                  <c:v>Oct-24</c:v>
                </c:pt>
                <c:pt idx="58">
                  <c:v>Nov-24</c:v>
                </c:pt>
                <c:pt idx="59">
                  <c:v>Dec-24</c:v>
                </c:pt>
                <c:pt idx="60">
                  <c:v>Jan-25</c:v>
                </c:pt>
                <c:pt idx="61">
                  <c:v>Feb-25</c:v>
                </c:pt>
                <c:pt idx="62">
                  <c:v>Mar-25</c:v>
                </c:pt>
                <c:pt idx="63">
                  <c:v>Apr-25</c:v>
                </c:pt>
                <c:pt idx="64">
                  <c:v>May-25</c:v>
                </c:pt>
                <c:pt idx="65">
                  <c:v>Jun-25</c:v>
                </c:pt>
                <c:pt idx="66">
                  <c:v>Jul-25</c:v>
                </c:pt>
                <c:pt idx="67">
                  <c:v>Aug-25</c:v>
                </c:pt>
              </c:strCache>
            </c:strRef>
          </c:cat>
          <c:val>
            <c:numRef>
              <c:f>[0]!ForAvg</c:f>
              <c:numCache>
                <c:formatCode>0.00%</c:formatCode>
                <c:ptCount val="68"/>
                <c:pt idx="0">
                  <c:v>-2.3381176757159166</c:v>
                </c:pt>
                <c:pt idx="1">
                  <c:v>-2.9373463546608147</c:v>
                </c:pt>
                <c:pt idx="2">
                  <c:v>-3.7636445442747304</c:v>
                </c:pt>
                <c:pt idx="3">
                  <c:v>-4.726048293335752</c:v>
                </c:pt>
                <c:pt idx="4">
                  <c:v>-5.718610319390947</c:v>
                </c:pt>
                <c:pt idx="5">
                  <c:v>-6.6320633326681095</c:v>
                </c:pt>
                <c:pt idx="6">
                  <c:v>-7.365848846669673</c:v>
                </c:pt>
                <c:pt idx="7">
                  <c:v>-7.839187270514324</c:v>
                </c:pt>
                <c:pt idx="8">
                  <c:v>-7.99997061965211</c:v>
                </c:pt>
                <c:pt idx="9">
                  <c:v>-7.830498881046454</c:v>
                </c:pt>
                <c:pt idx="10">
                  <c:v>-7.34942853870977</c:v>
                </c:pt>
                <c:pt idx="11">
                  <c:v>-6.609718754001305</c:v>
                </c:pt>
                <c:pt idx="12">
                  <c:v>-2.3381176757159166</c:v>
                </c:pt>
                <c:pt idx="13">
                  <c:v>-2.9373463546608147</c:v>
                </c:pt>
                <c:pt idx="14">
                  <c:v>-3.7636445442747304</c:v>
                </c:pt>
                <c:pt idx="15">
                  <c:v>-4.726048293335752</c:v>
                </c:pt>
                <c:pt idx="16">
                  <c:v>-5.718610319390947</c:v>
                </c:pt>
                <c:pt idx="17">
                  <c:v>-6.6320633326681095</c:v>
                </c:pt>
                <c:pt idx="18">
                  <c:v>-7.365848846669673</c:v>
                </c:pt>
                <c:pt idx="19">
                  <c:v>-7.839187270514324</c:v>
                </c:pt>
                <c:pt idx="20">
                  <c:v>-7.99997061965211</c:v>
                </c:pt>
                <c:pt idx="21">
                  <c:v>-7.830498881046454</c:v>
                </c:pt>
                <c:pt idx="22">
                  <c:v>-7.34942853870977</c:v>
                </c:pt>
                <c:pt idx="23">
                  <c:v>-6.609718754001305</c:v>
                </c:pt>
                <c:pt idx="24">
                  <c:v>-2.3381176757159166</c:v>
                </c:pt>
                <c:pt idx="25">
                  <c:v>-2.9373463546608147</c:v>
                </c:pt>
                <c:pt idx="26">
                  <c:v>-3.7636445442747304</c:v>
                </c:pt>
                <c:pt idx="27">
                  <c:v>-4.726048293335752</c:v>
                </c:pt>
                <c:pt idx="28">
                  <c:v>-5.718610319390947</c:v>
                </c:pt>
                <c:pt idx="29">
                  <c:v>-6.6320633326681095</c:v>
                </c:pt>
                <c:pt idx="30">
                  <c:v>-7.365848846669673</c:v>
                </c:pt>
                <c:pt idx="31">
                  <c:v>-7.839187270514324</c:v>
                </c:pt>
                <c:pt idx="32">
                  <c:v>-7.99997061965211</c:v>
                </c:pt>
                <c:pt idx="33">
                  <c:v>-7.830498881046454</c:v>
                </c:pt>
                <c:pt idx="34">
                  <c:v>-7.34942853870977</c:v>
                </c:pt>
                <c:pt idx="35">
                  <c:v>-6.609718754001305</c:v>
                </c:pt>
                <c:pt idx="36">
                  <c:v>-2.3381176757159166</c:v>
                </c:pt>
                <c:pt idx="37">
                  <c:v>-2.9373463546608147</c:v>
                </c:pt>
                <c:pt idx="38">
                  <c:v>-3.7636445442747304</c:v>
                </c:pt>
                <c:pt idx="39">
                  <c:v>-4.726048293335752</c:v>
                </c:pt>
                <c:pt idx="40">
                  <c:v>-5.718610319390947</c:v>
                </c:pt>
                <c:pt idx="41">
                  <c:v>-6.6320633326681095</c:v>
                </c:pt>
                <c:pt idx="42">
                  <c:v>-7.365848846669673</c:v>
                </c:pt>
                <c:pt idx="43">
                  <c:v>-7.839187270514324</c:v>
                </c:pt>
                <c:pt idx="44">
                  <c:v>-7.99997061965211</c:v>
                </c:pt>
                <c:pt idx="45">
                  <c:v>-7.830498881046454</c:v>
                </c:pt>
                <c:pt idx="46">
                  <c:v>-7.34942853870977</c:v>
                </c:pt>
                <c:pt idx="47">
                  <c:v>-6.609718754001305</c:v>
                </c:pt>
                <c:pt idx="48">
                  <c:v>-2.3381176757159166</c:v>
                </c:pt>
                <c:pt idx="49">
                  <c:v>-2.9373463546608147</c:v>
                </c:pt>
                <c:pt idx="50">
                  <c:v>-3.7636445442747304</c:v>
                </c:pt>
                <c:pt idx="51">
                  <c:v>-4.726048293335752</c:v>
                </c:pt>
                <c:pt idx="52">
                  <c:v>-5.718610319390947</c:v>
                </c:pt>
                <c:pt idx="53">
                  <c:v>-6.6320633326681095</c:v>
                </c:pt>
                <c:pt idx="54">
                  <c:v>-7.365848846669673</c:v>
                </c:pt>
                <c:pt idx="55">
                  <c:v>-7.839187270514324</c:v>
                </c:pt>
                <c:pt idx="56">
                  <c:v>-7.99997061965211</c:v>
                </c:pt>
                <c:pt idx="57">
                  <c:v>-7.830498881046454</c:v>
                </c:pt>
                <c:pt idx="58">
                  <c:v>-7.34942853870977</c:v>
                </c:pt>
                <c:pt idx="59">
                  <c:v>-6.609718754001305</c:v>
                </c:pt>
                <c:pt idx="60">
                  <c:v>-2.3381176757159166</c:v>
                </c:pt>
                <c:pt idx="61">
                  <c:v>-2.9373463546608147</c:v>
                </c:pt>
                <c:pt idx="62">
                  <c:v>-3.7636445442747304</c:v>
                </c:pt>
                <c:pt idx="63">
                  <c:v>-4.726048293335752</c:v>
                </c:pt>
                <c:pt idx="64">
                  <c:v>-5.718610319390947</c:v>
                </c:pt>
                <c:pt idx="65">
                  <c:v>-6.6320633326681095</c:v>
                </c:pt>
                <c:pt idx="66">
                  <c:v>-7.365848846669673</c:v>
                </c:pt>
                <c:pt idx="67">
                  <c:v>-7.839187270514324</c:v>
                </c:pt>
              </c:numCache>
            </c:numRef>
          </c:val>
          <c:extLst>
            <c:ext xmlns:c16="http://schemas.microsoft.com/office/drawing/2014/chart" uri="{C3380CC4-5D6E-409C-BE32-E72D297353CC}">
              <c16:uniqueId val="{00000001-24F8-4467-8117-F31469B138B5}"/>
            </c:ext>
          </c:extLst>
        </c:ser>
        <c:dLbls>
          <c:showLegendKey val="0"/>
          <c:showVal val="0"/>
          <c:showCatName val="0"/>
          <c:showSerName val="0"/>
          <c:showPercent val="0"/>
          <c:showBubbleSize val="0"/>
        </c:dLbls>
        <c:axId val="1926511072"/>
        <c:axId val="1313552832"/>
        <c:extLst/>
      </c:areaChart>
      <c:dateAx>
        <c:axId val="1926511072"/>
        <c:scaling>
          <c:orientation val="minMax"/>
        </c:scaling>
        <c:delete val="0"/>
        <c:axPos val="b"/>
        <c:numFmt formatCode="General" sourceLinked="1"/>
        <c:majorTickMark val="none"/>
        <c:minorTickMark val="none"/>
        <c:tickLblPos val="low"/>
        <c:spPr>
          <a:noFill/>
          <a:ln w="9525" cap="flat" cmpd="sng" algn="ctr">
            <a:noFill/>
            <a:round/>
          </a:ln>
          <a:effectLst/>
        </c:spPr>
        <c:txPr>
          <a:bodyPr rot="-900000" spcFirstLastPara="1" vertOverflow="ellipsis"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313552832"/>
        <c:crossesAt val="0"/>
        <c:auto val="0"/>
        <c:lblOffset val="100"/>
        <c:baseTimeUnit val="days"/>
        <c:majorUnit val="7"/>
        <c:majorTimeUnit val="months"/>
        <c:minorUnit val="6"/>
      </c:dateAx>
      <c:valAx>
        <c:axId val="131355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92651107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withinLinear" id="14">
  <a:schemeClr val="accent1"/>
</cs:colorStyle>
</file>

<file path=ppt/charts/colors5.xml><?xml version="1.0" encoding="utf-8"?>
<cs:colorStyle xmlns:cs="http://schemas.microsoft.com/office/drawing/2012/chartStyle" xmlns:a="http://schemas.openxmlformats.org/drawingml/2006/main" meth="withinLinear" id="14">
  <a:schemeClr val="accent1"/>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withinLinear" id="14">
  <a:schemeClr val="accent1"/>
</cs:colorStyle>
</file>

<file path=ppt/charts/colors9.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80">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D6E928-1F6B-49DB-AC0A-944059B0678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21EB55D-0C04-491B-99C8-2F8E16BCC79C}">
      <dgm:prSet phldrT="[Text]" custT="1"/>
      <dgm:spPr>
        <a:solidFill>
          <a:srgbClr val="63666B"/>
        </a:solidFill>
      </dgm:spPr>
      <dgm:t>
        <a:bodyPr/>
        <a:lstStyle/>
        <a:p>
          <a:r>
            <a:rPr lang="en-US" sz="1600" dirty="0"/>
            <a:t>Shares can be bought at deep discounts to NAV</a:t>
          </a:r>
        </a:p>
      </dgm:t>
    </dgm:pt>
    <dgm:pt modelId="{77A37428-F3F8-40C7-9D43-48A1391A8397}" type="parTrans" cxnId="{E6FB3DEE-0AC6-4705-9672-9EEEE593F077}">
      <dgm:prSet/>
      <dgm:spPr/>
      <dgm:t>
        <a:bodyPr/>
        <a:lstStyle/>
        <a:p>
          <a:endParaRPr lang="en-US"/>
        </a:p>
      </dgm:t>
    </dgm:pt>
    <dgm:pt modelId="{29741418-197D-4C6C-A3BD-E19688E801B0}" type="sibTrans" cxnId="{E6FB3DEE-0AC6-4705-9672-9EEEE593F077}">
      <dgm:prSet/>
      <dgm:spPr/>
      <dgm:t>
        <a:bodyPr/>
        <a:lstStyle/>
        <a:p>
          <a:endParaRPr lang="en-US"/>
        </a:p>
      </dgm:t>
    </dgm:pt>
    <dgm:pt modelId="{658AF00C-8A1B-49ED-97BF-3641D48C7CA5}">
      <dgm:prSet phldrT="[Text]" custT="1"/>
      <dgm:spPr>
        <a:solidFill>
          <a:srgbClr val="63666B"/>
        </a:solidFill>
      </dgm:spPr>
      <dgm:t>
        <a:bodyPr/>
        <a:lstStyle/>
        <a:p>
          <a:r>
            <a:rPr lang="en-US" sz="1600" dirty="0"/>
            <a:t>Higher yields compared to open-end funds</a:t>
          </a:r>
        </a:p>
      </dgm:t>
    </dgm:pt>
    <dgm:pt modelId="{839B1E70-63F6-4251-9A9D-798D700D1001}" type="parTrans" cxnId="{567DC0FF-4877-452F-95EE-7BD90BDE5699}">
      <dgm:prSet/>
      <dgm:spPr/>
      <dgm:t>
        <a:bodyPr/>
        <a:lstStyle/>
        <a:p>
          <a:endParaRPr lang="en-US"/>
        </a:p>
      </dgm:t>
    </dgm:pt>
    <dgm:pt modelId="{15C76B2C-6C62-4E8F-B96D-4BE747CCA3E1}" type="sibTrans" cxnId="{567DC0FF-4877-452F-95EE-7BD90BDE5699}">
      <dgm:prSet/>
      <dgm:spPr/>
      <dgm:t>
        <a:bodyPr/>
        <a:lstStyle/>
        <a:p>
          <a:endParaRPr lang="en-US"/>
        </a:p>
      </dgm:t>
    </dgm:pt>
    <dgm:pt modelId="{1466976B-4D50-42DF-AE3C-68BD10AAC70E}">
      <dgm:prSet phldrT="[Text]" custT="1"/>
      <dgm:spPr>
        <a:solidFill>
          <a:srgbClr val="63666B"/>
        </a:solidFill>
      </dgm:spPr>
      <dgm:t>
        <a:bodyPr/>
        <a:lstStyle/>
        <a:p>
          <a:r>
            <a:rPr lang="en-US" sz="1600" dirty="0"/>
            <a:t>Stable capital base</a:t>
          </a:r>
        </a:p>
      </dgm:t>
    </dgm:pt>
    <dgm:pt modelId="{DA807E29-9E65-4B2B-8C0D-3628C989894F}" type="parTrans" cxnId="{E98CC4CE-CDBC-41A3-A3F8-B6D23AED1741}">
      <dgm:prSet/>
      <dgm:spPr/>
      <dgm:t>
        <a:bodyPr/>
        <a:lstStyle/>
        <a:p>
          <a:endParaRPr lang="en-US"/>
        </a:p>
      </dgm:t>
    </dgm:pt>
    <dgm:pt modelId="{48942268-B72B-4757-A9BF-0A6FA7AFE1F2}" type="sibTrans" cxnId="{E98CC4CE-CDBC-41A3-A3F8-B6D23AED1741}">
      <dgm:prSet/>
      <dgm:spPr/>
      <dgm:t>
        <a:bodyPr/>
        <a:lstStyle/>
        <a:p>
          <a:endParaRPr lang="en-US"/>
        </a:p>
      </dgm:t>
    </dgm:pt>
    <dgm:pt modelId="{224F9932-1B54-4DFC-9FE6-1D336122C885}">
      <dgm:prSet phldrT="[Text]" custT="1"/>
      <dgm:spPr>
        <a:solidFill>
          <a:srgbClr val="63666B"/>
        </a:solidFill>
      </dgm:spPr>
      <dgm:t>
        <a:bodyPr/>
        <a:lstStyle/>
        <a:p>
          <a:r>
            <a:rPr lang="en-US" sz="1600" dirty="0"/>
            <a:t>Limited capacity prevents large investment managers from accessing CEFs</a:t>
          </a:r>
        </a:p>
      </dgm:t>
    </dgm:pt>
    <dgm:pt modelId="{C210EEA6-E77C-4D73-978E-F207A96307B6}" type="parTrans" cxnId="{C6AB66AB-0C83-4AF5-BE1B-51DCC7171C95}">
      <dgm:prSet/>
      <dgm:spPr/>
      <dgm:t>
        <a:bodyPr/>
        <a:lstStyle/>
        <a:p>
          <a:endParaRPr lang="en-US"/>
        </a:p>
      </dgm:t>
    </dgm:pt>
    <dgm:pt modelId="{EA58C955-15A5-40E5-9F26-14914C5B7FAA}" type="sibTrans" cxnId="{C6AB66AB-0C83-4AF5-BE1B-51DCC7171C95}">
      <dgm:prSet/>
      <dgm:spPr/>
      <dgm:t>
        <a:bodyPr/>
        <a:lstStyle/>
        <a:p>
          <a:endParaRPr lang="en-US"/>
        </a:p>
      </dgm:t>
    </dgm:pt>
    <dgm:pt modelId="{EB25678A-073C-4D7C-815B-5B50EDFDC4C3}" type="pres">
      <dgm:prSet presAssocID="{BAD6E928-1F6B-49DB-AC0A-944059B06787}" presName="linear" presStyleCnt="0">
        <dgm:presLayoutVars>
          <dgm:dir/>
          <dgm:animLvl val="lvl"/>
          <dgm:resizeHandles val="exact"/>
        </dgm:presLayoutVars>
      </dgm:prSet>
      <dgm:spPr/>
    </dgm:pt>
    <dgm:pt modelId="{58D02000-B03A-449C-8DA8-9321138EC4F2}" type="pres">
      <dgm:prSet presAssocID="{C21EB55D-0C04-491B-99C8-2F8E16BCC79C}" presName="parentLin" presStyleCnt="0"/>
      <dgm:spPr/>
    </dgm:pt>
    <dgm:pt modelId="{C902F810-88C9-4D42-98B3-90E1DE634A86}" type="pres">
      <dgm:prSet presAssocID="{C21EB55D-0C04-491B-99C8-2F8E16BCC79C}" presName="parentLeftMargin" presStyleLbl="node1" presStyleIdx="0" presStyleCnt="4"/>
      <dgm:spPr/>
    </dgm:pt>
    <dgm:pt modelId="{63C3CBB4-BB8A-41E8-9BA3-81CD5ECAE65F}" type="pres">
      <dgm:prSet presAssocID="{C21EB55D-0C04-491B-99C8-2F8E16BCC79C}" presName="parentText" presStyleLbl="node1" presStyleIdx="0" presStyleCnt="4">
        <dgm:presLayoutVars>
          <dgm:chMax val="0"/>
          <dgm:bulletEnabled val="1"/>
        </dgm:presLayoutVars>
      </dgm:prSet>
      <dgm:spPr/>
    </dgm:pt>
    <dgm:pt modelId="{5934874A-9B43-40F4-856C-69E615F19672}" type="pres">
      <dgm:prSet presAssocID="{C21EB55D-0C04-491B-99C8-2F8E16BCC79C}" presName="negativeSpace" presStyleCnt="0"/>
      <dgm:spPr/>
    </dgm:pt>
    <dgm:pt modelId="{BC35E943-4056-41DB-8F76-17FFF73BC78B}" type="pres">
      <dgm:prSet presAssocID="{C21EB55D-0C04-491B-99C8-2F8E16BCC79C}" presName="childText" presStyleLbl="conFgAcc1" presStyleIdx="0" presStyleCnt="4" custScaleX="92342">
        <dgm:presLayoutVars>
          <dgm:bulletEnabled val="1"/>
        </dgm:presLayoutVars>
      </dgm:prSet>
      <dgm:spPr>
        <a:ln>
          <a:solidFill>
            <a:srgbClr val="BA9864"/>
          </a:solidFill>
        </a:ln>
      </dgm:spPr>
    </dgm:pt>
    <dgm:pt modelId="{6B68FAE0-C00B-4869-AA7F-8FE3FFEBDF3A}" type="pres">
      <dgm:prSet presAssocID="{29741418-197D-4C6C-A3BD-E19688E801B0}" presName="spaceBetweenRectangles" presStyleCnt="0"/>
      <dgm:spPr/>
    </dgm:pt>
    <dgm:pt modelId="{678B923A-1DED-4030-8DE1-69C0112B0DBB}" type="pres">
      <dgm:prSet presAssocID="{658AF00C-8A1B-49ED-97BF-3641D48C7CA5}" presName="parentLin" presStyleCnt="0"/>
      <dgm:spPr/>
    </dgm:pt>
    <dgm:pt modelId="{0FA3A096-3B8B-4CD4-86FB-C9B5E27016CB}" type="pres">
      <dgm:prSet presAssocID="{658AF00C-8A1B-49ED-97BF-3641D48C7CA5}" presName="parentLeftMargin" presStyleLbl="node1" presStyleIdx="0" presStyleCnt="4"/>
      <dgm:spPr/>
    </dgm:pt>
    <dgm:pt modelId="{89765B68-6812-4923-AB65-E76D2318EC1E}" type="pres">
      <dgm:prSet presAssocID="{658AF00C-8A1B-49ED-97BF-3641D48C7CA5}" presName="parentText" presStyleLbl="node1" presStyleIdx="1" presStyleCnt="4">
        <dgm:presLayoutVars>
          <dgm:chMax val="0"/>
          <dgm:bulletEnabled val="1"/>
        </dgm:presLayoutVars>
      </dgm:prSet>
      <dgm:spPr/>
    </dgm:pt>
    <dgm:pt modelId="{E330C8BE-E90C-4266-912B-2F649B603CE5}" type="pres">
      <dgm:prSet presAssocID="{658AF00C-8A1B-49ED-97BF-3641D48C7CA5}" presName="negativeSpace" presStyleCnt="0"/>
      <dgm:spPr/>
    </dgm:pt>
    <dgm:pt modelId="{1D546B68-9085-4E50-9CE7-0FEF9CA3CB33}" type="pres">
      <dgm:prSet presAssocID="{658AF00C-8A1B-49ED-97BF-3641D48C7CA5}" presName="childText" presStyleLbl="conFgAcc1" presStyleIdx="1" presStyleCnt="4" custScaleX="92342">
        <dgm:presLayoutVars>
          <dgm:bulletEnabled val="1"/>
        </dgm:presLayoutVars>
      </dgm:prSet>
      <dgm:spPr>
        <a:ln>
          <a:solidFill>
            <a:srgbClr val="BA9864"/>
          </a:solidFill>
        </a:ln>
      </dgm:spPr>
    </dgm:pt>
    <dgm:pt modelId="{EB722242-075F-4B5B-B130-9C8DA64E8292}" type="pres">
      <dgm:prSet presAssocID="{15C76B2C-6C62-4E8F-B96D-4BE747CCA3E1}" presName="spaceBetweenRectangles" presStyleCnt="0"/>
      <dgm:spPr/>
    </dgm:pt>
    <dgm:pt modelId="{508BFA8B-5035-494A-B047-EA658E181BAF}" type="pres">
      <dgm:prSet presAssocID="{224F9932-1B54-4DFC-9FE6-1D336122C885}" presName="parentLin" presStyleCnt="0"/>
      <dgm:spPr/>
    </dgm:pt>
    <dgm:pt modelId="{9DEFA730-FFAA-4F1A-9237-65CC817D38CF}" type="pres">
      <dgm:prSet presAssocID="{224F9932-1B54-4DFC-9FE6-1D336122C885}" presName="parentLeftMargin" presStyleLbl="node1" presStyleIdx="1" presStyleCnt="4"/>
      <dgm:spPr/>
    </dgm:pt>
    <dgm:pt modelId="{95F0ADDF-CC12-4395-B6AA-2A017C18DC44}" type="pres">
      <dgm:prSet presAssocID="{224F9932-1B54-4DFC-9FE6-1D336122C885}" presName="parentText" presStyleLbl="node1" presStyleIdx="2" presStyleCnt="4">
        <dgm:presLayoutVars>
          <dgm:chMax val="0"/>
          <dgm:bulletEnabled val="1"/>
        </dgm:presLayoutVars>
      </dgm:prSet>
      <dgm:spPr/>
    </dgm:pt>
    <dgm:pt modelId="{B9074E99-1B7B-42A3-BD4D-1A88C5E885AE}" type="pres">
      <dgm:prSet presAssocID="{224F9932-1B54-4DFC-9FE6-1D336122C885}" presName="negativeSpace" presStyleCnt="0"/>
      <dgm:spPr/>
    </dgm:pt>
    <dgm:pt modelId="{2715DD7D-5367-4853-82C0-D8C23B2350E0}" type="pres">
      <dgm:prSet presAssocID="{224F9932-1B54-4DFC-9FE6-1D336122C885}" presName="childText" presStyleLbl="conFgAcc1" presStyleIdx="2" presStyleCnt="4" custScaleX="92342">
        <dgm:presLayoutVars>
          <dgm:bulletEnabled val="1"/>
        </dgm:presLayoutVars>
      </dgm:prSet>
      <dgm:spPr>
        <a:ln>
          <a:solidFill>
            <a:srgbClr val="BA9864"/>
          </a:solidFill>
        </a:ln>
      </dgm:spPr>
    </dgm:pt>
    <dgm:pt modelId="{39484444-9F00-4520-8357-198B4EC6AD10}" type="pres">
      <dgm:prSet presAssocID="{EA58C955-15A5-40E5-9F26-14914C5B7FAA}" presName="spaceBetweenRectangles" presStyleCnt="0"/>
      <dgm:spPr/>
    </dgm:pt>
    <dgm:pt modelId="{D8C720DA-145A-486A-86C2-1670EACB16CF}" type="pres">
      <dgm:prSet presAssocID="{1466976B-4D50-42DF-AE3C-68BD10AAC70E}" presName="parentLin" presStyleCnt="0"/>
      <dgm:spPr/>
    </dgm:pt>
    <dgm:pt modelId="{F456D887-6EF6-49E0-A295-CB02345BA1C4}" type="pres">
      <dgm:prSet presAssocID="{1466976B-4D50-42DF-AE3C-68BD10AAC70E}" presName="parentLeftMargin" presStyleLbl="node1" presStyleIdx="2" presStyleCnt="4"/>
      <dgm:spPr/>
    </dgm:pt>
    <dgm:pt modelId="{E3A1187F-06B6-4613-A389-A17EB6ED3FF8}" type="pres">
      <dgm:prSet presAssocID="{1466976B-4D50-42DF-AE3C-68BD10AAC70E}" presName="parentText" presStyleLbl="node1" presStyleIdx="3" presStyleCnt="4">
        <dgm:presLayoutVars>
          <dgm:chMax val="0"/>
          <dgm:bulletEnabled val="1"/>
        </dgm:presLayoutVars>
      </dgm:prSet>
      <dgm:spPr/>
    </dgm:pt>
    <dgm:pt modelId="{E84D055A-24D4-4268-A5E1-4B826AC7B77E}" type="pres">
      <dgm:prSet presAssocID="{1466976B-4D50-42DF-AE3C-68BD10AAC70E}" presName="negativeSpace" presStyleCnt="0"/>
      <dgm:spPr/>
    </dgm:pt>
    <dgm:pt modelId="{09D3C252-AE58-4146-8183-7BF90D746847}" type="pres">
      <dgm:prSet presAssocID="{1466976B-4D50-42DF-AE3C-68BD10AAC70E}" presName="childText" presStyleLbl="conFgAcc1" presStyleIdx="3" presStyleCnt="4" custScaleX="92342">
        <dgm:presLayoutVars>
          <dgm:bulletEnabled val="1"/>
        </dgm:presLayoutVars>
      </dgm:prSet>
      <dgm:spPr>
        <a:ln>
          <a:solidFill>
            <a:srgbClr val="BA9864"/>
          </a:solidFill>
        </a:ln>
      </dgm:spPr>
    </dgm:pt>
  </dgm:ptLst>
  <dgm:cxnLst>
    <dgm:cxn modelId="{49C4B526-A4A8-464C-BAD4-44507243D9FE}" type="presOf" srcId="{BAD6E928-1F6B-49DB-AC0A-944059B06787}" destId="{EB25678A-073C-4D7C-815B-5B50EDFDC4C3}" srcOrd="0" destOrd="0" presId="urn:microsoft.com/office/officeart/2005/8/layout/list1"/>
    <dgm:cxn modelId="{AFE01B28-174C-4998-BA8F-AFA6E7A74666}" type="presOf" srcId="{1466976B-4D50-42DF-AE3C-68BD10AAC70E}" destId="{E3A1187F-06B6-4613-A389-A17EB6ED3FF8}" srcOrd="1" destOrd="0" presId="urn:microsoft.com/office/officeart/2005/8/layout/list1"/>
    <dgm:cxn modelId="{17512038-4AFC-4E2C-989D-D67EE4655F77}" type="presOf" srcId="{1466976B-4D50-42DF-AE3C-68BD10AAC70E}" destId="{F456D887-6EF6-49E0-A295-CB02345BA1C4}" srcOrd="0" destOrd="0" presId="urn:microsoft.com/office/officeart/2005/8/layout/list1"/>
    <dgm:cxn modelId="{01058338-21AC-421B-8808-11BB7D0BE95B}" type="presOf" srcId="{658AF00C-8A1B-49ED-97BF-3641D48C7CA5}" destId="{0FA3A096-3B8B-4CD4-86FB-C9B5E27016CB}" srcOrd="0" destOrd="0" presId="urn:microsoft.com/office/officeart/2005/8/layout/list1"/>
    <dgm:cxn modelId="{16D60F39-83E4-4C15-82FA-5535BE35792D}" type="presOf" srcId="{224F9932-1B54-4DFC-9FE6-1D336122C885}" destId="{9DEFA730-FFAA-4F1A-9237-65CC817D38CF}" srcOrd="0" destOrd="0" presId="urn:microsoft.com/office/officeart/2005/8/layout/list1"/>
    <dgm:cxn modelId="{540DBE80-B378-4FD0-8CDA-EC42FE97BCF5}" type="presOf" srcId="{C21EB55D-0C04-491B-99C8-2F8E16BCC79C}" destId="{63C3CBB4-BB8A-41E8-9BA3-81CD5ECAE65F}" srcOrd="1" destOrd="0" presId="urn:microsoft.com/office/officeart/2005/8/layout/list1"/>
    <dgm:cxn modelId="{EFFEBD84-569F-4878-810B-B6608F069DFA}" type="presOf" srcId="{C21EB55D-0C04-491B-99C8-2F8E16BCC79C}" destId="{C902F810-88C9-4D42-98B3-90E1DE634A86}" srcOrd="0" destOrd="0" presId="urn:microsoft.com/office/officeart/2005/8/layout/list1"/>
    <dgm:cxn modelId="{6E53108C-272A-4152-A781-B3882A54EE4E}" type="presOf" srcId="{658AF00C-8A1B-49ED-97BF-3641D48C7CA5}" destId="{89765B68-6812-4923-AB65-E76D2318EC1E}" srcOrd="1" destOrd="0" presId="urn:microsoft.com/office/officeart/2005/8/layout/list1"/>
    <dgm:cxn modelId="{C6AB66AB-0C83-4AF5-BE1B-51DCC7171C95}" srcId="{BAD6E928-1F6B-49DB-AC0A-944059B06787}" destId="{224F9932-1B54-4DFC-9FE6-1D336122C885}" srcOrd="2" destOrd="0" parTransId="{C210EEA6-E77C-4D73-978E-F207A96307B6}" sibTransId="{EA58C955-15A5-40E5-9F26-14914C5B7FAA}"/>
    <dgm:cxn modelId="{8E4BB5C2-7952-4676-87F7-8B8FBA4F2E2F}" type="presOf" srcId="{224F9932-1B54-4DFC-9FE6-1D336122C885}" destId="{95F0ADDF-CC12-4395-B6AA-2A017C18DC44}" srcOrd="1" destOrd="0" presId="urn:microsoft.com/office/officeart/2005/8/layout/list1"/>
    <dgm:cxn modelId="{E98CC4CE-CDBC-41A3-A3F8-B6D23AED1741}" srcId="{BAD6E928-1F6B-49DB-AC0A-944059B06787}" destId="{1466976B-4D50-42DF-AE3C-68BD10AAC70E}" srcOrd="3" destOrd="0" parTransId="{DA807E29-9E65-4B2B-8C0D-3628C989894F}" sibTransId="{48942268-B72B-4757-A9BF-0A6FA7AFE1F2}"/>
    <dgm:cxn modelId="{E6FB3DEE-0AC6-4705-9672-9EEEE593F077}" srcId="{BAD6E928-1F6B-49DB-AC0A-944059B06787}" destId="{C21EB55D-0C04-491B-99C8-2F8E16BCC79C}" srcOrd="0" destOrd="0" parTransId="{77A37428-F3F8-40C7-9D43-48A1391A8397}" sibTransId="{29741418-197D-4C6C-A3BD-E19688E801B0}"/>
    <dgm:cxn modelId="{567DC0FF-4877-452F-95EE-7BD90BDE5699}" srcId="{BAD6E928-1F6B-49DB-AC0A-944059B06787}" destId="{658AF00C-8A1B-49ED-97BF-3641D48C7CA5}" srcOrd="1" destOrd="0" parTransId="{839B1E70-63F6-4251-9A9D-798D700D1001}" sibTransId="{15C76B2C-6C62-4E8F-B96D-4BE747CCA3E1}"/>
    <dgm:cxn modelId="{229C9AF9-E608-4660-973A-4CEC4149D905}" type="presParOf" srcId="{EB25678A-073C-4D7C-815B-5B50EDFDC4C3}" destId="{58D02000-B03A-449C-8DA8-9321138EC4F2}" srcOrd="0" destOrd="0" presId="urn:microsoft.com/office/officeart/2005/8/layout/list1"/>
    <dgm:cxn modelId="{C4ABC859-5D2C-4053-88B8-489CC15198E6}" type="presParOf" srcId="{58D02000-B03A-449C-8DA8-9321138EC4F2}" destId="{C902F810-88C9-4D42-98B3-90E1DE634A86}" srcOrd="0" destOrd="0" presId="urn:microsoft.com/office/officeart/2005/8/layout/list1"/>
    <dgm:cxn modelId="{5E3BBF21-9CFB-4D79-AA11-0C90129CE9DF}" type="presParOf" srcId="{58D02000-B03A-449C-8DA8-9321138EC4F2}" destId="{63C3CBB4-BB8A-41E8-9BA3-81CD5ECAE65F}" srcOrd="1" destOrd="0" presId="urn:microsoft.com/office/officeart/2005/8/layout/list1"/>
    <dgm:cxn modelId="{C56DD174-DD29-42CB-8B8B-637BD6827170}" type="presParOf" srcId="{EB25678A-073C-4D7C-815B-5B50EDFDC4C3}" destId="{5934874A-9B43-40F4-856C-69E615F19672}" srcOrd="1" destOrd="0" presId="urn:microsoft.com/office/officeart/2005/8/layout/list1"/>
    <dgm:cxn modelId="{1B86AAAB-D652-401A-8C04-B35E7CECA763}" type="presParOf" srcId="{EB25678A-073C-4D7C-815B-5B50EDFDC4C3}" destId="{BC35E943-4056-41DB-8F76-17FFF73BC78B}" srcOrd="2" destOrd="0" presId="urn:microsoft.com/office/officeart/2005/8/layout/list1"/>
    <dgm:cxn modelId="{36194947-0D7E-43C9-B0D5-63489D8062DC}" type="presParOf" srcId="{EB25678A-073C-4D7C-815B-5B50EDFDC4C3}" destId="{6B68FAE0-C00B-4869-AA7F-8FE3FFEBDF3A}" srcOrd="3" destOrd="0" presId="urn:microsoft.com/office/officeart/2005/8/layout/list1"/>
    <dgm:cxn modelId="{268DC84F-EE8D-4496-A87C-92AADD6AA720}" type="presParOf" srcId="{EB25678A-073C-4D7C-815B-5B50EDFDC4C3}" destId="{678B923A-1DED-4030-8DE1-69C0112B0DBB}" srcOrd="4" destOrd="0" presId="urn:microsoft.com/office/officeart/2005/8/layout/list1"/>
    <dgm:cxn modelId="{C9D0094D-B8CA-4AD1-8F63-7B22D5AB2233}" type="presParOf" srcId="{678B923A-1DED-4030-8DE1-69C0112B0DBB}" destId="{0FA3A096-3B8B-4CD4-86FB-C9B5E27016CB}" srcOrd="0" destOrd="0" presId="urn:microsoft.com/office/officeart/2005/8/layout/list1"/>
    <dgm:cxn modelId="{C249797C-60B8-4260-9265-E17C5940F8EF}" type="presParOf" srcId="{678B923A-1DED-4030-8DE1-69C0112B0DBB}" destId="{89765B68-6812-4923-AB65-E76D2318EC1E}" srcOrd="1" destOrd="0" presId="urn:microsoft.com/office/officeart/2005/8/layout/list1"/>
    <dgm:cxn modelId="{E9DFA657-10C2-4486-AF76-750B879E0566}" type="presParOf" srcId="{EB25678A-073C-4D7C-815B-5B50EDFDC4C3}" destId="{E330C8BE-E90C-4266-912B-2F649B603CE5}" srcOrd="5" destOrd="0" presId="urn:microsoft.com/office/officeart/2005/8/layout/list1"/>
    <dgm:cxn modelId="{0056293E-082F-4D56-9FC1-FDCEC45DA645}" type="presParOf" srcId="{EB25678A-073C-4D7C-815B-5B50EDFDC4C3}" destId="{1D546B68-9085-4E50-9CE7-0FEF9CA3CB33}" srcOrd="6" destOrd="0" presId="urn:microsoft.com/office/officeart/2005/8/layout/list1"/>
    <dgm:cxn modelId="{CBB1D623-5ABF-4441-9E24-179ACBDA6F49}" type="presParOf" srcId="{EB25678A-073C-4D7C-815B-5B50EDFDC4C3}" destId="{EB722242-075F-4B5B-B130-9C8DA64E8292}" srcOrd="7" destOrd="0" presId="urn:microsoft.com/office/officeart/2005/8/layout/list1"/>
    <dgm:cxn modelId="{9A8CC8C0-D991-4275-9910-444F459CA894}" type="presParOf" srcId="{EB25678A-073C-4D7C-815B-5B50EDFDC4C3}" destId="{508BFA8B-5035-494A-B047-EA658E181BAF}" srcOrd="8" destOrd="0" presId="urn:microsoft.com/office/officeart/2005/8/layout/list1"/>
    <dgm:cxn modelId="{FF769A4C-754C-4922-8160-58500779F84F}" type="presParOf" srcId="{508BFA8B-5035-494A-B047-EA658E181BAF}" destId="{9DEFA730-FFAA-4F1A-9237-65CC817D38CF}" srcOrd="0" destOrd="0" presId="urn:microsoft.com/office/officeart/2005/8/layout/list1"/>
    <dgm:cxn modelId="{2DC37514-60A8-496D-86AF-A103B0D7A840}" type="presParOf" srcId="{508BFA8B-5035-494A-B047-EA658E181BAF}" destId="{95F0ADDF-CC12-4395-B6AA-2A017C18DC44}" srcOrd="1" destOrd="0" presId="urn:microsoft.com/office/officeart/2005/8/layout/list1"/>
    <dgm:cxn modelId="{71FC8D06-4144-4E46-904B-AC706E977DEC}" type="presParOf" srcId="{EB25678A-073C-4D7C-815B-5B50EDFDC4C3}" destId="{B9074E99-1B7B-42A3-BD4D-1A88C5E885AE}" srcOrd="9" destOrd="0" presId="urn:microsoft.com/office/officeart/2005/8/layout/list1"/>
    <dgm:cxn modelId="{D9719379-F545-4375-BE77-7287C3E613DD}" type="presParOf" srcId="{EB25678A-073C-4D7C-815B-5B50EDFDC4C3}" destId="{2715DD7D-5367-4853-82C0-D8C23B2350E0}" srcOrd="10" destOrd="0" presId="urn:microsoft.com/office/officeart/2005/8/layout/list1"/>
    <dgm:cxn modelId="{E7CB1151-BB78-4AF5-A2C5-FC1C6A177ADB}" type="presParOf" srcId="{EB25678A-073C-4D7C-815B-5B50EDFDC4C3}" destId="{39484444-9F00-4520-8357-198B4EC6AD10}" srcOrd="11" destOrd="0" presId="urn:microsoft.com/office/officeart/2005/8/layout/list1"/>
    <dgm:cxn modelId="{3D96A6D8-61F4-42DE-BC7E-202935429FAF}" type="presParOf" srcId="{EB25678A-073C-4D7C-815B-5B50EDFDC4C3}" destId="{D8C720DA-145A-486A-86C2-1670EACB16CF}" srcOrd="12" destOrd="0" presId="urn:microsoft.com/office/officeart/2005/8/layout/list1"/>
    <dgm:cxn modelId="{EF773A80-0B14-4B71-A2F4-516E16232A6E}" type="presParOf" srcId="{D8C720DA-145A-486A-86C2-1670EACB16CF}" destId="{F456D887-6EF6-49E0-A295-CB02345BA1C4}" srcOrd="0" destOrd="0" presId="urn:microsoft.com/office/officeart/2005/8/layout/list1"/>
    <dgm:cxn modelId="{FBE18204-58A4-4217-A7D3-A849051753BA}" type="presParOf" srcId="{D8C720DA-145A-486A-86C2-1670EACB16CF}" destId="{E3A1187F-06B6-4613-A389-A17EB6ED3FF8}" srcOrd="1" destOrd="0" presId="urn:microsoft.com/office/officeart/2005/8/layout/list1"/>
    <dgm:cxn modelId="{FAB1609E-3282-4B6E-8782-1A83F7A8BAD2}" type="presParOf" srcId="{EB25678A-073C-4D7C-815B-5B50EDFDC4C3}" destId="{E84D055A-24D4-4268-A5E1-4B826AC7B77E}" srcOrd="13" destOrd="0" presId="urn:microsoft.com/office/officeart/2005/8/layout/list1"/>
    <dgm:cxn modelId="{AE23DC98-A349-44EE-AF34-97515E559C4D}" type="presParOf" srcId="{EB25678A-073C-4D7C-815B-5B50EDFDC4C3}" destId="{09D3C252-AE58-4146-8183-7BF90D746847}"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35E943-4056-41DB-8F76-17FFF73BC78B}">
      <dsp:nvSpPr>
        <dsp:cNvPr id="0" name=""/>
        <dsp:cNvSpPr/>
      </dsp:nvSpPr>
      <dsp:spPr>
        <a:xfrm>
          <a:off x="0" y="349341"/>
          <a:ext cx="7044778" cy="478800"/>
        </a:xfrm>
        <a:prstGeom prst="rect">
          <a:avLst/>
        </a:prstGeom>
        <a:solidFill>
          <a:schemeClr val="lt1">
            <a:alpha val="90000"/>
            <a:hueOff val="0"/>
            <a:satOff val="0"/>
            <a:lumOff val="0"/>
            <a:alphaOff val="0"/>
          </a:schemeClr>
        </a:solidFill>
        <a:ln w="25400" cap="flat" cmpd="sng" algn="ctr">
          <a:solidFill>
            <a:srgbClr val="BA9864"/>
          </a:solidFill>
          <a:prstDash val="solid"/>
        </a:ln>
        <a:effectLst/>
      </dsp:spPr>
      <dsp:style>
        <a:lnRef idx="2">
          <a:scrgbClr r="0" g="0" b="0"/>
        </a:lnRef>
        <a:fillRef idx="1">
          <a:scrgbClr r="0" g="0" b="0"/>
        </a:fillRef>
        <a:effectRef idx="0">
          <a:scrgbClr r="0" g="0" b="0"/>
        </a:effectRef>
        <a:fontRef idx="minor"/>
      </dsp:style>
    </dsp:sp>
    <dsp:sp modelId="{63C3CBB4-BB8A-41E8-9BA3-81CD5ECAE65F}">
      <dsp:nvSpPr>
        <dsp:cNvPr id="0" name=""/>
        <dsp:cNvSpPr/>
      </dsp:nvSpPr>
      <dsp:spPr>
        <a:xfrm>
          <a:off x="381450" y="68901"/>
          <a:ext cx="5340305" cy="560880"/>
        </a:xfrm>
        <a:prstGeom prst="roundRect">
          <a:avLst/>
        </a:prstGeom>
        <a:solidFill>
          <a:srgbClr val="63666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1851" tIns="0" rIns="201851" bIns="0" numCol="1" spcCol="1270" anchor="ctr" anchorCtr="0">
          <a:noAutofit/>
        </a:bodyPr>
        <a:lstStyle/>
        <a:p>
          <a:pPr marL="0" lvl="0" indent="0" algn="l" defTabSz="711200">
            <a:lnSpc>
              <a:spcPct val="90000"/>
            </a:lnSpc>
            <a:spcBef>
              <a:spcPct val="0"/>
            </a:spcBef>
            <a:spcAft>
              <a:spcPct val="35000"/>
            </a:spcAft>
            <a:buNone/>
          </a:pPr>
          <a:r>
            <a:rPr lang="en-US" sz="1600" kern="1200" dirty="0"/>
            <a:t>Shares can be bought at deep discounts to NAV</a:t>
          </a:r>
        </a:p>
      </dsp:txBody>
      <dsp:txXfrm>
        <a:off x="408830" y="96281"/>
        <a:ext cx="5285545" cy="506120"/>
      </dsp:txXfrm>
    </dsp:sp>
    <dsp:sp modelId="{1D546B68-9085-4E50-9CE7-0FEF9CA3CB33}">
      <dsp:nvSpPr>
        <dsp:cNvPr id="0" name=""/>
        <dsp:cNvSpPr/>
      </dsp:nvSpPr>
      <dsp:spPr>
        <a:xfrm>
          <a:off x="0" y="1211181"/>
          <a:ext cx="7044778" cy="478800"/>
        </a:xfrm>
        <a:prstGeom prst="rect">
          <a:avLst/>
        </a:prstGeom>
        <a:solidFill>
          <a:schemeClr val="lt1">
            <a:alpha val="90000"/>
            <a:hueOff val="0"/>
            <a:satOff val="0"/>
            <a:lumOff val="0"/>
            <a:alphaOff val="0"/>
          </a:schemeClr>
        </a:solidFill>
        <a:ln w="25400" cap="flat" cmpd="sng" algn="ctr">
          <a:solidFill>
            <a:srgbClr val="BA9864"/>
          </a:solidFill>
          <a:prstDash val="solid"/>
        </a:ln>
        <a:effectLst/>
      </dsp:spPr>
      <dsp:style>
        <a:lnRef idx="2">
          <a:scrgbClr r="0" g="0" b="0"/>
        </a:lnRef>
        <a:fillRef idx="1">
          <a:scrgbClr r="0" g="0" b="0"/>
        </a:fillRef>
        <a:effectRef idx="0">
          <a:scrgbClr r="0" g="0" b="0"/>
        </a:effectRef>
        <a:fontRef idx="minor"/>
      </dsp:style>
    </dsp:sp>
    <dsp:sp modelId="{89765B68-6812-4923-AB65-E76D2318EC1E}">
      <dsp:nvSpPr>
        <dsp:cNvPr id="0" name=""/>
        <dsp:cNvSpPr/>
      </dsp:nvSpPr>
      <dsp:spPr>
        <a:xfrm>
          <a:off x="381450" y="930741"/>
          <a:ext cx="5340305" cy="560880"/>
        </a:xfrm>
        <a:prstGeom prst="roundRect">
          <a:avLst/>
        </a:prstGeom>
        <a:solidFill>
          <a:srgbClr val="63666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1851" tIns="0" rIns="201851" bIns="0" numCol="1" spcCol="1270" anchor="ctr" anchorCtr="0">
          <a:noAutofit/>
        </a:bodyPr>
        <a:lstStyle/>
        <a:p>
          <a:pPr marL="0" lvl="0" indent="0" algn="l" defTabSz="711200">
            <a:lnSpc>
              <a:spcPct val="90000"/>
            </a:lnSpc>
            <a:spcBef>
              <a:spcPct val="0"/>
            </a:spcBef>
            <a:spcAft>
              <a:spcPct val="35000"/>
            </a:spcAft>
            <a:buNone/>
          </a:pPr>
          <a:r>
            <a:rPr lang="en-US" sz="1600" kern="1200" dirty="0"/>
            <a:t>Higher yields compared to open-end funds</a:t>
          </a:r>
        </a:p>
      </dsp:txBody>
      <dsp:txXfrm>
        <a:off x="408830" y="958121"/>
        <a:ext cx="5285545" cy="506120"/>
      </dsp:txXfrm>
    </dsp:sp>
    <dsp:sp modelId="{2715DD7D-5367-4853-82C0-D8C23B2350E0}">
      <dsp:nvSpPr>
        <dsp:cNvPr id="0" name=""/>
        <dsp:cNvSpPr/>
      </dsp:nvSpPr>
      <dsp:spPr>
        <a:xfrm>
          <a:off x="0" y="2073021"/>
          <a:ext cx="7044778" cy="478800"/>
        </a:xfrm>
        <a:prstGeom prst="rect">
          <a:avLst/>
        </a:prstGeom>
        <a:solidFill>
          <a:schemeClr val="lt1">
            <a:alpha val="90000"/>
            <a:hueOff val="0"/>
            <a:satOff val="0"/>
            <a:lumOff val="0"/>
            <a:alphaOff val="0"/>
          </a:schemeClr>
        </a:solidFill>
        <a:ln w="25400" cap="flat" cmpd="sng" algn="ctr">
          <a:solidFill>
            <a:srgbClr val="BA9864"/>
          </a:solidFill>
          <a:prstDash val="solid"/>
        </a:ln>
        <a:effectLst/>
      </dsp:spPr>
      <dsp:style>
        <a:lnRef idx="2">
          <a:scrgbClr r="0" g="0" b="0"/>
        </a:lnRef>
        <a:fillRef idx="1">
          <a:scrgbClr r="0" g="0" b="0"/>
        </a:fillRef>
        <a:effectRef idx="0">
          <a:scrgbClr r="0" g="0" b="0"/>
        </a:effectRef>
        <a:fontRef idx="minor"/>
      </dsp:style>
    </dsp:sp>
    <dsp:sp modelId="{95F0ADDF-CC12-4395-B6AA-2A017C18DC44}">
      <dsp:nvSpPr>
        <dsp:cNvPr id="0" name=""/>
        <dsp:cNvSpPr/>
      </dsp:nvSpPr>
      <dsp:spPr>
        <a:xfrm>
          <a:off x="381450" y="1792581"/>
          <a:ext cx="5340305" cy="560880"/>
        </a:xfrm>
        <a:prstGeom prst="roundRect">
          <a:avLst/>
        </a:prstGeom>
        <a:solidFill>
          <a:srgbClr val="63666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1851" tIns="0" rIns="201851" bIns="0" numCol="1" spcCol="1270" anchor="ctr" anchorCtr="0">
          <a:noAutofit/>
        </a:bodyPr>
        <a:lstStyle/>
        <a:p>
          <a:pPr marL="0" lvl="0" indent="0" algn="l" defTabSz="711200">
            <a:lnSpc>
              <a:spcPct val="90000"/>
            </a:lnSpc>
            <a:spcBef>
              <a:spcPct val="0"/>
            </a:spcBef>
            <a:spcAft>
              <a:spcPct val="35000"/>
            </a:spcAft>
            <a:buNone/>
          </a:pPr>
          <a:r>
            <a:rPr lang="en-US" sz="1600" kern="1200" dirty="0"/>
            <a:t>Limited capacity prevents large investment managers from accessing CEFs</a:t>
          </a:r>
        </a:p>
      </dsp:txBody>
      <dsp:txXfrm>
        <a:off x="408830" y="1819961"/>
        <a:ext cx="5285545" cy="506120"/>
      </dsp:txXfrm>
    </dsp:sp>
    <dsp:sp modelId="{09D3C252-AE58-4146-8183-7BF90D746847}">
      <dsp:nvSpPr>
        <dsp:cNvPr id="0" name=""/>
        <dsp:cNvSpPr/>
      </dsp:nvSpPr>
      <dsp:spPr>
        <a:xfrm>
          <a:off x="0" y="2934861"/>
          <a:ext cx="7044778" cy="478800"/>
        </a:xfrm>
        <a:prstGeom prst="rect">
          <a:avLst/>
        </a:prstGeom>
        <a:solidFill>
          <a:schemeClr val="lt1">
            <a:alpha val="90000"/>
            <a:hueOff val="0"/>
            <a:satOff val="0"/>
            <a:lumOff val="0"/>
            <a:alphaOff val="0"/>
          </a:schemeClr>
        </a:solidFill>
        <a:ln w="25400" cap="flat" cmpd="sng" algn="ctr">
          <a:solidFill>
            <a:srgbClr val="BA9864"/>
          </a:solidFill>
          <a:prstDash val="solid"/>
        </a:ln>
        <a:effectLst/>
      </dsp:spPr>
      <dsp:style>
        <a:lnRef idx="2">
          <a:scrgbClr r="0" g="0" b="0"/>
        </a:lnRef>
        <a:fillRef idx="1">
          <a:scrgbClr r="0" g="0" b="0"/>
        </a:fillRef>
        <a:effectRef idx="0">
          <a:scrgbClr r="0" g="0" b="0"/>
        </a:effectRef>
        <a:fontRef idx="minor"/>
      </dsp:style>
    </dsp:sp>
    <dsp:sp modelId="{E3A1187F-06B6-4613-A389-A17EB6ED3FF8}">
      <dsp:nvSpPr>
        <dsp:cNvPr id="0" name=""/>
        <dsp:cNvSpPr/>
      </dsp:nvSpPr>
      <dsp:spPr>
        <a:xfrm>
          <a:off x="381450" y="2654421"/>
          <a:ext cx="5340305" cy="560880"/>
        </a:xfrm>
        <a:prstGeom prst="roundRect">
          <a:avLst/>
        </a:prstGeom>
        <a:solidFill>
          <a:srgbClr val="63666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1851" tIns="0" rIns="201851" bIns="0" numCol="1" spcCol="1270" anchor="ctr" anchorCtr="0">
          <a:noAutofit/>
        </a:bodyPr>
        <a:lstStyle/>
        <a:p>
          <a:pPr marL="0" lvl="0" indent="0" algn="l" defTabSz="711200">
            <a:lnSpc>
              <a:spcPct val="90000"/>
            </a:lnSpc>
            <a:spcBef>
              <a:spcPct val="0"/>
            </a:spcBef>
            <a:spcAft>
              <a:spcPct val="35000"/>
            </a:spcAft>
            <a:buNone/>
          </a:pPr>
          <a:r>
            <a:rPr lang="en-US" sz="1600" kern="1200" dirty="0"/>
            <a:t>Stable capital base</a:t>
          </a:r>
        </a:p>
      </dsp:txBody>
      <dsp:txXfrm>
        <a:off x="408830" y="2681801"/>
        <a:ext cx="5285545" cy="50612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E9785A-4C41-4A3C-85D7-CCFDC775893C}" type="datetimeFigureOut">
              <a:rPr lang="en-US" smtClean="0"/>
              <a:t>2/27/2026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CA0488-2F80-477A-BF5F-19FE0354F579}" type="slidenum">
              <a:rPr lang="en-US" smtClean="0"/>
              <a:t>‹#›</a:t>
            </a:fld>
            <a:endParaRPr lang="en-US"/>
          </a:p>
        </p:txBody>
      </p:sp>
    </p:spTree>
    <p:extLst>
      <p:ext uri="{BB962C8B-B14F-4D97-AF65-F5344CB8AC3E}">
        <p14:creationId xmlns:p14="http://schemas.microsoft.com/office/powerpoint/2010/main" val="442261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CA0488-2F80-477A-BF5F-19FE0354F579}" type="slidenum">
              <a:rPr lang="en-US" smtClean="0"/>
              <a:t>1</a:t>
            </a:fld>
            <a:endParaRPr lang="en-US"/>
          </a:p>
        </p:txBody>
      </p:sp>
    </p:spTree>
    <p:extLst>
      <p:ext uri="{BB962C8B-B14F-4D97-AF65-F5344CB8AC3E}">
        <p14:creationId xmlns:p14="http://schemas.microsoft.com/office/powerpoint/2010/main" val="3520777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5" y="0"/>
            <a:ext cx="9139937" cy="6858000"/>
          </a:xfrm>
          <a:prstGeom prst="rect">
            <a:avLst/>
          </a:prstGeom>
        </p:spPr>
      </p:pic>
    </p:spTree>
    <p:extLst>
      <p:ext uri="{BB962C8B-B14F-4D97-AF65-F5344CB8AC3E}">
        <p14:creationId xmlns:p14="http://schemas.microsoft.com/office/powerpoint/2010/main" val="1895162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DF78B18-A093-4D52-AEF6-035465A23003}" type="datetime1">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426866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BF4EBE-5E17-4739-BBE4-AFA5F226CA8D}" type="datetime1">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2074314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C04EF9D-AE58-46C6-A207-EAABFF0EBECD}" type="datetime1">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1149792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5477DF4-0839-4608-9666-688A31E45316}" type="datetime1">
              <a:rPr lang="en-US" smtClean="0"/>
              <a:t>2/27/2026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1700473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91DDF74-BB56-448D-B64C-9EE968C7BF96}" type="datetime1">
              <a:rPr lang="en-US" smtClean="0"/>
              <a:t>2/27/2026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316016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6F5FE2-FDB9-40B5-81E9-D24F1B2177A2}" type="datetime1">
              <a:rPr lang="en-US" smtClean="0"/>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2367175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0819AD-808C-4676-873D-F3F66962C7CB}" type="datetime1">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139852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5C412C-B467-416E-83DA-C540477E2B51}" type="datetime1">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3846450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16D698-ED81-4020-B975-EBAF4937DEBF}" type="datetime1">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390083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438785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43878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B4D326-167E-4EBF-B4A0-8C2C8B4634ED}" type="datetime1">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9E312C-CBC7-7B48-9BD4-C1922560B1E8}" type="slidenum">
              <a:rPr lang="en-US" smtClean="0"/>
              <a:t>‹#›</a:t>
            </a:fld>
            <a:endParaRPr lang="en-US"/>
          </a:p>
        </p:txBody>
      </p:sp>
    </p:spTree>
    <p:extLst>
      <p:ext uri="{BB962C8B-B14F-4D97-AF65-F5344CB8AC3E}">
        <p14:creationId xmlns:p14="http://schemas.microsoft.com/office/powerpoint/2010/main" val="7806459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A6852E-BE5F-41F5-95EC-9BE197D24957}" type="datetime1">
              <a:rPr lang="en-US" smtClean="0"/>
              <a:t>2/27/2026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9E312C-CBC7-7B48-9BD4-C1922560B1E8}" type="slidenum">
              <a:rPr lang="en-US" smtClean="0"/>
              <a:t>‹#›</a:t>
            </a:fld>
            <a:endParaRPr lang="en-US"/>
          </a:p>
        </p:txBody>
      </p:sp>
    </p:spTree>
    <p:extLst>
      <p:ext uri="{BB962C8B-B14F-4D97-AF65-F5344CB8AC3E}">
        <p14:creationId xmlns:p14="http://schemas.microsoft.com/office/powerpoint/2010/main" val="3588168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chart" Target="../charts/chart1.xml"/><Relationship Id="rId5" Type="http://schemas.openxmlformats.org/officeDocument/2006/relationships/image" Target="../media/image5.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chart" Target="../charts/chart2.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chart" Target="../charts/chart4.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chart" Target="../charts/chart6.xml"/><Relationship Id="rId4" Type="http://schemas.openxmlformats.org/officeDocument/2006/relationships/chart" Target="../charts/char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chart" Target="../charts/chart8.xml"/><Relationship Id="rId4" Type="http://schemas.openxmlformats.org/officeDocument/2006/relationships/chart" Target="../charts/char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chart" Target="../charts/char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image" Target="../media/image7.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image" Target="../media/image8.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54699" y="513337"/>
            <a:ext cx="3435350" cy="2215991"/>
          </a:xfrm>
          <a:prstGeom prst="rect">
            <a:avLst/>
          </a:prstGeom>
          <a:noFill/>
        </p:spPr>
        <p:txBody>
          <a:bodyPr wrap="square" rtlCol="0">
            <a:spAutoFit/>
          </a:bodyPr>
          <a:lstStyle/>
          <a:p>
            <a:r>
              <a:rPr lang="en-US" sz="3000" b="1" dirty="0">
                <a:solidFill>
                  <a:srgbClr val="BA9864"/>
                </a:solidFill>
                <a:latin typeface="Arial"/>
                <a:cs typeface="Arial"/>
              </a:rPr>
              <a:t>Gridiron</a:t>
            </a:r>
            <a:r>
              <a:rPr lang="en-US" sz="3000" b="1" dirty="0">
                <a:solidFill>
                  <a:schemeClr val="bg1"/>
                </a:solidFill>
                <a:latin typeface="Arial"/>
                <a:cs typeface="Arial"/>
              </a:rPr>
              <a:t> Tactical</a:t>
            </a:r>
          </a:p>
          <a:p>
            <a:r>
              <a:rPr lang="en-US" sz="3000" b="1" dirty="0">
                <a:solidFill>
                  <a:schemeClr val="bg1"/>
                </a:solidFill>
                <a:latin typeface="Arial"/>
                <a:cs typeface="Arial"/>
              </a:rPr>
              <a:t>Fixed Income</a:t>
            </a:r>
          </a:p>
          <a:p>
            <a:endParaRPr lang="en-US" sz="3000" b="1" dirty="0">
              <a:solidFill>
                <a:schemeClr val="bg1"/>
              </a:solidFill>
              <a:latin typeface="Arial"/>
              <a:cs typeface="Arial"/>
            </a:endParaRPr>
          </a:p>
          <a:p>
            <a:endParaRPr lang="en-US" sz="1400" spc="300" dirty="0">
              <a:solidFill>
                <a:schemeClr val="bg1">
                  <a:lumMod val="75000"/>
                </a:schemeClr>
              </a:solidFill>
              <a:latin typeface="Arial"/>
              <a:cs typeface="Arial"/>
            </a:endParaRPr>
          </a:p>
          <a:p>
            <a:endParaRPr lang="en-US" sz="3000" b="1" dirty="0">
              <a:solidFill>
                <a:schemeClr val="bg1"/>
              </a:solidFill>
              <a:latin typeface="Arial"/>
              <a:cs typeface="Aria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1918" y="1503762"/>
            <a:ext cx="3877060" cy="2707478"/>
          </a:xfrm>
          <a:prstGeom prst="rect">
            <a:avLst/>
          </a:prstGeom>
        </p:spPr>
      </p:pic>
      <p:sp>
        <p:nvSpPr>
          <p:cNvPr id="3" name="TextBox 2">
            <a:extLst>
              <a:ext uri="{FF2B5EF4-FFF2-40B4-BE49-F238E27FC236}">
                <a16:creationId xmlns:a16="http://schemas.microsoft.com/office/drawing/2014/main" id="{627CD984-F663-4855-8A04-26E7AFB44AC1}"/>
              </a:ext>
            </a:extLst>
          </p:cNvPr>
          <p:cNvSpPr txBox="1"/>
          <p:nvPr/>
        </p:nvSpPr>
        <p:spPr>
          <a:xfrm>
            <a:off x="554699" y="3020677"/>
            <a:ext cx="3435350" cy="2339102"/>
          </a:xfrm>
          <a:prstGeom prst="rect">
            <a:avLst/>
          </a:prstGeom>
          <a:noFill/>
        </p:spPr>
        <p:txBody>
          <a:bodyPr wrap="square" rtlCol="0">
            <a:spAutoFit/>
          </a:bodyPr>
          <a:lstStyle/>
          <a:p>
            <a:r>
              <a:rPr lang="en-US" sz="1200" b="1" dirty="0">
                <a:solidFill>
                  <a:srgbClr val="BA9864"/>
                </a:solidFill>
                <a:latin typeface="Arial"/>
                <a:cs typeface="Arial"/>
              </a:rPr>
              <a:t>Prepared For:</a:t>
            </a:r>
            <a:r>
              <a:rPr lang="en-US" sz="1200" b="1" dirty="0">
                <a:solidFill>
                  <a:schemeClr val="bg1"/>
                </a:solidFill>
                <a:latin typeface="Arial"/>
                <a:cs typeface="Arial"/>
              </a:rPr>
              <a:t> </a:t>
            </a:r>
          </a:p>
          <a:p>
            <a:r>
              <a:rPr lang="en-US" sz="3000" b="1" dirty="0">
                <a:solidFill>
                  <a:schemeClr val="bg1"/>
                </a:solidFill>
                <a:latin typeface="Arial"/>
                <a:cs typeface="Arial"/>
              </a:rPr>
              <a:t>Allegheny County Employees' Retirement</a:t>
            </a:r>
          </a:p>
          <a:p>
            <a:endParaRPr lang="en-US" sz="3000" b="1" spc="300" dirty="0">
              <a:solidFill>
                <a:schemeClr val="bg1"/>
              </a:solidFill>
              <a:latin typeface="Arial"/>
              <a:cs typeface="Arial"/>
            </a:endParaRPr>
          </a:p>
          <a:p>
            <a:r>
              <a:rPr lang="en-US" sz="1400" spc="300" dirty="0">
                <a:solidFill>
                  <a:schemeClr val="bg1">
                    <a:lumMod val="75000"/>
                  </a:schemeClr>
                </a:solidFill>
                <a:latin typeface="Arial"/>
                <a:cs typeface="Arial"/>
              </a:rPr>
              <a:t>August 2025</a:t>
            </a:r>
          </a:p>
        </p:txBody>
      </p:sp>
    </p:spTree>
    <p:extLst>
      <p:ext uri="{BB962C8B-B14F-4D97-AF65-F5344CB8AC3E}">
        <p14:creationId xmlns:p14="http://schemas.microsoft.com/office/powerpoint/2010/main" val="3897431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7" name="Content Placeholder 11"/>
          <p:cNvSpPr>
            <a:spLocks noGrp="1"/>
          </p:cNvSpPr>
          <p:nvPr>
            <p:ph idx="4294967295"/>
          </p:nvPr>
        </p:nvSpPr>
        <p:spPr>
          <a:xfrm>
            <a:off x="457200" y="1262063"/>
            <a:ext cx="8229600" cy="4854575"/>
          </a:xfrm>
        </p:spPr>
        <p:txBody>
          <a:bodyPr>
            <a:normAutofit/>
          </a:bodyPr>
          <a:lstStyle/>
          <a:p>
            <a:pPr marL="0" indent="0" algn="just">
              <a:buNone/>
            </a:pPr>
            <a:r>
              <a:rPr lang="en-US" sz="2200" dirty="0">
                <a:solidFill>
                  <a:srgbClr val="333333"/>
                </a:solidFill>
                <a:latin typeface="Calibri" panose="020F0502020204030204" pitchFamily="34" charset="0"/>
                <a:cs typeface="Arial" panose="020B0604020202020204" pitchFamily="34" charset="0"/>
              </a:rPr>
              <a:t>Gridiron Tactical Fixed Income is designed to produce high current income and capital growth while not taking on excess credit and duration risk. The strategy invests opportunistically through the use of publicly traded fixed income closed-end funds. </a:t>
            </a:r>
          </a:p>
          <a:p>
            <a:pPr marL="0" indent="0" algn="just">
              <a:buNone/>
            </a:pPr>
            <a:endParaRPr lang="en-US" sz="1800" dirty="0">
              <a:solidFill>
                <a:srgbClr val="333333"/>
              </a:solidFill>
              <a:latin typeface="Calibri" panose="020F0502020204030204" pitchFamily="34" charset="0"/>
              <a:cs typeface="Arial" panose="020B0604020202020204" pitchFamily="34" charset="0"/>
            </a:endParaRPr>
          </a:p>
          <a:p>
            <a:pPr marL="0" indent="0" algn="just">
              <a:buNone/>
            </a:pPr>
            <a:r>
              <a:rPr lang="en-US" sz="2400" b="1" dirty="0">
                <a:solidFill>
                  <a:srgbClr val="333333"/>
                </a:solidFill>
                <a:latin typeface="Calibri" panose="020F0502020204030204" pitchFamily="34" charset="0"/>
                <a:cs typeface="Arial" panose="020B0604020202020204" pitchFamily="34" charset="0"/>
              </a:rPr>
              <a:t>What is a closed-end fund?</a:t>
            </a:r>
            <a:endParaRPr lang="en-US" sz="1800" dirty="0">
              <a:solidFill>
                <a:srgbClr val="333333"/>
              </a:solidFill>
              <a:latin typeface="Calibri" panose="020F0502020204030204" pitchFamily="34" charset="0"/>
              <a:cs typeface="Arial" panose="020B0604020202020204" pitchFamily="34" charset="0"/>
            </a:endParaRPr>
          </a:p>
          <a:p>
            <a:pPr marL="285750" indent="-285750" algn="just">
              <a:buFont typeface="Arial" panose="020B0604020202020204" pitchFamily="34" charset="0"/>
              <a:buChar char="•"/>
            </a:pPr>
            <a:r>
              <a:rPr lang="en-US" sz="2000" dirty="0">
                <a:solidFill>
                  <a:srgbClr val="333333"/>
                </a:solidFill>
                <a:latin typeface="Calibri" panose="020F0502020204030204" pitchFamily="34" charset="0"/>
                <a:cs typeface="Arial" panose="020B0604020202020204" pitchFamily="34" charset="0"/>
              </a:rPr>
              <a:t>The fund raises capital primarily through an initial public offering (IPO). </a:t>
            </a:r>
          </a:p>
          <a:p>
            <a:pPr marL="285750" indent="-285750" algn="just">
              <a:buFont typeface="Arial" panose="020B0604020202020204" pitchFamily="34" charset="0"/>
              <a:buChar char="•"/>
            </a:pPr>
            <a:r>
              <a:rPr lang="en-US" sz="2000" dirty="0">
                <a:solidFill>
                  <a:srgbClr val="333333"/>
                </a:solidFill>
                <a:latin typeface="Calibri" panose="020F0502020204030204" pitchFamily="34" charset="0"/>
                <a:cs typeface="Arial" panose="020B0604020202020204" pitchFamily="34" charset="0"/>
              </a:rPr>
              <a:t>After the IPO, closed-end funds are listed on a national exchange such as the New York Stock Exchange (NYSE) </a:t>
            </a:r>
          </a:p>
          <a:p>
            <a:pPr marL="285750" indent="-285750" algn="just">
              <a:spcBef>
                <a:spcPts val="600"/>
              </a:spcBef>
              <a:buFont typeface="Arial" panose="020B0604020202020204" pitchFamily="34" charset="0"/>
              <a:buChar char="•"/>
            </a:pPr>
            <a:r>
              <a:rPr lang="en-US" sz="2000" dirty="0">
                <a:solidFill>
                  <a:srgbClr val="333333"/>
                </a:solidFill>
                <a:latin typeface="Calibri" panose="020F0502020204030204" pitchFamily="34" charset="0"/>
                <a:cs typeface="Arial" panose="020B0604020202020204" pitchFamily="34" charset="0"/>
              </a:rPr>
              <a:t>A closed-end fund holds a diverse selection of securities. These securities collectively add up to a value, known as its Net Asset Value (NAV). </a:t>
            </a:r>
          </a:p>
          <a:p>
            <a:pPr marL="285750" indent="-285750" algn="just">
              <a:spcBef>
                <a:spcPts val="600"/>
              </a:spcBef>
              <a:buFont typeface="Arial" panose="020B0604020202020204" pitchFamily="34" charset="0"/>
              <a:buChar char="•"/>
            </a:pPr>
            <a:r>
              <a:rPr lang="en-US" sz="2000" dirty="0">
                <a:solidFill>
                  <a:srgbClr val="333333"/>
                </a:solidFill>
                <a:latin typeface="Calibri" panose="020F0502020204030204" pitchFamily="34" charset="0"/>
                <a:cs typeface="Arial" panose="020B0604020202020204" pitchFamily="34" charset="0"/>
              </a:rPr>
              <a:t>The market price of a closed-end fund is determined by market demand and supply, not the fund's net asset value. </a:t>
            </a:r>
          </a:p>
          <a:p>
            <a:pPr marL="0" indent="0">
              <a:buNone/>
            </a:pPr>
            <a:endParaRPr lang="en-US" sz="2400" dirty="0">
              <a:solidFill>
                <a:schemeClr val="tx1">
                  <a:lumMod val="50000"/>
                  <a:lumOff val="50000"/>
                </a:schemeClr>
              </a:solidFill>
            </a:endParaRPr>
          </a:p>
        </p:txBody>
      </p:sp>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GRIDIRON </a:t>
            </a:r>
            <a:r>
              <a:rPr lang="en-US" sz="2400" b="1" dirty="0">
                <a:solidFill>
                  <a:srgbClr val="63666B"/>
                </a:solidFill>
                <a:latin typeface="Arial"/>
                <a:cs typeface="Arial"/>
              </a:rPr>
              <a:t>TACTICAL FIXED INCOME</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4856ADB-2B60-4A3C-B1AF-8A5CE78A11F2}"/>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1" name="Slide Number Placeholder 6">
            <a:extLst>
              <a:ext uri="{FF2B5EF4-FFF2-40B4-BE49-F238E27FC236}">
                <a16:creationId xmlns:a16="http://schemas.microsoft.com/office/drawing/2014/main" id="{DD35E12F-B94F-49DA-80A7-F19979F4ABB2}"/>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2</a:t>
            </a:fld>
            <a:endParaRPr lang="en-US" sz="1000" b="1" dirty="0">
              <a:solidFill>
                <a:schemeClr val="bg1"/>
              </a:solidFill>
              <a:latin typeface="Arial Bold"/>
              <a:cs typeface="Arial Bold"/>
            </a:endParaRPr>
          </a:p>
        </p:txBody>
      </p:sp>
    </p:spTree>
    <p:extLst>
      <p:ext uri="{BB962C8B-B14F-4D97-AF65-F5344CB8AC3E}">
        <p14:creationId xmlns:p14="http://schemas.microsoft.com/office/powerpoint/2010/main" val="2436904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CEF </a:t>
            </a:r>
            <a:r>
              <a:rPr lang="en-US" sz="2400" b="1" dirty="0">
                <a:solidFill>
                  <a:srgbClr val="63666B"/>
                </a:solidFill>
                <a:latin typeface="Arial"/>
                <a:cs typeface="Arial"/>
              </a:rPr>
              <a:t>vs MUTUAL FUND(Open End Fund) vs ETF</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aphicFrame>
        <p:nvGraphicFramePr>
          <p:cNvPr id="6" name="Table 5">
            <a:extLst>
              <a:ext uri="{FF2B5EF4-FFF2-40B4-BE49-F238E27FC236}">
                <a16:creationId xmlns:a16="http://schemas.microsoft.com/office/drawing/2014/main" id="{FCFDE82E-43EC-4203-B563-13AFCC739101}"/>
              </a:ext>
            </a:extLst>
          </p:cNvPr>
          <p:cNvGraphicFramePr>
            <a:graphicFrameLocks noGrp="1"/>
          </p:cNvGraphicFramePr>
          <p:nvPr>
            <p:extLst>
              <p:ext uri="{D42A27DB-BD31-4B8C-83A1-F6EECF244321}">
                <p14:modId xmlns:p14="http://schemas.microsoft.com/office/powerpoint/2010/main" val="1068706882"/>
              </p:ext>
            </p:extLst>
          </p:nvPr>
        </p:nvGraphicFramePr>
        <p:xfrm>
          <a:off x="457717" y="1627632"/>
          <a:ext cx="7862268" cy="3052814"/>
        </p:xfrm>
        <a:graphic>
          <a:graphicData uri="http://schemas.openxmlformats.org/drawingml/2006/table">
            <a:tbl>
              <a:tblPr firstRow="1" bandRow="1">
                <a:tableStyleId>{5C22544A-7EE6-4342-B048-85BDC9FD1C3A}</a:tableStyleId>
              </a:tblPr>
              <a:tblGrid>
                <a:gridCol w="1965567">
                  <a:extLst>
                    <a:ext uri="{9D8B030D-6E8A-4147-A177-3AD203B41FA5}">
                      <a16:colId xmlns:a16="http://schemas.microsoft.com/office/drawing/2014/main" val="1132847642"/>
                    </a:ext>
                  </a:extLst>
                </a:gridCol>
                <a:gridCol w="1965567">
                  <a:extLst>
                    <a:ext uri="{9D8B030D-6E8A-4147-A177-3AD203B41FA5}">
                      <a16:colId xmlns:a16="http://schemas.microsoft.com/office/drawing/2014/main" val="4028649974"/>
                    </a:ext>
                  </a:extLst>
                </a:gridCol>
                <a:gridCol w="1965567">
                  <a:extLst>
                    <a:ext uri="{9D8B030D-6E8A-4147-A177-3AD203B41FA5}">
                      <a16:colId xmlns:a16="http://schemas.microsoft.com/office/drawing/2014/main" val="2169862719"/>
                    </a:ext>
                  </a:extLst>
                </a:gridCol>
                <a:gridCol w="1965567">
                  <a:extLst>
                    <a:ext uri="{9D8B030D-6E8A-4147-A177-3AD203B41FA5}">
                      <a16:colId xmlns:a16="http://schemas.microsoft.com/office/drawing/2014/main" val="359921530"/>
                    </a:ext>
                  </a:extLst>
                </a:gridCol>
              </a:tblGrid>
              <a:tr h="846320">
                <a:tc>
                  <a:txBody>
                    <a:bodyPr/>
                    <a:lstStyle/>
                    <a:p>
                      <a:pPr algn="ctr"/>
                      <a:endParaRPr lang="en-US" dirty="0">
                        <a:solidFill>
                          <a:schemeClr val="bg1"/>
                        </a:solidFill>
                        <a:latin typeface="Calibri" panose="020F0502020204030204" pitchFamily="34" charset="0"/>
                        <a:cs typeface="Calibri" panose="020F0502020204030204" pitchFamily="34"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dirty="0">
                          <a:solidFill>
                            <a:schemeClr val="bg1"/>
                          </a:solidFill>
                          <a:latin typeface="Calibri" panose="020F0502020204030204" pitchFamily="34" charset="0"/>
                          <a:cs typeface="Calibri" panose="020F0502020204030204" pitchFamily="34" charset="0"/>
                        </a:rPr>
                        <a:t>Closed-end Fund</a:t>
                      </a:r>
                      <a:endParaRPr lang="en-US" sz="2000" dirty="0">
                        <a:solidFill>
                          <a:schemeClr val="bg1"/>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A9864"/>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dirty="0">
                          <a:solidFill>
                            <a:schemeClr val="bg1"/>
                          </a:solidFill>
                          <a:latin typeface="Calibri" panose="020F0502020204030204" pitchFamily="34" charset="0"/>
                          <a:cs typeface="Calibri" panose="020F0502020204030204" pitchFamily="34" charset="0"/>
                        </a:rPr>
                        <a:t>Mutual Fund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dirty="0">
                          <a:solidFill>
                            <a:schemeClr val="bg1"/>
                          </a:solidFill>
                          <a:latin typeface="Calibri" panose="020F0502020204030204" pitchFamily="34" charset="0"/>
                          <a:cs typeface="Calibri" panose="020F0502020204030204" pitchFamily="34" charset="0"/>
                        </a:rPr>
                        <a:t>Open-end Fund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A9864"/>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dirty="0">
                          <a:solidFill>
                            <a:schemeClr val="bg1"/>
                          </a:solidFill>
                          <a:latin typeface="Calibri" panose="020F0502020204030204" pitchFamily="34" charset="0"/>
                          <a:cs typeface="Calibri" panose="020F0502020204030204" pitchFamily="34" charset="0"/>
                        </a:rPr>
                        <a:t>ETF – Exchange Traded Fund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A9864"/>
                    </a:solidFill>
                  </a:tcPr>
                </a:tc>
                <a:extLst>
                  <a:ext uri="{0D108BD9-81ED-4DB2-BD59-A6C34878D82A}">
                    <a16:rowId xmlns:a16="http://schemas.microsoft.com/office/drawing/2014/main" val="346459872"/>
                  </a:ext>
                </a:extLst>
              </a:tr>
              <a:tr h="850273">
                <a:tc>
                  <a:txBody>
                    <a:bodyPr/>
                    <a:lstStyle/>
                    <a:p>
                      <a:pPr algn="ctr"/>
                      <a:r>
                        <a:rPr lang="en-US" b="1" dirty="0">
                          <a:solidFill>
                            <a:schemeClr val="bg1"/>
                          </a:solidFill>
                        </a:rPr>
                        <a:t>Share Structure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BCCCF"/>
                    </a:solidFill>
                  </a:tcPr>
                </a:tc>
                <a:tc>
                  <a:txBody>
                    <a:bodyPr/>
                    <a:lstStyle/>
                    <a:p>
                      <a:pPr algn="ctr"/>
                      <a:r>
                        <a:rPr lang="en-US" sz="1600" dirty="0"/>
                        <a:t>Fixed Number of Shares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600" dirty="0"/>
                        <a:t>Unlimited Number of Shares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600" dirty="0"/>
                        <a:t>Unlimited Number of Shares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70564421"/>
                  </a:ext>
                </a:extLst>
              </a:tr>
              <a:tr h="680233">
                <a:tc>
                  <a:txBody>
                    <a:bodyPr/>
                    <a:lstStyle/>
                    <a:p>
                      <a:pPr algn="ctr"/>
                      <a:r>
                        <a:rPr lang="en-US" b="1" dirty="0">
                          <a:solidFill>
                            <a:schemeClr val="bg1"/>
                          </a:solidFill>
                        </a:rPr>
                        <a:t>Trading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BCCCF"/>
                    </a:solidFill>
                  </a:tcPr>
                </a:tc>
                <a:tc>
                  <a:txBody>
                    <a:bodyPr/>
                    <a:lstStyle/>
                    <a:p>
                      <a:pPr algn="ctr"/>
                      <a:r>
                        <a:rPr lang="en-US" sz="1600" dirty="0"/>
                        <a:t>Market 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t>Net Asset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t>Market 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6463485"/>
                  </a:ext>
                </a:extLst>
              </a:tr>
              <a:tr h="675988">
                <a:tc>
                  <a:txBody>
                    <a:bodyPr/>
                    <a:lstStyle/>
                    <a:p>
                      <a:pPr algn="ctr"/>
                      <a:r>
                        <a:rPr lang="en-US" b="1" dirty="0">
                          <a:solidFill>
                            <a:schemeClr val="bg1"/>
                          </a:solidFill>
                        </a:rPr>
                        <a:t>NAV vs 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BCCCF"/>
                    </a:solidFill>
                  </a:tcPr>
                </a:tc>
                <a:tc>
                  <a:txBody>
                    <a:bodyPr/>
                    <a:lstStyle/>
                    <a:p>
                      <a:pPr algn="ctr"/>
                      <a:r>
                        <a:rPr lang="en-US" sz="1600" dirty="0"/>
                        <a:t>Discount/Premium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600" dirty="0"/>
                        <a:t>Equilibrium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600" dirty="0"/>
                        <a:t>Equilibrium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61824502"/>
                  </a:ext>
                </a:extLst>
              </a:tr>
            </a:tbl>
          </a:graphicData>
        </a:graphic>
      </p:graphicFrame>
      <p:cxnSp>
        <p:nvCxnSpPr>
          <p:cNvPr id="7" name="Straight Connector 6">
            <a:extLst>
              <a:ext uri="{FF2B5EF4-FFF2-40B4-BE49-F238E27FC236}">
                <a16:creationId xmlns:a16="http://schemas.microsoft.com/office/drawing/2014/main" id="{5046A8DC-A520-446E-A1FD-B7E99C777078}"/>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1" name="Slide Number Placeholder 6">
            <a:extLst>
              <a:ext uri="{FF2B5EF4-FFF2-40B4-BE49-F238E27FC236}">
                <a16:creationId xmlns:a16="http://schemas.microsoft.com/office/drawing/2014/main" id="{163FA129-9EA6-4DBF-8CA9-0B15BD389DA4}"/>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3</a:t>
            </a:fld>
            <a:endParaRPr lang="en-US" sz="1000" b="1" dirty="0">
              <a:solidFill>
                <a:schemeClr val="bg1"/>
              </a:solidFill>
              <a:latin typeface="Arial Bold"/>
              <a:cs typeface="Arial Bold"/>
            </a:endParaRPr>
          </a:p>
        </p:txBody>
      </p:sp>
    </p:spTree>
    <p:extLst>
      <p:ext uri="{BB962C8B-B14F-4D97-AF65-F5344CB8AC3E}">
        <p14:creationId xmlns:p14="http://schemas.microsoft.com/office/powerpoint/2010/main" val="3605049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11" name="Slide Number Placeholder 6">
            <a:extLst>
              <a:ext uri="{FF2B5EF4-FFF2-40B4-BE49-F238E27FC236}">
                <a16:creationId xmlns:a16="http://schemas.microsoft.com/office/drawing/2014/main" id="{163FA129-9EA6-4DBF-8CA9-0B15BD389DA4}"/>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4</a:t>
            </a:fld>
            <a:endParaRPr lang="en-US" sz="1000" b="1" dirty="0">
              <a:solidFill>
                <a:schemeClr val="bg1"/>
              </a:solidFill>
              <a:latin typeface="Arial Bold"/>
              <a:cs typeface="Arial Bold"/>
            </a:endParaRPr>
          </a:p>
        </p:txBody>
      </p:sp>
      <p:sp>
        <p:nvSpPr>
          <p:cNvPr id="10" name="Rounded Rectangle 23">
            <a:extLst>
              <a:ext uri="{FF2B5EF4-FFF2-40B4-BE49-F238E27FC236}">
                <a16:creationId xmlns:a16="http://schemas.microsoft.com/office/drawing/2014/main" id="{90645821-8C80-4134-BDBC-C002213736FD}"/>
              </a:ext>
            </a:extLst>
          </p:cNvPr>
          <p:cNvSpPr/>
          <p:nvPr/>
        </p:nvSpPr>
        <p:spPr>
          <a:xfrm>
            <a:off x="1950312" y="3124200"/>
            <a:ext cx="1260850" cy="1260850"/>
          </a:xfrm>
          <a:prstGeom prst="roundRect">
            <a:avLst/>
          </a:prstGeom>
          <a:gradFill flip="none" rotWithShape="1">
            <a:gsLst>
              <a:gs pos="0">
                <a:schemeClr val="tx1">
                  <a:lumMod val="85000"/>
                  <a:lumOff val="15000"/>
                </a:schemeClr>
              </a:gs>
              <a:gs pos="100000">
                <a:schemeClr val="bg1">
                  <a:lumMod val="65000"/>
                </a:schemeClr>
              </a:gs>
            </a:gsLst>
            <a:lin ang="5400000" scaled="0"/>
            <a:tileRect/>
          </a:gradFill>
          <a:ln>
            <a:solidFill>
              <a:srgbClr val="CBC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ounded Rectangle 24">
            <a:extLst>
              <a:ext uri="{FF2B5EF4-FFF2-40B4-BE49-F238E27FC236}">
                <a16:creationId xmlns:a16="http://schemas.microsoft.com/office/drawing/2014/main" id="{8CBC599B-B3F1-4AF5-8205-6907A53DB197}"/>
              </a:ext>
            </a:extLst>
          </p:cNvPr>
          <p:cNvSpPr/>
          <p:nvPr/>
        </p:nvSpPr>
        <p:spPr>
          <a:xfrm>
            <a:off x="457200" y="3124200"/>
            <a:ext cx="1260850" cy="1260850"/>
          </a:xfrm>
          <a:prstGeom prst="roundRect">
            <a:avLst/>
          </a:prstGeom>
          <a:gradFill flip="none" rotWithShape="1">
            <a:gsLst>
              <a:gs pos="0">
                <a:schemeClr val="tx1">
                  <a:lumMod val="85000"/>
                  <a:lumOff val="15000"/>
                </a:schemeClr>
              </a:gs>
              <a:gs pos="100000">
                <a:schemeClr val="bg1">
                  <a:lumMod val="65000"/>
                </a:schemeClr>
              </a:gs>
            </a:gsLst>
            <a:lin ang="5400000" scaled="0"/>
            <a:tileRect/>
          </a:gradFill>
          <a:ln>
            <a:solidFill>
              <a:srgbClr val="CBC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Content Placeholder 11">
            <a:extLst>
              <a:ext uri="{FF2B5EF4-FFF2-40B4-BE49-F238E27FC236}">
                <a16:creationId xmlns:a16="http://schemas.microsoft.com/office/drawing/2014/main" id="{EC966E86-26D8-497C-B03C-40349806D62B}"/>
              </a:ext>
            </a:extLst>
          </p:cNvPr>
          <p:cNvSpPr txBox="1">
            <a:spLocks/>
          </p:cNvSpPr>
          <p:nvPr/>
        </p:nvSpPr>
        <p:spPr>
          <a:xfrm>
            <a:off x="774701" y="1308100"/>
            <a:ext cx="7480299" cy="6731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800" b="1" dirty="0">
                <a:solidFill>
                  <a:srgbClr val="BA9864"/>
                </a:solidFill>
                <a:latin typeface="Tahoma"/>
                <a:cs typeface="Tahoma"/>
              </a:rPr>
              <a:t>Closed-end Fund Universe</a:t>
            </a:r>
          </a:p>
          <a:p>
            <a:pPr marL="0" indent="0">
              <a:buNone/>
            </a:pPr>
            <a:r>
              <a:rPr lang="en-US" sz="1200" b="1" dirty="0">
                <a:latin typeface="Tahoma"/>
                <a:cs typeface="Tahoma"/>
              </a:rPr>
              <a:t>Gridiron Partners</a:t>
            </a:r>
            <a:r>
              <a:rPr lang="en-US" sz="1200" dirty="0">
                <a:latin typeface="Tahoma"/>
                <a:cs typeface="Tahoma"/>
              </a:rPr>
              <a:t> Tactical Fixed Income invests exclusively in fixed income closed end funds</a:t>
            </a:r>
          </a:p>
        </p:txBody>
      </p:sp>
      <p:sp>
        <p:nvSpPr>
          <p:cNvPr id="15" name="Title 10">
            <a:extLst>
              <a:ext uri="{FF2B5EF4-FFF2-40B4-BE49-F238E27FC236}">
                <a16:creationId xmlns:a16="http://schemas.microsoft.com/office/drawing/2014/main" id="{6A9ADCEA-9572-4E0C-BAEC-9A26C35E51C4}"/>
              </a:ext>
            </a:extLst>
          </p:cNvPr>
          <p:cNvSpPr txBox="1">
            <a:spLocks/>
          </p:cNvSpPr>
          <p:nvPr/>
        </p:nvSpPr>
        <p:spPr>
          <a:xfrm>
            <a:off x="457200" y="177801"/>
            <a:ext cx="8229600" cy="61555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rgbClr val="BA9864"/>
                </a:solidFill>
                <a:latin typeface="Arial"/>
                <a:cs typeface="Arial"/>
              </a:rPr>
              <a:t>INVESTMENT </a:t>
            </a:r>
            <a:r>
              <a:rPr lang="en-US" sz="2400" b="1" dirty="0">
                <a:solidFill>
                  <a:srgbClr val="515257"/>
                </a:solidFill>
                <a:latin typeface="Arial"/>
                <a:cs typeface="Arial"/>
              </a:rPr>
              <a:t>UNIVERSE</a:t>
            </a:r>
          </a:p>
        </p:txBody>
      </p:sp>
      <p:sp>
        <p:nvSpPr>
          <p:cNvPr id="16" name="TextBox 15">
            <a:extLst>
              <a:ext uri="{FF2B5EF4-FFF2-40B4-BE49-F238E27FC236}">
                <a16:creationId xmlns:a16="http://schemas.microsoft.com/office/drawing/2014/main" id="{F3BF7E7E-F49F-4EC1-873C-B815560B4938}"/>
              </a:ext>
            </a:extLst>
          </p:cNvPr>
          <p:cNvSpPr txBox="1"/>
          <p:nvPr/>
        </p:nvSpPr>
        <p:spPr>
          <a:xfrm>
            <a:off x="479318" y="3174581"/>
            <a:ext cx="1238732" cy="1210588"/>
          </a:xfrm>
          <a:prstGeom prst="rect">
            <a:avLst/>
          </a:prstGeom>
          <a:noFill/>
        </p:spPr>
        <p:txBody>
          <a:bodyPr wrap="square" rtlCol="0">
            <a:spAutoFit/>
          </a:bodyPr>
          <a:lstStyle/>
          <a:p>
            <a:pPr algn="ctr">
              <a:lnSpc>
                <a:spcPct val="80000"/>
              </a:lnSpc>
            </a:pPr>
            <a:r>
              <a:rPr lang="en-US" sz="1600" b="1" dirty="0">
                <a:solidFill>
                  <a:schemeClr val="bg1"/>
                </a:solidFill>
                <a:effectLst>
                  <a:outerShdw blurRad="82550" dist="88900" dir="2700000" algn="tl" rotWithShape="0">
                    <a:srgbClr val="000000">
                      <a:alpha val="16000"/>
                    </a:srgbClr>
                  </a:outerShdw>
                </a:effectLst>
                <a:latin typeface="Arial"/>
                <a:cs typeface="Arial"/>
              </a:rPr>
              <a:t>TOTAL UNIVERSE</a:t>
            </a:r>
            <a:endParaRPr lang="en-US" sz="1600" dirty="0">
              <a:solidFill>
                <a:schemeClr val="bg1"/>
              </a:solidFill>
              <a:effectLst>
                <a:outerShdw blurRad="82550" dist="88900" dir="2700000" algn="tl" rotWithShape="0">
                  <a:srgbClr val="000000">
                    <a:alpha val="16000"/>
                  </a:srgbClr>
                </a:outerShdw>
              </a:effectLst>
              <a:latin typeface="Arial"/>
              <a:cs typeface="Arial"/>
            </a:endParaRPr>
          </a:p>
          <a:p>
            <a:pPr algn="ctr">
              <a:lnSpc>
                <a:spcPct val="90000"/>
              </a:lnSpc>
            </a:pPr>
            <a:r>
              <a:rPr lang="en-US" sz="3600" dirty="0">
                <a:solidFill>
                  <a:schemeClr val="bg1"/>
                </a:solidFill>
                <a:effectLst>
                  <a:outerShdw blurRad="82550" dist="88900" dir="2700000" algn="tl" rotWithShape="0">
                    <a:srgbClr val="000000">
                      <a:alpha val="16000"/>
                    </a:srgbClr>
                  </a:outerShdw>
                </a:effectLst>
                <a:latin typeface="Arial Black"/>
                <a:cs typeface="Arial Black"/>
              </a:rPr>
              <a:t>550</a:t>
            </a:r>
          </a:p>
          <a:p>
            <a:pPr algn="ctr">
              <a:lnSpc>
                <a:spcPct val="90000"/>
              </a:lnSpc>
            </a:pPr>
            <a:r>
              <a:rPr lang="en-US" sz="1600" b="1" dirty="0">
                <a:solidFill>
                  <a:schemeClr val="bg1"/>
                </a:solidFill>
                <a:effectLst>
                  <a:outerShdw blurRad="82550" dist="88900" dir="2700000" algn="tl" rotWithShape="0">
                    <a:srgbClr val="000000">
                      <a:alpha val="16000"/>
                    </a:srgbClr>
                  </a:outerShdw>
                </a:effectLst>
                <a:latin typeface="Arial"/>
                <a:cs typeface="Arial"/>
              </a:rPr>
              <a:t>FUNDS</a:t>
            </a:r>
            <a:endParaRPr lang="en-US" sz="1600" dirty="0">
              <a:solidFill>
                <a:schemeClr val="bg1"/>
              </a:solidFill>
              <a:effectLst>
                <a:outerShdw blurRad="82550" dist="88900" dir="2700000" algn="tl" rotWithShape="0">
                  <a:srgbClr val="000000">
                    <a:alpha val="16000"/>
                  </a:srgbClr>
                </a:outerShdw>
              </a:effectLst>
              <a:latin typeface="Arial"/>
              <a:cs typeface="Arial"/>
            </a:endParaRPr>
          </a:p>
        </p:txBody>
      </p:sp>
      <p:sp>
        <p:nvSpPr>
          <p:cNvPr id="17" name="TextBox 16">
            <a:extLst>
              <a:ext uri="{FF2B5EF4-FFF2-40B4-BE49-F238E27FC236}">
                <a16:creationId xmlns:a16="http://schemas.microsoft.com/office/drawing/2014/main" id="{9E11FCF9-1CC1-4AA2-A341-969466D1D0EA}"/>
              </a:ext>
            </a:extLst>
          </p:cNvPr>
          <p:cNvSpPr txBox="1"/>
          <p:nvPr/>
        </p:nvSpPr>
        <p:spPr>
          <a:xfrm>
            <a:off x="1881594" y="3174581"/>
            <a:ext cx="1420406" cy="1210588"/>
          </a:xfrm>
          <a:prstGeom prst="rect">
            <a:avLst/>
          </a:prstGeom>
          <a:noFill/>
        </p:spPr>
        <p:txBody>
          <a:bodyPr wrap="square" rtlCol="0">
            <a:spAutoFit/>
          </a:bodyPr>
          <a:lstStyle/>
          <a:p>
            <a:pPr algn="ctr">
              <a:lnSpc>
                <a:spcPct val="80000"/>
              </a:lnSpc>
            </a:pPr>
            <a:r>
              <a:rPr lang="en-US" sz="1600" b="1" dirty="0">
                <a:solidFill>
                  <a:schemeClr val="bg1"/>
                </a:solidFill>
                <a:effectLst>
                  <a:outerShdw blurRad="82550" dist="88900" dir="2700000" algn="tl" rotWithShape="0">
                    <a:srgbClr val="000000">
                      <a:alpha val="16000"/>
                    </a:srgbClr>
                  </a:outerShdw>
                </a:effectLst>
                <a:latin typeface="Arial"/>
                <a:cs typeface="Arial"/>
              </a:rPr>
              <a:t>AUM &gt;</a:t>
            </a:r>
            <a:br>
              <a:rPr lang="en-US" sz="1600" b="1" dirty="0">
                <a:solidFill>
                  <a:schemeClr val="bg1"/>
                </a:solidFill>
                <a:effectLst>
                  <a:outerShdw blurRad="82550" dist="88900" dir="2700000" algn="tl" rotWithShape="0">
                    <a:srgbClr val="000000">
                      <a:alpha val="16000"/>
                    </a:srgbClr>
                  </a:outerShdw>
                </a:effectLst>
                <a:latin typeface="Arial"/>
                <a:cs typeface="Arial"/>
              </a:rPr>
            </a:br>
            <a:r>
              <a:rPr lang="en-US" sz="1600" b="1" dirty="0">
                <a:solidFill>
                  <a:schemeClr val="bg1"/>
                </a:solidFill>
                <a:effectLst>
                  <a:outerShdw blurRad="82550" dist="88900" dir="2700000" algn="tl" rotWithShape="0">
                    <a:srgbClr val="000000">
                      <a:alpha val="16000"/>
                    </a:srgbClr>
                  </a:outerShdw>
                </a:effectLst>
                <a:latin typeface="Arial"/>
                <a:cs typeface="Arial"/>
              </a:rPr>
              <a:t>$100</a:t>
            </a:r>
            <a:endParaRPr lang="en-US" sz="1600" dirty="0">
              <a:solidFill>
                <a:schemeClr val="bg1"/>
              </a:solidFill>
              <a:effectLst>
                <a:outerShdw blurRad="82550" dist="88900" dir="2700000" algn="tl" rotWithShape="0">
                  <a:srgbClr val="000000">
                    <a:alpha val="16000"/>
                  </a:srgbClr>
                </a:outerShdw>
              </a:effectLst>
              <a:latin typeface="Arial"/>
              <a:cs typeface="Arial"/>
            </a:endParaRPr>
          </a:p>
          <a:p>
            <a:pPr algn="ctr">
              <a:lnSpc>
                <a:spcPct val="90000"/>
              </a:lnSpc>
            </a:pPr>
            <a:r>
              <a:rPr lang="en-US" sz="3600" dirty="0">
                <a:solidFill>
                  <a:schemeClr val="bg1"/>
                </a:solidFill>
                <a:effectLst>
                  <a:outerShdw blurRad="82550" dist="88900" dir="2700000" algn="tl" rotWithShape="0">
                    <a:srgbClr val="000000">
                      <a:alpha val="16000"/>
                    </a:srgbClr>
                  </a:outerShdw>
                </a:effectLst>
                <a:latin typeface="Arial Black"/>
                <a:cs typeface="Arial Black"/>
              </a:rPr>
              <a:t>440</a:t>
            </a:r>
          </a:p>
          <a:p>
            <a:pPr algn="ctr">
              <a:lnSpc>
                <a:spcPct val="90000"/>
              </a:lnSpc>
            </a:pPr>
            <a:r>
              <a:rPr lang="en-US" sz="1600" b="1" dirty="0">
                <a:solidFill>
                  <a:schemeClr val="bg1"/>
                </a:solidFill>
                <a:effectLst>
                  <a:outerShdw blurRad="82550" dist="88900" dir="2700000" algn="tl" rotWithShape="0">
                    <a:srgbClr val="000000">
                      <a:alpha val="16000"/>
                    </a:srgbClr>
                  </a:outerShdw>
                </a:effectLst>
                <a:latin typeface="Arial"/>
                <a:cs typeface="Arial"/>
              </a:rPr>
              <a:t>FUNDS</a:t>
            </a:r>
            <a:endParaRPr lang="en-US" sz="1600" dirty="0">
              <a:solidFill>
                <a:schemeClr val="bg1"/>
              </a:solidFill>
              <a:effectLst>
                <a:outerShdw blurRad="82550" dist="88900" dir="2700000" algn="tl" rotWithShape="0">
                  <a:srgbClr val="000000">
                    <a:alpha val="16000"/>
                  </a:srgbClr>
                </a:outerShdw>
              </a:effectLst>
              <a:latin typeface="Arial"/>
              <a:cs typeface="Arial"/>
            </a:endParaRPr>
          </a:p>
        </p:txBody>
      </p:sp>
      <p:sp>
        <p:nvSpPr>
          <p:cNvPr id="18" name="Rounded Rectangle 11">
            <a:extLst>
              <a:ext uri="{FF2B5EF4-FFF2-40B4-BE49-F238E27FC236}">
                <a16:creationId xmlns:a16="http://schemas.microsoft.com/office/drawing/2014/main" id="{A7739AE9-FEEE-4B8A-9F57-47597150DF03}"/>
              </a:ext>
            </a:extLst>
          </p:cNvPr>
          <p:cNvSpPr/>
          <p:nvPr/>
        </p:nvSpPr>
        <p:spPr>
          <a:xfrm>
            <a:off x="3410244" y="3124200"/>
            <a:ext cx="1260850" cy="1260850"/>
          </a:xfrm>
          <a:prstGeom prst="roundRect">
            <a:avLst/>
          </a:prstGeom>
          <a:gradFill flip="none" rotWithShape="1">
            <a:gsLst>
              <a:gs pos="0">
                <a:schemeClr val="tx1">
                  <a:lumMod val="85000"/>
                  <a:lumOff val="15000"/>
                </a:schemeClr>
              </a:gs>
              <a:gs pos="100000">
                <a:schemeClr val="bg1">
                  <a:lumMod val="65000"/>
                </a:schemeClr>
              </a:gs>
            </a:gsLst>
            <a:lin ang="5400000" scaled="0"/>
            <a:tileRect/>
          </a:gradFill>
          <a:ln>
            <a:solidFill>
              <a:srgbClr val="CBC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2B857D2-D271-4E78-99C3-374259C21E9F}"/>
              </a:ext>
            </a:extLst>
          </p:cNvPr>
          <p:cNvSpPr txBox="1"/>
          <p:nvPr/>
        </p:nvSpPr>
        <p:spPr>
          <a:xfrm>
            <a:off x="3432364" y="3174581"/>
            <a:ext cx="1238730" cy="1210588"/>
          </a:xfrm>
          <a:prstGeom prst="rect">
            <a:avLst/>
          </a:prstGeom>
          <a:noFill/>
        </p:spPr>
        <p:txBody>
          <a:bodyPr wrap="square" rtlCol="0">
            <a:spAutoFit/>
          </a:bodyPr>
          <a:lstStyle/>
          <a:p>
            <a:pPr algn="ctr">
              <a:lnSpc>
                <a:spcPct val="80000"/>
              </a:lnSpc>
            </a:pPr>
            <a:r>
              <a:rPr lang="en-US" sz="1600" b="1" dirty="0">
                <a:solidFill>
                  <a:schemeClr val="bg1"/>
                </a:solidFill>
                <a:effectLst>
                  <a:outerShdw blurRad="82550" dist="88900" dir="2700000" algn="tl" rotWithShape="0">
                    <a:srgbClr val="000000">
                      <a:alpha val="16000"/>
                    </a:srgbClr>
                  </a:outerShdw>
                </a:effectLst>
                <a:latin typeface="Arial"/>
                <a:cs typeface="Arial"/>
              </a:rPr>
              <a:t>ACTIVELY TRADED</a:t>
            </a:r>
            <a:endParaRPr lang="en-US" sz="1600" dirty="0">
              <a:solidFill>
                <a:schemeClr val="bg1"/>
              </a:solidFill>
              <a:effectLst>
                <a:outerShdw blurRad="82550" dist="88900" dir="2700000" algn="tl" rotWithShape="0">
                  <a:srgbClr val="000000">
                    <a:alpha val="16000"/>
                  </a:srgbClr>
                </a:outerShdw>
              </a:effectLst>
              <a:latin typeface="Arial"/>
              <a:cs typeface="Arial"/>
            </a:endParaRPr>
          </a:p>
          <a:p>
            <a:pPr algn="ctr">
              <a:lnSpc>
                <a:spcPct val="90000"/>
              </a:lnSpc>
            </a:pPr>
            <a:r>
              <a:rPr lang="en-US" sz="3600" dirty="0">
                <a:solidFill>
                  <a:schemeClr val="bg1"/>
                </a:solidFill>
                <a:effectLst>
                  <a:outerShdw blurRad="82550" dist="88900" dir="2700000" algn="tl" rotWithShape="0">
                    <a:srgbClr val="000000">
                      <a:alpha val="16000"/>
                    </a:srgbClr>
                  </a:outerShdw>
                </a:effectLst>
                <a:latin typeface="Arial Black"/>
                <a:cs typeface="Arial Black"/>
              </a:rPr>
              <a:t>275</a:t>
            </a:r>
          </a:p>
          <a:p>
            <a:pPr algn="ctr">
              <a:lnSpc>
                <a:spcPct val="90000"/>
              </a:lnSpc>
            </a:pPr>
            <a:r>
              <a:rPr lang="en-US" sz="1600" b="1" dirty="0">
                <a:solidFill>
                  <a:schemeClr val="bg1"/>
                </a:solidFill>
                <a:effectLst>
                  <a:outerShdw blurRad="82550" dist="88900" dir="2700000" algn="tl" rotWithShape="0">
                    <a:srgbClr val="000000">
                      <a:alpha val="16000"/>
                    </a:srgbClr>
                  </a:outerShdw>
                </a:effectLst>
                <a:latin typeface="Arial"/>
                <a:cs typeface="Arial"/>
              </a:rPr>
              <a:t>FUNDS</a:t>
            </a:r>
            <a:endParaRPr lang="en-US" sz="1600" dirty="0">
              <a:solidFill>
                <a:schemeClr val="bg1"/>
              </a:solidFill>
              <a:effectLst>
                <a:outerShdw blurRad="82550" dist="88900" dir="2700000" algn="tl" rotWithShape="0">
                  <a:srgbClr val="000000">
                    <a:alpha val="16000"/>
                  </a:srgbClr>
                </a:outerShdw>
              </a:effectLst>
              <a:latin typeface="Arial"/>
              <a:cs typeface="Arial"/>
            </a:endParaRPr>
          </a:p>
        </p:txBody>
      </p:sp>
      <p:sp>
        <p:nvSpPr>
          <p:cNvPr id="20" name="Rounded Rectangle 13">
            <a:extLst>
              <a:ext uri="{FF2B5EF4-FFF2-40B4-BE49-F238E27FC236}">
                <a16:creationId xmlns:a16="http://schemas.microsoft.com/office/drawing/2014/main" id="{F6AC7B64-5D88-44B1-8E99-2A327CDD56E0}"/>
              </a:ext>
            </a:extLst>
          </p:cNvPr>
          <p:cNvSpPr/>
          <p:nvPr/>
        </p:nvSpPr>
        <p:spPr>
          <a:xfrm>
            <a:off x="6858000" y="2105930"/>
            <a:ext cx="1833059" cy="3394115"/>
          </a:xfrm>
          <a:prstGeom prst="roundRect">
            <a:avLst/>
          </a:prstGeom>
          <a:gradFill flip="none" rotWithShape="1">
            <a:gsLst>
              <a:gs pos="0">
                <a:schemeClr val="bg1">
                  <a:lumMod val="65000"/>
                </a:schemeClr>
              </a:gs>
              <a:gs pos="100000">
                <a:srgbClr val="515257"/>
              </a:gs>
            </a:gsLst>
            <a:lin ang="5400000" scaled="0"/>
            <a:tileRect/>
          </a:gradFill>
          <a:ln>
            <a:solidFill>
              <a:srgbClr val="CBC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7598890-B8FA-46CB-9C55-23AB982B442C}"/>
              </a:ext>
            </a:extLst>
          </p:cNvPr>
          <p:cNvSpPr txBox="1"/>
          <p:nvPr/>
        </p:nvSpPr>
        <p:spPr>
          <a:xfrm>
            <a:off x="6988086" y="2224776"/>
            <a:ext cx="1584711" cy="3241913"/>
          </a:xfrm>
          <a:prstGeom prst="rect">
            <a:avLst/>
          </a:prstGeom>
          <a:noFill/>
        </p:spPr>
        <p:txBody>
          <a:bodyPr wrap="square" rtlCol="0">
            <a:spAutoFit/>
          </a:bodyPr>
          <a:lstStyle/>
          <a:p>
            <a:pPr algn="ctr">
              <a:lnSpc>
                <a:spcPct val="90000"/>
              </a:lnSpc>
            </a:pPr>
            <a:r>
              <a:rPr lang="en-US" sz="2000" dirty="0">
                <a:solidFill>
                  <a:schemeClr val="bg1"/>
                </a:solidFill>
                <a:effectLst>
                  <a:outerShdw blurRad="82550" dist="88900" dir="2700000" algn="tl" rotWithShape="0">
                    <a:srgbClr val="000000">
                      <a:alpha val="16000"/>
                    </a:srgbClr>
                  </a:outerShdw>
                </a:effectLst>
                <a:latin typeface="Arial Black"/>
                <a:cs typeface="Arial Black"/>
              </a:rPr>
              <a:t>SECTORS</a:t>
            </a:r>
          </a:p>
          <a:p>
            <a:pPr algn="ctr">
              <a:lnSpc>
                <a:spcPct val="150000"/>
              </a:lnSpc>
            </a:pPr>
            <a:r>
              <a:rPr lang="en-US" sz="1600" dirty="0">
                <a:solidFill>
                  <a:srgbClr val="FFFFFF"/>
                </a:solidFill>
                <a:latin typeface="Arial"/>
                <a:cs typeface="Arial"/>
              </a:rPr>
              <a:t>Diversified</a:t>
            </a:r>
          </a:p>
          <a:p>
            <a:pPr algn="ctr"/>
            <a:r>
              <a:rPr lang="en-US" sz="1600" dirty="0">
                <a:solidFill>
                  <a:srgbClr val="FFFFFF"/>
                </a:solidFill>
                <a:latin typeface="Arial"/>
                <a:cs typeface="Arial"/>
              </a:rPr>
              <a:t>Mortgage Backed</a:t>
            </a:r>
          </a:p>
          <a:p>
            <a:pPr algn="ctr"/>
            <a:r>
              <a:rPr lang="en-US" sz="1600" dirty="0">
                <a:solidFill>
                  <a:srgbClr val="FFFFFF"/>
                </a:solidFill>
                <a:latin typeface="Arial"/>
                <a:cs typeface="Arial"/>
              </a:rPr>
              <a:t>Corp High Yield</a:t>
            </a:r>
          </a:p>
          <a:p>
            <a:pPr algn="ctr"/>
            <a:r>
              <a:rPr lang="en-US" sz="1600" dirty="0">
                <a:solidFill>
                  <a:srgbClr val="FFFFFF"/>
                </a:solidFill>
                <a:latin typeface="Arial"/>
                <a:cs typeface="Arial"/>
              </a:rPr>
              <a:t>Low Duration</a:t>
            </a:r>
          </a:p>
          <a:p>
            <a:pPr algn="ctr"/>
            <a:r>
              <a:rPr lang="en-US" sz="1600" dirty="0">
                <a:solidFill>
                  <a:srgbClr val="FFFFFF"/>
                </a:solidFill>
                <a:latin typeface="Arial"/>
                <a:cs typeface="Arial"/>
              </a:rPr>
              <a:t>Preferred</a:t>
            </a:r>
          </a:p>
          <a:p>
            <a:pPr algn="ctr"/>
            <a:r>
              <a:rPr lang="en-US" sz="1600" dirty="0">
                <a:solidFill>
                  <a:srgbClr val="FFFFFF"/>
                </a:solidFill>
                <a:latin typeface="Arial"/>
                <a:cs typeface="Arial"/>
              </a:rPr>
              <a:t>Convertible</a:t>
            </a:r>
          </a:p>
          <a:p>
            <a:pPr algn="ctr"/>
            <a:r>
              <a:rPr lang="en-US" sz="1600" dirty="0">
                <a:solidFill>
                  <a:srgbClr val="FFFFFF"/>
                </a:solidFill>
                <a:latin typeface="Arial"/>
                <a:cs typeface="Arial"/>
              </a:rPr>
              <a:t>Floating Rate</a:t>
            </a:r>
          </a:p>
          <a:p>
            <a:pPr algn="ctr"/>
            <a:r>
              <a:rPr lang="en-US" sz="1600" dirty="0">
                <a:solidFill>
                  <a:srgbClr val="FFFFFF"/>
                </a:solidFill>
                <a:latin typeface="Arial"/>
                <a:cs typeface="Arial"/>
              </a:rPr>
              <a:t>Global</a:t>
            </a:r>
          </a:p>
          <a:p>
            <a:pPr algn="ctr"/>
            <a:r>
              <a:rPr lang="en-US" sz="1600" dirty="0">
                <a:solidFill>
                  <a:srgbClr val="FFFFFF"/>
                </a:solidFill>
                <a:latin typeface="Arial"/>
                <a:cs typeface="Arial"/>
              </a:rPr>
              <a:t>Municipal</a:t>
            </a:r>
            <a:endParaRPr lang="en-US" sz="1600" dirty="0">
              <a:solidFill>
                <a:srgbClr val="FFFFFF"/>
              </a:solidFill>
              <a:effectLst>
                <a:outerShdw blurRad="82550" dist="88900" dir="2700000" algn="tl" rotWithShape="0">
                  <a:srgbClr val="000000">
                    <a:alpha val="16000"/>
                  </a:srgbClr>
                </a:outerShdw>
              </a:effectLst>
              <a:latin typeface="Arial"/>
              <a:cs typeface="Arial"/>
            </a:endParaRPr>
          </a:p>
        </p:txBody>
      </p:sp>
      <p:sp>
        <p:nvSpPr>
          <p:cNvPr id="22" name="TextBox 21">
            <a:extLst>
              <a:ext uri="{FF2B5EF4-FFF2-40B4-BE49-F238E27FC236}">
                <a16:creationId xmlns:a16="http://schemas.microsoft.com/office/drawing/2014/main" id="{9090AB9C-473F-43A0-8805-4FEF377B56FC}"/>
              </a:ext>
            </a:extLst>
          </p:cNvPr>
          <p:cNvSpPr txBox="1"/>
          <p:nvPr/>
        </p:nvSpPr>
        <p:spPr>
          <a:xfrm>
            <a:off x="4952572" y="2891367"/>
            <a:ext cx="1686374" cy="1635320"/>
          </a:xfrm>
          <a:prstGeom prst="rect">
            <a:avLst/>
          </a:prstGeom>
          <a:noFill/>
        </p:spPr>
        <p:txBody>
          <a:bodyPr wrap="square" rtlCol="0">
            <a:spAutoFit/>
          </a:bodyPr>
          <a:lstStyle/>
          <a:p>
            <a:pPr algn="ctr">
              <a:lnSpc>
                <a:spcPct val="120000"/>
              </a:lnSpc>
            </a:pPr>
            <a:r>
              <a:rPr lang="en-US" sz="3600" dirty="0">
                <a:solidFill>
                  <a:srgbClr val="BA9864"/>
                </a:solidFill>
                <a:effectLst>
                  <a:outerShdw blurRad="50800" dist="38100" dir="2700000" algn="tl" rotWithShape="0">
                    <a:srgbClr val="000000">
                      <a:alpha val="14000"/>
                    </a:srgbClr>
                  </a:outerShdw>
                </a:effectLst>
                <a:latin typeface="Arial Black"/>
                <a:cs typeface="Arial Black"/>
              </a:rPr>
              <a:t>175</a:t>
            </a:r>
          </a:p>
          <a:p>
            <a:pPr algn="ctr">
              <a:lnSpc>
                <a:spcPct val="120000"/>
              </a:lnSpc>
            </a:pPr>
            <a:r>
              <a:rPr lang="en-US" sz="1600" b="1" dirty="0">
                <a:solidFill>
                  <a:srgbClr val="BA9864"/>
                </a:solidFill>
                <a:effectLst>
                  <a:outerShdw blurRad="50800" dist="38100" dir="2700000" algn="tl" rotWithShape="0">
                    <a:srgbClr val="000000">
                      <a:alpha val="14000"/>
                    </a:srgbClr>
                  </a:outerShdw>
                </a:effectLst>
                <a:latin typeface="Arial"/>
                <a:cs typeface="Arial"/>
              </a:rPr>
              <a:t>FIXED</a:t>
            </a:r>
          </a:p>
          <a:p>
            <a:pPr algn="ctr">
              <a:lnSpc>
                <a:spcPct val="120000"/>
              </a:lnSpc>
            </a:pPr>
            <a:r>
              <a:rPr lang="en-US" sz="1600" b="1" dirty="0">
                <a:solidFill>
                  <a:srgbClr val="BA9864"/>
                </a:solidFill>
                <a:effectLst>
                  <a:outerShdw blurRad="50800" dist="38100" dir="2700000" algn="tl" rotWithShape="0">
                    <a:srgbClr val="000000">
                      <a:alpha val="14000"/>
                    </a:srgbClr>
                  </a:outerShdw>
                </a:effectLst>
                <a:latin typeface="Arial"/>
                <a:cs typeface="Arial"/>
              </a:rPr>
              <a:t>INCOME</a:t>
            </a:r>
          </a:p>
          <a:p>
            <a:pPr algn="ctr">
              <a:lnSpc>
                <a:spcPct val="120000"/>
              </a:lnSpc>
            </a:pPr>
            <a:r>
              <a:rPr lang="en-US" sz="1600" b="1" dirty="0">
                <a:solidFill>
                  <a:srgbClr val="BA9864"/>
                </a:solidFill>
                <a:effectLst>
                  <a:outerShdw blurRad="50800" dist="38100" dir="2700000" algn="tl" rotWithShape="0">
                    <a:srgbClr val="000000">
                      <a:alpha val="14000"/>
                    </a:srgbClr>
                  </a:outerShdw>
                </a:effectLst>
                <a:latin typeface="Arial"/>
                <a:cs typeface="Arial"/>
              </a:rPr>
              <a:t>FUNDS</a:t>
            </a:r>
          </a:p>
        </p:txBody>
      </p:sp>
      <p:cxnSp>
        <p:nvCxnSpPr>
          <p:cNvPr id="23" name="Straight Connector 22">
            <a:extLst>
              <a:ext uri="{FF2B5EF4-FFF2-40B4-BE49-F238E27FC236}">
                <a16:creationId xmlns:a16="http://schemas.microsoft.com/office/drawing/2014/main" id="{FDB4E0B8-FFCD-4A26-AB3D-AC1476690DE5}"/>
              </a:ext>
            </a:extLst>
          </p:cNvPr>
          <p:cNvCxnSpPr/>
          <p:nvPr/>
        </p:nvCxnSpPr>
        <p:spPr>
          <a:xfrm>
            <a:off x="457200" y="872067"/>
            <a:ext cx="8229600" cy="0"/>
          </a:xfrm>
          <a:prstGeom prst="line">
            <a:avLst/>
          </a:prstGeom>
          <a:ln w="412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7CBB446-240E-44C3-B14C-144CAA8C3D22}"/>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25" name="Slide Number Placeholder 6">
            <a:extLst>
              <a:ext uri="{FF2B5EF4-FFF2-40B4-BE49-F238E27FC236}">
                <a16:creationId xmlns:a16="http://schemas.microsoft.com/office/drawing/2014/main" id="{610CC2F5-9F34-4D62-BA1F-C98053703795}"/>
              </a:ext>
            </a:extLst>
          </p:cNvPr>
          <p:cNvSpPr txBox="1">
            <a:spLocks/>
          </p:cNvSpPr>
          <p:nvPr/>
        </p:nvSpPr>
        <p:spPr>
          <a:xfrm>
            <a:off x="457200" y="6297910"/>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4</a:t>
            </a:fld>
            <a:endParaRPr lang="en-US" sz="1000" b="1" dirty="0">
              <a:solidFill>
                <a:schemeClr val="bg1"/>
              </a:solidFill>
              <a:latin typeface="Arial Bold"/>
              <a:cs typeface="Arial Bold"/>
            </a:endParaRPr>
          </a:p>
        </p:txBody>
      </p:sp>
    </p:spTree>
    <p:extLst>
      <p:ext uri="{BB962C8B-B14F-4D97-AF65-F5344CB8AC3E}">
        <p14:creationId xmlns:p14="http://schemas.microsoft.com/office/powerpoint/2010/main" val="2445929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3" name="Title 10"/>
          <p:cNvSpPr txBox="1">
            <a:spLocks/>
          </p:cNvSpPr>
          <p:nvPr/>
        </p:nvSpPr>
        <p:spPr>
          <a:xfrm>
            <a:off x="457200" y="177801"/>
            <a:ext cx="8229600" cy="61555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rgbClr val="BA9864"/>
                </a:solidFill>
                <a:latin typeface="Arial"/>
                <a:cs typeface="Arial"/>
              </a:rPr>
              <a:t>TRADE</a:t>
            </a:r>
            <a:r>
              <a:rPr lang="en-US" sz="2400" b="1" dirty="0">
                <a:solidFill>
                  <a:srgbClr val="515257"/>
                </a:solidFill>
                <a:latin typeface="Arial"/>
                <a:cs typeface="Arial"/>
              </a:rPr>
              <a:t> EXAMPLE</a:t>
            </a:r>
          </a:p>
        </p:txBody>
      </p:sp>
      <p:cxnSp>
        <p:nvCxnSpPr>
          <p:cNvPr id="4" name="Straight Connector 3"/>
          <p:cNvCxnSpPr/>
          <p:nvPr/>
        </p:nvCxnSpPr>
        <p:spPr>
          <a:xfrm>
            <a:off x="457200" y="872067"/>
            <a:ext cx="8229600" cy="0"/>
          </a:xfrm>
          <a:prstGeom prst="line">
            <a:avLst/>
          </a:prstGeom>
          <a:ln w="412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7" name="Content Placeholder 8">
            <a:extLst>
              <a:ext uri="{FF2B5EF4-FFF2-40B4-BE49-F238E27FC236}">
                <a16:creationId xmlns:a16="http://schemas.microsoft.com/office/drawing/2014/main" id="{EEA18404-BF54-8747-8CB2-45FAFD89C92B}"/>
              </a:ext>
            </a:extLst>
          </p:cNvPr>
          <p:cNvSpPr txBox="1">
            <a:spLocks/>
          </p:cNvSpPr>
          <p:nvPr/>
        </p:nvSpPr>
        <p:spPr>
          <a:xfrm>
            <a:off x="825500" y="1412239"/>
            <a:ext cx="7314480" cy="45720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400" b="1" dirty="0" err="1">
                <a:latin typeface="Tahoma"/>
                <a:cs typeface="Tahoma"/>
              </a:rPr>
              <a:t>Calamos</a:t>
            </a:r>
            <a:r>
              <a:rPr lang="en-US" sz="1400" b="1" dirty="0">
                <a:latin typeface="Tahoma"/>
                <a:cs typeface="Tahoma"/>
              </a:rPr>
              <a:t> Convertible Opportunities and Income Fund (CHI)</a:t>
            </a:r>
          </a:p>
        </p:txBody>
      </p:sp>
      <p:pic>
        <p:nvPicPr>
          <p:cNvPr id="8" name="Picture 7">
            <a:extLst>
              <a:ext uri="{FF2B5EF4-FFF2-40B4-BE49-F238E27FC236}">
                <a16:creationId xmlns:a16="http://schemas.microsoft.com/office/drawing/2014/main" id="{954DAE4D-E728-4A45-8469-E7640499839C}"/>
              </a:ext>
            </a:extLst>
          </p:cNvPr>
          <p:cNvPicPr>
            <a:picLocks noChangeAspect="1"/>
          </p:cNvPicPr>
          <p:nvPr/>
        </p:nvPicPr>
        <p:blipFill>
          <a:blip r:embed="rId3"/>
          <a:stretch>
            <a:fillRect/>
          </a:stretch>
        </p:blipFill>
        <p:spPr>
          <a:xfrm>
            <a:off x="6760331" y="1351027"/>
            <a:ext cx="1509778" cy="312021"/>
          </a:xfrm>
          <a:prstGeom prst="rect">
            <a:avLst/>
          </a:prstGeom>
        </p:spPr>
      </p:pic>
      <p:graphicFrame>
        <p:nvGraphicFramePr>
          <p:cNvPr id="9" name="Chart 8">
            <a:extLst>
              <a:ext uri="{FF2B5EF4-FFF2-40B4-BE49-F238E27FC236}">
                <a16:creationId xmlns:a16="http://schemas.microsoft.com/office/drawing/2014/main" id="{1965BA7B-F033-8F47-880C-8073D473C52B}"/>
              </a:ext>
            </a:extLst>
          </p:cNvPr>
          <p:cNvGraphicFramePr/>
          <p:nvPr/>
        </p:nvGraphicFramePr>
        <p:xfrm>
          <a:off x="2699653" y="1956435"/>
          <a:ext cx="5711280" cy="3807520"/>
        </p:xfrm>
        <a:graphic>
          <a:graphicData uri="http://schemas.openxmlformats.org/drawingml/2006/chart">
            <c:chart xmlns:c="http://schemas.openxmlformats.org/drawingml/2006/chart" xmlns:r="http://schemas.openxmlformats.org/officeDocument/2006/relationships" r:id="rId4"/>
          </a:graphicData>
        </a:graphic>
      </p:graphicFrame>
      <p:sp>
        <p:nvSpPr>
          <p:cNvPr id="11" name="Rectangle 10">
            <a:extLst>
              <a:ext uri="{FF2B5EF4-FFF2-40B4-BE49-F238E27FC236}">
                <a16:creationId xmlns:a16="http://schemas.microsoft.com/office/drawing/2014/main" id="{43767B17-57AB-A64E-B92E-4E461CA47A1F}"/>
              </a:ext>
            </a:extLst>
          </p:cNvPr>
          <p:cNvSpPr/>
          <p:nvPr/>
        </p:nvSpPr>
        <p:spPr>
          <a:xfrm>
            <a:off x="4279097" y="5444874"/>
            <a:ext cx="2905847" cy="276999"/>
          </a:xfrm>
          <a:prstGeom prst="rect">
            <a:avLst/>
          </a:prstGeom>
        </p:spPr>
        <p:txBody>
          <a:bodyPr wrap="square">
            <a:spAutoFit/>
          </a:bodyPr>
          <a:lstStyle/>
          <a:p>
            <a:pPr algn="ctr"/>
            <a:r>
              <a:rPr lang="en-US" sz="1200" b="1" dirty="0">
                <a:solidFill>
                  <a:srgbClr val="BA9864"/>
                </a:solidFill>
                <a:latin typeface="Tahoma" panose="020B0604030504040204" pitchFamily="34" charset="0"/>
                <a:ea typeface="Tahoma" panose="020B0604030504040204" pitchFamily="34" charset="0"/>
                <a:cs typeface="Tahoma" panose="020B0604030504040204" pitchFamily="34" charset="0"/>
              </a:rPr>
              <a:t>Total Return  24.40%</a:t>
            </a:r>
          </a:p>
        </p:txBody>
      </p:sp>
      <p:sp>
        <p:nvSpPr>
          <p:cNvPr id="13" name="TextBox 12">
            <a:extLst>
              <a:ext uri="{FF2B5EF4-FFF2-40B4-BE49-F238E27FC236}">
                <a16:creationId xmlns:a16="http://schemas.microsoft.com/office/drawing/2014/main" id="{AC153215-AB38-E945-8F61-E43A70FDE7C7}"/>
              </a:ext>
            </a:extLst>
          </p:cNvPr>
          <p:cNvSpPr txBox="1"/>
          <p:nvPr/>
        </p:nvSpPr>
        <p:spPr>
          <a:xfrm>
            <a:off x="914401" y="1886991"/>
            <a:ext cx="1655179" cy="4140236"/>
          </a:xfrm>
          <a:prstGeom prst="rect">
            <a:avLst/>
          </a:prstGeom>
          <a:noFill/>
        </p:spPr>
        <p:txBody>
          <a:bodyPr wrap="square" lIns="0" tIns="0" rIns="0" bIns="0" rtlCol="0">
            <a:spAutoFit/>
          </a:bodyPr>
          <a:lstStyle/>
          <a:p>
            <a:pPr>
              <a:lnSpc>
                <a:spcPts val="1200"/>
              </a:lnSpc>
            </a:pPr>
            <a:r>
              <a:rPr lang="en-US" sz="900" b="1" dirty="0">
                <a:solidFill>
                  <a:srgbClr val="BA9864"/>
                </a:solidFill>
                <a:latin typeface="Tahoma" panose="020B0604030504040204" pitchFamily="34" charset="0"/>
                <a:ea typeface="Tahoma" panose="020B0604030504040204" pitchFamily="34" charset="0"/>
                <a:cs typeface="Tahoma" panose="020B0604030504040204" pitchFamily="34" charset="0"/>
              </a:rPr>
              <a:t>11/12/2015 Purchase: </a:t>
            </a:r>
            <a:br>
              <a:rPr lang="en-US" sz="900" dirty="0">
                <a:solidFill>
                  <a:srgbClr val="BA9864"/>
                </a:solidFill>
                <a:latin typeface="Tahoma" panose="020B0604030504040204" pitchFamily="34" charset="0"/>
                <a:ea typeface="Tahoma" panose="020B0604030504040204" pitchFamily="34" charset="0"/>
                <a:cs typeface="Tahoma" panose="020B0604030504040204" pitchFamily="34" charset="0"/>
              </a:rPr>
            </a:br>
            <a:r>
              <a:rPr lang="en-US" sz="900" dirty="0">
                <a:latin typeface="Tahoma" panose="020B0604030504040204" pitchFamily="34" charset="0"/>
                <a:ea typeface="Tahoma" panose="020B0604030504040204" pitchFamily="34" charset="0"/>
                <a:cs typeface="Tahoma" panose="020B0604030504040204" pitchFamily="34" charset="0"/>
              </a:rPr>
              <a:t>Convertibles sold off in late 2015 due to the decline in oil prices/equity market. Gridiron saw Convertibles as a way to play the potential rebound in oil with downside protection. CHI was the most attractive CEF trading at a 12% Discount to NAV, more than 700bps greater than our estimate of fair value. We saw the potential for both NAV appreciation as well as discount narrowing.</a:t>
            </a:r>
          </a:p>
          <a:p>
            <a:pPr>
              <a:lnSpc>
                <a:spcPts val="1200"/>
              </a:lnSpc>
            </a:pPr>
            <a:endParaRPr lang="en-US" sz="900" dirty="0">
              <a:solidFill>
                <a:srgbClr val="BA9864"/>
              </a:solidFill>
              <a:latin typeface="Tahoma" panose="020B0604030504040204" pitchFamily="34" charset="0"/>
              <a:ea typeface="Tahoma" panose="020B0604030504040204" pitchFamily="34" charset="0"/>
              <a:cs typeface="Tahoma" panose="020B0604030504040204" pitchFamily="34" charset="0"/>
            </a:endParaRPr>
          </a:p>
          <a:p>
            <a:pPr>
              <a:lnSpc>
                <a:spcPts val="1200"/>
              </a:lnSpc>
            </a:pPr>
            <a:r>
              <a:rPr lang="en-US" sz="900" b="1" dirty="0">
                <a:solidFill>
                  <a:srgbClr val="BA9864"/>
                </a:solidFill>
                <a:latin typeface="Tahoma" panose="020B0604030504040204" pitchFamily="34" charset="0"/>
                <a:ea typeface="Tahoma" panose="020B0604030504040204" pitchFamily="34" charset="0"/>
                <a:cs typeface="Tahoma" panose="020B0604030504040204" pitchFamily="34" charset="0"/>
              </a:rPr>
              <a:t>2/8/2017 Sale: </a:t>
            </a:r>
            <a:br>
              <a:rPr lang="en-US" sz="900" b="1" dirty="0">
                <a:solidFill>
                  <a:srgbClr val="BA9864"/>
                </a:solidFill>
                <a:latin typeface="Tahoma" panose="020B0604030504040204" pitchFamily="34" charset="0"/>
                <a:ea typeface="Tahoma" panose="020B0604030504040204" pitchFamily="34" charset="0"/>
                <a:cs typeface="Tahoma" panose="020B0604030504040204" pitchFamily="34" charset="0"/>
              </a:rPr>
            </a:br>
            <a:r>
              <a:rPr lang="en-US" sz="900" dirty="0">
                <a:latin typeface="Tahoma" panose="020B0604030504040204" pitchFamily="34" charset="0"/>
                <a:ea typeface="Tahoma" panose="020B0604030504040204" pitchFamily="34" charset="0"/>
                <a:cs typeface="Tahoma" panose="020B0604030504040204" pitchFamily="34" charset="0"/>
              </a:rPr>
              <a:t>Convertibles rallied with the subsequent rise in oil prices. CHI gained more than 23% from our purchase and traded at just a 1% Discount to NAV. Gridiron saw both the risk/reward in the convertible market as well as CHI as unfavorable with oil prices stalling and a lack of margin of safety in the discount.</a:t>
            </a:r>
          </a:p>
        </p:txBody>
      </p:sp>
      <p:pic>
        <p:nvPicPr>
          <p:cNvPr id="15" name="Picture 14"/>
          <p:cNvPicPr>
            <a:picLocks noChangeAspect="1"/>
          </p:cNvPicPr>
          <p:nvPr/>
        </p:nvPicPr>
        <p:blipFill>
          <a:blip r:embed="rId5">
            <a:alphaModFix amt="50000"/>
          </a:blip>
          <a:stretch>
            <a:fillRect/>
          </a:stretch>
        </p:blipFill>
        <p:spPr>
          <a:xfrm>
            <a:off x="3174139" y="4234192"/>
            <a:ext cx="1124712" cy="1545336"/>
          </a:xfrm>
          <a:prstGeom prst="rect">
            <a:avLst/>
          </a:prstGeom>
        </p:spPr>
      </p:pic>
      <p:sp>
        <p:nvSpPr>
          <p:cNvPr id="16" name="TextBox 15"/>
          <p:cNvSpPr txBox="1"/>
          <p:nvPr/>
        </p:nvSpPr>
        <p:spPr>
          <a:xfrm>
            <a:off x="3185683" y="5394562"/>
            <a:ext cx="1113168" cy="400110"/>
          </a:xfrm>
          <a:prstGeom prst="rect">
            <a:avLst/>
          </a:prstGeom>
          <a:noFill/>
        </p:spPr>
        <p:txBody>
          <a:bodyPr wrap="square" rtlCol="0">
            <a:spAutoFit/>
          </a:bodyPr>
          <a:lstStyle/>
          <a:p>
            <a:pPr algn="ctr"/>
            <a:r>
              <a:rPr lang="en-US" sz="800" b="1" dirty="0">
                <a:latin typeface="Arial Bold"/>
                <a:cs typeface="Arial Bold"/>
              </a:rPr>
              <a:t>11/12/2015</a:t>
            </a:r>
          </a:p>
          <a:p>
            <a:pPr algn="ctr"/>
            <a:r>
              <a:rPr lang="en-US" sz="600" dirty="0">
                <a:latin typeface="Arial Narrow"/>
                <a:cs typeface="Arial Narrow"/>
              </a:rPr>
              <a:t>Average Purchase Price: $10.01</a:t>
            </a:r>
          </a:p>
          <a:p>
            <a:pPr algn="ctr"/>
            <a:r>
              <a:rPr lang="en-US" sz="600" dirty="0">
                <a:latin typeface="Arial Narrow"/>
                <a:cs typeface="Arial Narrow"/>
              </a:rPr>
              <a:t>Discount to NAV: 12%</a:t>
            </a:r>
          </a:p>
        </p:txBody>
      </p:sp>
      <p:pic>
        <p:nvPicPr>
          <p:cNvPr id="20" name="Picture 19"/>
          <p:cNvPicPr>
            <a:picLocks noChangeAspect="1"/>
          </p:cNvPicPr>
          <p:nvPr/>
        </p:nvPicPr>
        <p:blipFill>
          <a:blip r:embed="rId6">
            <a:alphaModFix amt="50000"/>
          </a:blip>
          <a:stretch>
            <a:fillRect/>
          </a:stretch>
        </p:blipFill>
        <p:spPr>
          <a:xfrm>
            <a:off x="7145397" y="3841000"/>
            <a:ext cx="1124712" cy="1938528"/>
          </a:xfrm>
          <a:prstGeom prst="rect">
            <a:avLst/>
          </a:prstGeom>
        </p:spPr>
      </p:pic>
      <p:sp>
        <p:nvSpPr>
          <p:cNvPr id="18" name="TextBox 17"/>
          <p:cNvSpPr txBox="1"/>
          <p:nvPr/>
        </p:nvSpPr>
        <p:spPr>
          <a:xfrm>
            <a:off x="7145398" y="5381863"/>
            <a:ext cx="1124712" cy="400110"/>
          </a:xfrm>
          <a:prstGeom prst="rect">
            <a:avLst/>
          </a:prstGeom>
          <a:noFill/>
        </p:spPr>
        <p:txBody>
          <a:bodyPr wrap="square" rtlCol="0">
            <a:spAutoFit/>
          </a:bodyPr>
          <a:lstStyle/>
          <a:p>
            <a:pPr algn="ctr"/>
            <a:r>
              <a:rPr lang="en-US" sz="800" b="1" dirty="0">
                <a:latin typeface="Arial Bold"/>
                <a:cs typeface="Arial Bold"/>
              </a:rPr>
              <a:t>2/8/2017</a:t>
            </a:r>
          </a:p>
          <a:p>
            <a:pPr algn="ctr"/>
            <a:r>
              <a:rPr lang="en-US" sz="600" dirty="0">
                <a:latin typeface="Arial Narrow"/>
                <a:cs typeface="Arial Narrow"/>
              </a:rPr>
              <a:t>Sale Price: $11.17</a:t>
            </a:r>
          </a:p>
          <a:p>
            <a:pPr algn="ctr"/>
            <a:r>
              <a:rPr lang="en-US" sz="600" dirty="0">
                <a:latin typeface="Arial Narrow"/>
                <a:cs typeface="Arial Narrow"/>
              </a:rPr>
              <a:t>Discount to NAV: 1.0%</a:t>
            </a:r>
          </a:p>
        </p:txBody>
      </p:sp>
      <p:sp>
        <p:nvSpPr>
          <p:cNvPr id="21" name="Slide Number Placeholder 6">
            <a:extLst>
              <a:ext uri="{FF2B5EF4-FFF2-40B4-BE49-F238E27FC236}">
                <a16:creationId xmlns:a16="http://schemas.microsoft.com/office/drawing/2014/main" id="{152D3887-9035-DF4A-ACC1-C0A8AE23328A}"/>
              </a:ext>
            </a:extLst>
          </p:cNvPr>
          <p:cNvSpPr>
            <a:spLocks noGrp="1"/>
          </p:cNvSpPr>
          <p:nvPr>
            <p:ph type="sldNum" sz="quarter" idx="12"/>
          </p:nvPr>
        </p:nvSpPr>
        <p:spPr>
          <a:xfrm>
            <a:off x="457200" y="6303931"/>
            <a:ext cx="2133600" cy="339272"/>
          </a:xfrm>
          <a:prstGeom prst="rect">
            <a:avLst/>
          </a:prstGeom>
        </p:spPr>
        <p:txBody>
          <a:bodyPr/>
          <a:lstStyle/>
          <a:p>
            <a:pPr algn="l"/>
            <a:fld id="{C3A39814-8689-7947-8391-353AB9027F07}" type="slidenum">
              <a:rPr lang="en-US" sz="1000" b="1" smtClean="0">
                <a:solidFill>
                  <a:schemeClr val="bg1"/>
                </a:solidFill>
                <a:latin typeface="Arial Bold"/>
                <a:cs typeface="Arial Bold"/>
              </a:rPr>
              <a:pPr algn="l"/>
              <a:t>5</a:t>
            </a:fld>
            <a:endParaRPr lang="en-US" sz="1000" b="1" dirty="0">
              <a:solidFill>
                <a:schemeClr val="bg1"/>
              </a:solidFill>
              <a:latin typeface="Arial Bold"/>
              <a:cs typeface="Arial Bold"/>
            </a:endParaRPr>
          </a:p>
        </p:txBody>
      </p:sp>
    </p:spTree>
    <p:extLst>
      <p:ext uri="{BB962C8B-B14F-4D97-AF65-F5344CB8AC3E}">
        <p14:creationId xmlns:p14="http://schemas.microsoft.com/office/powerpoint/2010/main" val="2452066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ADVANTAGES </a:t>
            </a:r>
            <a:r>
              <a:rPr lang="en-US" sz="2400" b="1" dirty="0">
                <a:solidFill>
                  <a:srgbClr val="63666B"/>
                </a:solidFill>
                <a:latin typeface="Arial"/>
                <a:cs typeface="Arial"/>
              </a:rPr>
              <a:t>OF CLOSED-END FUNDS</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65616A1C-D4B4-4025-AFDD-4C8C244E3C91}"/>
              </a:ext>
            </a:extLst>
          </p:cNvPr>
          <p:cNvSpPr/>
          <p:nvPr/>
        </p:nvSpPr>
        <p:spPr>
          <a:xfrm>
            <a:off x="731519" y="1518363"/>
            <a:ext cx="7807569" cy="1323439"/>
          </a:xfrm>
          <a:prstGeom prst="rect">
            <a:avLst/>
          </a:prstGeom>
        </p:spPr>
        <p:txBody>
          <a:bodyPr wrap="square">
            <a:spAutoFit/>
          </a:bodyPr>
          <a:lstStyle/>
          <a:p>
            <a:pPr algn="just"/>
            <a:endParaRPr lang="en-US" sz="2000" dirty="0">
              <a:solidFill>
                <a:srgbClr val="333333"/>
              </a:solidFill>
              <a:latin typeface="Calibri" panose="020F0502020204030204" pitchFamily="34" charset="0"/>
              <a:cs typeface="Arial" panose="020B0604020202020204" pitchFamily="34" charset="0"/>
            </a:endParaRPr>
          </a:p>
          <a:p>
            <a:pPr algn="just"/>
            <a:endParaRPr lang="en-US" sz="2000" dirty="0">
              <a:solidFill>
                <a:srgbClr val="333333"/>
              </a:solidFill>
              <a:latin typeface="Calibri" panose="020F0502020204030204" pitchFamily="34" charset="0"/>
              <a:cs typeface="Arial" panose="020B0604020202020204" pitchFamily="34" charset="0"/>
            </a:endParaRPr>
          </a:p>
          <a:p>
            <a:pPr algn="just"/>
            <a:endParaRPr lang="en-US" sz="2000" dirty="0">
              <a:solidFill>
                <a:srgbClr val="333333"/>
              </a:solidFill>
              <a:latin typeface="Calibri" panose="020F0502020204030204" pitchFamily="34" charset="0"/>
              <a:cs typeface="Arial" panose="020B0604020202020204" pitchFamily="34" charset="0"/>
            </a:endParaRPr>
          </a:p>
          <a:p>
            <a:pPr algn="just"/>
            <a:endParaRPr lang="en-US" sz="2000" dirty="0">
              <a:solidFill>
                <a:srgbClr val="333333"/>
              </a:solidFill>
              <a:latin typeface="Calibri" panose="020F0502020204030204" pitchFamily="34" charset="0"/>
              <a:cs typeface="Arial" panose="020B0604020202020204" pitchFamily="34" charset="0"/>
            </a:endParaRPr>
          </a:p>
        </p:txBody>
      </p:sp>
      <p:graphicFrame>
        <p:nvGraphicFramePr>
          <p:cNvPr id="12" name="Diagram 11">
            <a:extLst>
              <a:ext uri="{FF2B5EF4-FFF2-40B4-BE49-F238E27FC236}">
                <a16:creationId xmlns:a16="http://schemas.microsoft.com/office/drawing/2014/main" id="{D2B14914-A9CA-4E27-827E-E9392A02FB36}"/>
              </a:ext>
            </a:extLst>
          </p:cNvPr>
          <p:cNvGraphicFramePr/>
          <p:nvPr>
            <p:extLst>
              <p:ext uri="{D42A27DB-BD31-4B8C-83A1-F6EECF244321}">
                <p14:modId xmlns:p14="http://schemas.microsoft.com/office/powerpoint/2010/main" val="192508833"/>
              </p:ext>
            </p:extLst>
          </p:nvPr>
        </p:nvGraphicFramePr>
        <p:xfrm>
          <a:off x="820799" y="1636091"/>
          <a:ext cx="7629008" cy="3482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7" name="Straight Connector 6">
            <a:extLst>
              <a:ext uri="{FF2B5EF4-FFF2-40B4-BE49-F238E27FC236}">
                <a16:creationId xmlns:a16="http://schemas.microsoft.com/office/drawing/2014/main" id="{60F34038-0F03-4A5C-B47F-C74381AF1E20}"/>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3" name="Slide Number Placeholder 6">
            <a:extLst>
              <a:ext uri="{FF2B5EF4-FFF2-40B4-BE49-F238E27FC236}">
                <a16:creationId xmlns:a16="http://schemas.microsoft.com/office/drawing/2014/main" id="{1189C8B4-24F1-4D47-B8A4-EC12AF4AE0B7}"/>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6</a:t>
            </a:fld>
            <a:endParaRPr lang="en-US" sz="1000" b="1" dirty="0">
              <a:solidFill>
                <a:schemeClr val="bg1"/>
              </a:solidFill>
              <a:latin typeface="Arial Bold"/>
              <a:cs typeface="Arial Bold"/>
            </a:endParaRPr>
          </a:p>
        </p:txBody>
      </p:sp>
    </p:spTree>
    <p:extLst>
      <p:ext uri="{BB962C8B-B14F-4D97-AF65-F5344CB8AC3E}">
        <p14:creationId xmlns:p14="http://schemas.microsoft.com/office/powerpoint/2010/main" val="1883449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SECTOR </a:t>
            </a:r>
            <a:r>
              <a:rPr lang="en-US" sz="2400" b="1" dirty="0">
                <a:solidFill>
                  <a:srgbClr val="63666B"/>
                </a:solidFill>
                <a:latin typeface="Arial"/>
                <a:cs typeface="Arial"/>
              </a:rPr>
              <a:t>DISCOUNTS</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C60B1DA-5436-44FB-A92C-4815F04EB077}"/>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1" name="Slide Number Placeholder 6">
            <a:extLst>
              <a:ext uri="{FF2B5EF4-FFF2-40B4-BE49-F238E27FC236}">
                <a16:creationId xmlns:a16="http://schemas.microsoft.com/office/drawing/2014/main" id="{AA831280-5697-43A0-963A-121236438CF0}"/>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7</a:t>
            </a:fld>
            <a:endParaRPr lang="en-US" sz="1000" b="1" dirty="0">
              <a:solidFill>
                <a:schemeClr val="bg1"/>
              </a:solidFill>
              <a:latin typeface="Arial Bold"/>
              <a:cs typeface="Arial Bold"/>
            </a:endParaRPr>
          </a:p>
        </p:txBody>
      </p:sp>
      <p:sp>
        <p:nvSpPr>
          <p:cNvPr id="14" name="TextBox 13">
            <a:extLst>
              <a:ext uri="{FF2B5EF4-FFF2-40B4-BE49-F238E27FC236}">
                <a16:creationId xmlns:a16="http://schemas.microsoft.com/office/drawing/2014/main" id="{5CB94204-A859-4820-A28A-C03C4F2E0070}"/>
              </a:ext>
            </a:extLst>
          </p:cNvPr>
          <p:cNvSpPr txBox="1"/>
          <p:nvPr/>
        </p:nvSpPr>
        <p:spPr>
          <a:xfrm>
            <a:off x="6172201" y="301109"/>
            <a:ext cx="2514600" cy="369332"/>
          </a:xfrm>
          <a:prstGeom prst="rect">
            <a:avLst/>
          </a:prstGeom>
          <a:noFill/>
        </p:spPr>
        <p:txBody>
          <a:bodyPr wrap="square">
            <a:spAutoFit/>
          </a:bodyPr>
          <a:lstStyle/>
          <a:p>
            <a:r>
              <a:rPr lang="en-US" sz="1800" spc="300" dirty="0">
                <a:solidFill>
                  <a:schemeClr val="bg1">
                    <a:lumMod val="75000"/>
                  </a:schemeClr>
                </a:solidFill>
                <a:latin typeface="Arial"/>
                <a:cs typeface="Arial"/>
              </a:rPr>
              <a:t>August 2025</a:t>
            </a:r>
          </a:p>
        </p:txBody>
      </p:sp>
      <p:graphicFrame>
        <p:nvGraphicFramePr>
          <p:cNvPr id="3" name="Chart 2">
            <a:extLst>
              <a:ext uri="{FF2B5EF4-FFF2-40B4-BE49-F238E27FC236}">
                <a16:creationId xmlns:a16="http://schemas.microsoft.com/office/drawing/2014/main" id="{5FBAF06D-D2A8-4393-90D9-7FFB8D71B23F}"/>
              </a:ext>
            </a:extLst>
          </p:cNvPr>
          <p:cNvGraphicFramePr>
            <a:graphicFrameLocks/>
          </p:cNvGraphicFramePr>
          <p:nvPr>
            <p:extLst>
              <p:ext uri="{D42A27DB-BD31-4B8C-83A1-F6EECF244321}">
                <p14:modId xmlns:p14="http://schemas.microsoft.com/office/powerpoint/2010/main" val="4246186360"/>
              </p:ext>
            </p:extLst>
          </p:nvPr>
        </p:nvGraphicFramePr>
        <p:xfrm>
          <a:off x="272359" y="1017361"/>
          <a:ext cx="5518842" cy="276866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E92570AA-AFEF-4BD9-AF75-C373C3341D17}"/>
              </a:ext>
            </a:extLst>
          </p:cNvPr>
          <p:cNvGraphicFramePr>
            <a:graphicFrameLocks/>
          </p:cNvGraphicFramePr>
          <p:nvPr>
            <p:extLst>
              <p:ext uri="{D42A27DB-BD31-4B8C-83A1-F6EECF244321}">
                <p14:modId xmlns:p14="http://schemas.microsoft.com/office/powerpoint/2010/main" val="1413343473"/>
              </p:ext>
            </p:extLst>
          </p:nvPr>
        </p:nvGraphicFramePr>
        <p:xfrm>
          <a:off x="272359" y="3654436"/>
          <a:ext cx="5618635" cy="25391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Table 14">
            <a:extLst>
              <a:ext uri="{FF2B5EF4-FFF2-40B4-BE49-F238E27FC236}">
                <a16:creationId xmlns:a16="http://schemas.microsoft.com/office/drawing/2014/main" id="{B5779D20-824B-C3DB-8D6C-0FB83206900D}"/>
              </a:ext>
            </a:extLst>
          </p:cNvPr>
          <p:cNvGraphicFramePr>
            <a:graphicFrameLocks noGrp="1"/>
          </p:cNvGraphicFramePr>
          <p:nvPr>
            <p:extLst>
              <p:ext uri="{D42A27DB-BD31-4B8C-83A1-F6EECF244321}">
                <p14:modId xmlns:p14="http://schemas.microsoft.com/office/powerpoint/2010/main" val="1443834431"/>
              </p:ext>
            </p:extLst>
          </p:nvPr>
        </p:nvGraphicFramePr>
        <p:xfrm>
          <a:off x="6588550" y="4442973"/>
          <a:ext cx="1854200" cy="962025"/>
        </p:xfrm>
        <a:graphic>
          <a:graphicData uri="http://schemas.openxmlformats.org/drawingml/2006/table">
            <a:tbl>
              <a:tblPr/>
              <a:tblGrid>
                <a:gridCol w="1854200">
                  <a:extLst>
                    <a:ext uri="{9D8B030D-6E8A-4147-A177-3AD203B41FA5}">
                      <a16:colId xmlns:a16="http://schemas.microsoft.com/office/drawing/2014/main" val="2809554892"/>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Corp/HY</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8012068"/>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755283848"/>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-487.56%</a:t>
                      </a:r>
                    </a:p>
                  </a:txBody>
                  <a:tcPr marL="9525" marR="9525" marT="9525" marB="0" anchor="b">
                    <a:lnL>
                      <a:noFill/>
                    </a:lnL>
                    <a:lnR>
                      <a:noFill/>
                    </a:lnR>
                    <a:lnT>
                      <a:noFill/>
                    </a:lnT>
                    <a:lnB>
                      <a:noFill/>
                    </a:lnB>
                    <a:noFill/>
                  </a:tcPr>
                </a:tc>
                <a:extLst>
                  <a:ext uri="{0D108BD9-81ED-4DB2-BD59-A6C34878D82A}">
                    <a16:rowId xmlns:a16="http://schemas.microsoft.com/office/drawing/2014/main" val="2635688527"/>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1986755859"/>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-650.38%</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4202226455"/>
                  </a:ext>
                </a:extLst>
              </a:tr>
            </a:tbl>
          </a:graphicData>
        </a:graphic>
      </p:graphicFrame>
      <p:graphicFrame>
        <p:nvGraphicFramePr>
          <p:cNvPr id="16" name="Table 15">
            <a:extLst>
              <a:ext uri="{FF2B5EF4-FFF2-40B4-BE49-F238E27FC236}">
                <a16:creationId xmlns:a16="http://schemas.microsoft.com/office/drawing/2014/main" id="{EB309F8A-E77A-B2D1-3489-37DB28EAC407}"/>
              </a:ext>
            </a:extLst>
          </p:cNvPr>
          <p:cNvGraphicFramePr>
            <a:graphicFrameLocks noGrp="1"/>
          </p:cNvGraphicFramePr>
          <p:nvPr>
            <p:extLst>
              <p:ext uri="{D42A27DB-BD31-4B8C-83A1-F6EECF244321}">
                <p14:modId xmlns:p14="http://schemas.microsoft.com/office/powerpoint/2010/main" val="3377292156"/>
              </p:ext>
            </p:extLst>
          </p:nvPr>
        </p:nvGraphicFramePr>
        <p:xfrm>
          <a:off x="6588550" y="1920679"/>
          <a:ext cx="1854200" cy="962025"/>
        </p:xfrm>
        <a:graphic>
          <a:graphicData uri="http://schemas.openxmlformats.org/drawingml/2006/table">
            <a:tbl>
              <a:tblPr/>
              <a:tblGrid>
                <a:gridCol w="1854200">
                  <a:extLst>
                    <a:ext uri="{9D8B030D-6E8A-4147-A177-3AD203B41FA5}">
                      <a16:colId xmlns:a16="http://schemas.microsoft.com/office/drawing/2014/main" val="2463537756"/>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Diversified</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7780374"/>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948959973"/>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-374.15%</a:t>
                      </a:r>
                    </a:p>
                  </a:txBody>
                  <a:tcPr marL="9525" marR="9525" marT="9525" marB="0" anchor="b">
                    <a:lnL>
                      <a:noFill/>
                    </a:lnL>
                    <a:lnR>
                      <a:noFill/>
                    </a:lnR>
                    <a:lnT>
                      <a:noFill/>
                    </a:lnT>
                    <a:lnB>
                      <a:noFill/>
                    </a:lnB>
                    <a:noFill/>
                  </a:tcPr>
                </a:tc>
                <a:extLst>
                  <a:ext uri="{0D108BD9-81ED-4DB2-BD59-A6C34878D82A}">
                    <a16:rowId xmlns:a16="http://schemas.microsoft.com/office/drawing/2014/main" val="2814789849"/>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4270938709"/>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-362.82%</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728611935"/>
                  </a:ext>
                </a:extLst>
              </a:tr>
            </a:tbl>
          </a:graphicData>
        </a:graphic>
      </p:graphicFrame>
    </p:spTree>
    <p:extLst>
      <p:ext uri="{BB962C8B-B14F-4D97-AF65-F5344CB8AC3E}">
        <p14:creationId xmlns:p14="http://schemas.microsoft.com/office/powerpoint/2010/main" val="3256070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SECTOR </a:t>
            </a:r>
            <a:r>
              <a:rPr lang="en-US" sz="2400" b="1" dirty="0">
                <a:solidFill>
                  <a:srgbClr val="63666B"/>
                </a:solidFill>
                <a:latin typeface="Arial"/>
                <a:cs typeface="Arial"/>
              </a:rPr>
              <a:t>DISCOUNTS</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C60B1DA-5436-44FB-A92C-4815F04EB077}"/>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1" name="Slide Number Placeholder 6">
            <a:extLst>
              <a:ext uri="{FF2B5EF4-FFF2-40B4-BE49-F238E27FC236}">
                <a16:creationId xmlns:a16="http://schemas.microsoft.com/office/drawing/2014/main" id="{AA831280-5697-43A0-963A-121236438CF0}"/>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8</a:t>
            </a:fld>
            <a:endParaRPr lang="en-US" sz="1000" b="1" dirty="0">
              <a:solidFill>
                <a:schemeClr val="bg1"/>
              </a:solidFill>
              <a:latin typeface="Arial Bold"/>
              <a:cs typeface="Arial Bold"/>
            </a:endParaRPr>
          </a:p>
        </p:txBody>
      </p:sp>
      <p:graphicFrame>
        <p:nvGraphicFramePr>
          <p:cNvPr id="2" name="Chart 1">
            <a:extLst>
              <a:ext uri="{FF2B5EF4-FFF2-40B4-BE49-F238E27FC236}">
                <a16:creationId xmlns:a16="http://schemas.microsoft.com/office/drawing/2014/main" id="{A37F4EA7-8473-421F-A9EC-351F994126C8}"/>
              </a:ext>
            </a:extLst>
          </p:cNvPr>
          <p:cNvGraphicFramePr>
            <a:graphicFrameLocks/>
          </p:cNvGraphicFramePr>
          <p:nvPr>
            <p:extLst>
              <p:ext uri="{D42A27DB-BD31-4B8C-83A1-F6EECF244321}">
                <p14:modId xmlns:p14="http://schemas.microsoft.com/office/powerpoint/2010/main" val="3027263436"/>
              </p:ext>
            </p:extLst>
          </p:nvPr>
        </p:nvGraphicFramePr>
        <p:xfrm>
          <a:off x="235783" y="950385"/>
          <a:ext cx="5591994" cy="28090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43EE889C-C637-4B11-B846-DBF385302E03}"/>
              </a:ext>
            </a:extLst>
          </p:cNvPr>
          <p:cNvGraphicFramePr>
            <a:graphicFrameLocks/>
          </p:cNvGraphicFramePr>
          <p:nvPr>
            <p:extLst>
              <p:ext uri="{D42A27DB-BD31-4B8C-83A1-F6EECF244321}">
                <p14:modId xmlns:p14="http://schemas.microsoft.com/office/powerpoint/2010/main" val="3070670188"/>
              </p:ext>
            </p:extLst>
          </p:nvPr>
        </p:nvGraphicFramePr>
        <p:xfrm>
          <a:off x="235783" y="3504387"/>
          <a:ext cx="5591995" cy="279954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Table 12">
            <a:extLst>
              <a:ext uri="{FF2B5EF4-FFF2-40B4-BE49-F238E27FC236}">
                <a16:creationId xmlns:a16="http://schemas.microsoft.com/office/drawing/2014/main" id="{14BC38DD-DE1F-6D60-FCBD-AB4094DF0B89}"/>
              </a:ext>
            </a:extLst>
          </p:cNvPr>
          <p:cNvGraphicFramePr>
            <a:graphicFrameLocks noGrp="1"/>
          </p:cNvGraphicFramePr>
          <p:nvPr>
            <p:extLst>
              <p:ext uri="{D42A27DB-BD31-4B8C-83A1-F6EECF244321}">
                <p14:modId xmlns:p14="http://schemas.microsoft.com/office/powerpoint/2010/main" val="1767849993"/>
              </p:ext>
            </p:extLst>
          </p:nvPr>
        </p:nvGraphicFramePr>
        <p:xfrm>
          <a:off x="6556942" y="1873896"/>
          <a:ext cx="1854200" cy="962025"/>
        </p:xfrm>
        <a:graphic>
          <a:graphicData uri="http://schemas.openxmlformats.org/drawingml/2006/table">
            <a:tbl>
              <a:tblPr/>
              <a:tblGrid>
                <a:gridCol w="1854200">
                  <a:extLst>
                    <a:ext uri="{9D8B030D-6E8A-4147-A177-3AD203B41FA5}">
                      <a16:colId xmlns:a16="http://schemas.microsoft.com/office/drawing/2014/main" val="3603127363"/>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Preferreds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8821117"/>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64486232"/>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-612.41%</a:t>
                      </a:r>
                    </a:p>
                  </a:txBody>
                  <a:tcPr marL="9525" marR="9525" marT="9525" marB="0" anchor="b">
                    <a:lnL>
                      <a:noFill/>
                    </a:lnL>
                    <a:lnR>
                      <a:noFill/>
                    </a:lnR>
                    <a:lnT>
                      <a:noFill/>
                    </a:lnT>
                    <a:lnB>
                      <a:noFill/>
                    </a:lnB>
                    <a:noFill/>
                  </a:tcPr>
                </a:tc>
                <a:extLst>
                  <a:ext uri="{0D108BD9-81ED-4DB2-BD59-A6C34878D82A}">
                    <a16:rowId xmlns:a16="http://schemas.microsoft.com/office/drawing/2014/main" val="417291688"/>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3294703901"/>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-799.69%</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1272850517"/>
                  </a:ext>
                </a:extLst>
              </a:tr>
            </a:tbl>
          </a:graphicData>
        </a:graphic>
      </p:graphicFrame>
      <p:graphicFrame>
        <p:nvGraphicFramePr>
          <p:cNvPr id="14" name="Table 13">
            <a:extLst>
              <a:ext uri="{FF2B5EF4-FFF2-40B4-BE49-F238E27FC236}">
                <a16:creationId xmlns:a16="http://schemas.microsoft.com/office/drawing/2014/main" id="{5ADA6FFE-890E-7D0B-C31A-FAAF1D31EE99}"/>
              </a:ext>
            </a:extLst>
          </p:cNvPr>
          <p:cNvGraphicFramePr>
            <a:graphicFrameLocks noGrp="1"/>
          </p:cNvGraphicFramePr>
          <p:nvPr>
            <p:extLst>
              <p:ext uri="{D42A27DB-BD31-4B8C-83A1-F6EECF244321}">
                <p14:modId xmlns:p14="http://schemas.microsoft.com/office/powerpoint/2010/main" val="290911521"/>
              </p:ext>
            </p:extLst>
          </p:nvPr>
        </p:nvGraphicFramePr>
        <p:xfrm>
          <a:off x="6556942" y="4423146"/>
          <a:ext cx="1854200" cy="962025"/>
        </p:xfrm>
        <a:graphic>
          <a:graphicData uri="http://schemas.openxmlformats.org/drawingml/2006/table">
            <a:tbl>
              <a:tblPr/>
              <a:tblGrid>
                <a:gridCol w="1854200">
                  <a:extLst>
                    <a:ext uri="{9D8B030D-6E8A-4147-A177-3AD203B41FA5}">
                      <a16:colId xmlns:a16="http://schemas.microsoft.com/office/drawing/2014/main" val="765350286"/>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Floating Rate</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4887290"/>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926664203"/>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-633.91%</a:t>
                      </a:r>
                    </a:p>
                  </a:txBody>
                  <a:tcPr marL="9525" marR="9525" marT="9525" marB="0" anchor="b">
                    <a:lnL>
                      <a:noFill/>
                    </a:lnL>
                    <a:lnR>
                      <a:noFill/>
                    </a:lnR>
                    <a:lnT>
                      <a:noFill/>
                    </a:lnT>
                    <a:lnB>
                      <a:noFill/>
                    </a:lnB>
                    <a:noFill/>
                  </a:tcPr>
                </a:tc>
                <a:extLst>
                  <a:ext uri="{0D108BD9-81ED-4DB2-BD59-A6C34878D82A}">
                    <a16:rowId xmlns:a16="http://schemas.microsoft.com/office/drawing/2014/main" val="3677549369"/>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831246275"/>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-673.46%</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2496799098"/>
                  </a:ext>
                </a:extLst>
              </a:tr>
            </a:tbl>
          </a:graphicData>
        </a:graphic>
      </p:graphicFrame>
    </p:spTree>
    <p:extLst>
      <p:ext uri="{BB962C8B-B14F-4D97-AF65-F5344CB8AC3E}">
        <p14:creationId xmlns:p14="http://schemas.microsoft.com/office/powerpoint/2010/main" val="1515826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SECTOR </a:t>
            </a:r>
            <a:r>
              <a:rPr lang="en-US" sz="2400" b="1" dirty="0">
                <a:solidFill>
                  <a:srgbClr val="63666B"/>
                </a:solidFill>
                <a:latin typeface="Arial"/>
                <a:cs typeface="Arial"/>
              </a:rPr>
              <a:t>DISCOUNTS</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C60B1DA-5436-44FB-A92C-4815F04EB077}"/>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1" name="Slide Number Placeholder 6">
            <a:extLst>
              <a:ext uri="{FF2B5EF4-FFF2-40B4-BE49-F238E27FC236}">
                <a16:creationId xmlns:a16="http://schemas.microsoft.com/office/drawing/2014/main" id="{AA831280-5697-43A0-963A-121236438CF0}"/>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9</a:t>
            </a:fld>
            <a:endParaRPr lang="en-US" sz="1000" b="1" dirty="0">
              <a:solidFill>
                <a:schemeClr val="bg1"/>
              </a:solidFill>
              <a:latin typeface="Arial Bold"/>
              <a:cs typeface="Arial Bold"/>
            </a:endParaRPr>
          </a:p>
        </p:txBody>
      </p:sp>
      <p:graphicFrame>
        <p:nvGraphicFramePr>
          <p:cNvPr id="2" name="Chart 1">
            <a:extLst>
              <a:ext uri="{FF2B5EF4-FFF2-40B4-BE49-F238E27FC236}">
                <a16:creationId xmlns:a16="http://schemas.microsoft.com/office/drawing/2014/main" id="{0A21DF76-A1D1-4A3A-8D7F-B5E4835B86F9}"/>
              </a:ext>
            </a:extLst>
          </p:cNvPr>
          <p:cNvGraphicFramePr>
            <a:graphicFrameLocks/>
          </p:cNvGraphicFramePr>
          <p:nvPr>
            <p:extLst>
              <p:ext uri="{D42A27DB-BD31-4B8C-83A1-F6EECF244321}">
                <p14:modId xmlns:p14="http://schemas.microsoft.com/office/powerpoint/2010/main" val="928249130"/>
              </p:ext>
            </p:extLst>
          </p:nvPr>
        </p:nvGraphicFramePr>
        <p:xfrm>
          <a:off x="247975" y="994548"/>
          <a:ext cx="5715000" cy="285923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BC8B5BC7-5CA5-4DF7-806F-CAD32B94A335}"/>
              </a:ext>
            </a:extLst>
          </p:cNvPr>
          <p:cNvGraphicFramePr>
            <a:graphicFrameLocks/>
          </p:cNvGraphicFramePr>
          <p:nvPr>
            <p:extLst>
              <p:ext uri="{D42A27DB-BD31-4B8C-83A1-F6EECF244321}">
                <p14:modId xmlns:p14="http://schemas.microsoft.com/office/powerpoint/2010/main" val="3261979347"/>
              </p:ext>
            </p:extLst>
          </p:nvPr>
        </p:nvGraphicFramePr>
        <p:xfrm>
          <a:off x="297286" y="3649240"/>
          <a:ext cx="5616378" cy="285923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Table 12">
            <a:extLst>
              <a:ext uri="{FF2B5EF4-FFF2-40B4-BE49-F238E27FC236}">
                <a16:creationId xmlns:a16="http://schemas.microsoft.com/office/drawing/2014/main" id="{E7506BD4-F71F-7B9B-DD38-9EB553D44CA4}"/>
              </a:ext>
            </a:extLst>
          </p:cNvPr>
          <p:cNvGraphicFramePr>
            <a:graphicFrameLocks noGrp="1"/>
          </p:cNvGraphicFramePr>
          <p:nvPr>
            <p:extLst>
              <p:ext uri="{D42A27DB-BD31-4B8C-83A1-F6EECF244321}">
                <p14:modId xmlns:p14="http://schemas.microsoft.com/office/powerpoint/2010/main" val="2631833635"/>
              </p:ext>
            </p:extLst>
          </p:nvPr>
        </p:nvGraphicFramePr>
        <p:xfrm>
          <a:off x="6624541" y="1943151"/>
          <a:ext cx="1854200" cy="962025"/>
        </p:xfrm>
        <a:graphic>
          <a:graphicData uri="http://schemas.openxmlformats.org/drawingml/2006/table">
            <a:tbl>
              <a:tblPr/>
              <a:tblGrid>
                <a:gridCol w="1854200">
                  <a:extLst>
                    <a:ext uri="{9D8B030D-6E8A-4147-A177-3AD203B41FA5}">
                      <a16:colId xmlns:a16="http://schemas.microsoft.com/office/drawing/2014/main" val="2178568246"/>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Municipals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9483711"/>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63514753"/>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-532.29%</a:t>
                      </a:r>
                    </a:p>
                  </a:txBody>
                  <a:tcPr marL="9525" marR="9525" marT="9525" marB="0" anchor="b">
                    <a:lnL>
                      <a:noFill/>
                    </a:lnL>
                    <a:lnR>
                      <a:noFill/>
                    </a:lnR>
                    <a:lnT>
                      <a:noFill/>
                    </a:lnT>
                    <a:lnB>
                      <a:noFill/>
                    </a:lnB>
                    <a:noFill/>
                  </a:tcPr>
                </a:tc>
                <a:extLst>
                  <a:ext uri="{0D108BD9-81ED-4DB2-BD59-A6C34878D82A}">
                    <a16:rowId xmlns:a16="http://schemas.microsoft.com/office/drawing/2014/main" val="3181356457"/>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719052694"/>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-387.75%</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3211665669"/>
                  </a:ext>
                </a:extLst>
              </a:tr>
            </a:tbl>
          </a:graphicData>
        </a:graphic>
      </p:graphicFrame>
      <p:graphicFrame>
        <p:nvGraphicFramePr>
          <p:cNvPr id="14" name="Table 13">
            <a:extLst>
              <a:ext uri="{FF2B5EF4-FFF2-40B4-BE49-F238E27FC236}">
                <a16:creationId xmlns:a16="http://schemas.microsoft.com/office/drawing/2014/main" id="{AA32BEB3-8AC6-52AE-8CA6-38B04771A9C0}"/>
              </a:ext>
            </a:extLst>
          </p:cNvPr>
          <p:cNvGraphicFramePr>
            <a:graphicFrameLocks noGrp="1"/>
          </p:cNvGraphicFramePr>
          <p:nvPr>
            <p:extLst>
              <p:ext uri="{D42A27DB-BD31-4B8C-83A1-F6EECF244321}">
                <p14:modId xmlns:p14="http://schemas.microsoft.com/office/powerpoint/2010/main" val="3284508056"/>
              </p:ext>
            </p:extLst>
          </p:nvPr>
        </p:nvGraphicFramePr>
        <p:xfrm>
          <a:off x="6624777" y="4597843"/>
          <a:ext cx="1854200" cy="962025"/>
        </p:xfrm>
        <a:graphic>
          <a:graphicData uri="http://schemas.openxmlformats.org/drawingml/2006/table">
            <a:tbl>
              <a:tblPr/>
              <a:tblGrid>
                <a:gridCol w="1854200">
                  <a:extLst>
                    <a:ext uri="{9D8B030D-6E8A-4147-A177-3AD203B41FA5}">
                      <a16:colId xmlns:a16="http://schemas.microsoft.com/office/drawing/2014/main" val="3460428651"/>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MBB</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6557903"/>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305387396"/>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-400.98%</a:t>
                      </a:r>
                    </a:p>
                  </a:txBody>
                  <a:tcPr marL="9525" marR="9525" marT="9525" marB="0" anchor="b">
                    <a:lnL>
                      <a:noFill/>
                    </a:lnL>
                    <a:lnR>
                      <a:noFill/>
                    </a:lnR>
                    <a:lnT>
                      <a:noFill/>
                    </a:lnT>
                    <a:lnB>
                      <a:noFill/>
                    </a:lnB>
                    <a:noFill/>
                  </a:tcPr>
                </a:tc>
                <a:extLst>
                  <a:ext uri="{0D108BD9-81ED-4DB2-BD59-A6C34878D82A}">
                    <a16:rowId xmlns:a16="http://schemas.microsoft.com/office/drawing/2014/main" val="1706475352"/>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2021933137"/>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-205.25%</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1029806563"/>
                  </a:ext>
                </a:extLst>
              </a:tr>
            </a:tbl>
          </a:graphicData>
        </a:graphic>
      </p:graphicFrame>
    </p:spTree>
    <p:extLst>
      <p:ext uri="{BB962C8B-B14F-4D97-AF65-F5344CB8AC3E}">
        <p14:creationId xmlns:p14="http://schemas.microsoft.com/office/powerpoint/2010/main" val="4246360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SECTOR </a:t>
            </a:r>
            <a:r>
              <a:rPr lang="en-US" sz="2400" b="1" dirty="0">
                <a:solidFill>
                  <a:srgbClr val="63666B"/>
                </a:solidFill>
                <a:latin typeface="Arial"/>
                <a:cs typeface="Arial"/>
              </a:rPr>
              <a:t>DISCOUNTS</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C60B1DA-5436-44FB-A92C-4815F04EB077}"/>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1" name="Slide Number Placeholder 6">
            <a:extLst>
              <a:ext uri="{FF2B5EF4-FFF2-40B4-BE49-F238E27FC236}">
                <a16:creationId xmlns:a16="http://schemas.microsoft.com/office/drawing/2014/main" id="{AA831280-5697-43A0-963A-121236438CF0}"/>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10</a:t>
            </a:fld>
            <a:endParaRPr lang="en-US" sz="1000" b="1" dirty="0">
              <a:solidFill>
                <a:schemeClr val="bg1"/>
              </a:solidFill>
              <a:latin typeface="Arial Bold"/>
              <a:cs typeface="Arial Bold"/>
            </a:endParaRPr>
          </a:p>
        </p:txBody>
      </p:sp>
      <p:graphicFrame>
        <p:nvGraphicFramePr>
          <p:cNvPr id="4" name="Chart 3">
            <a:extLst>
              <a:ext uri="{FF2B5EF4-FFF2-40B4-BE49-F238E27FC236}">
                <a16:creationId xmlns:a16="http://schemas.microsoft.com/office/drawing/2014/main" id="{EDBD28FD-08A8-45E6-B1F0-D247DE351280}"/>
              </a:ext>
            </a:extLst>
          </p:cNvPr>
          <p:cNvGraphicFramePr>
            <a:graphicFrameLocks/>
          </p:cNvGraphicFramePr>
          <p:nvPr>
            <p:extLst>
              <p:ext uri="{D42A27DB-BD31-4B8C-83A1-F6EECF244321}">
                <p14:modId xmlns:p14="http://schemas.microsoft.com/office/powerpoint/2010/main" val="701617868"/>
              </p:ext>
            </p:extLst>
          </p:nvPr>
        </p:nvGraphicFramePr>
        <p:xfrm>
          <a:off x="211399" y="970164"/>
          <a:ext cx="5579802" cy="278609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65AAF48C-CFBE-44FC-ADB1-9DA68D7C2327}"/>
              </a:ext>
            </a:extLst>
          </p:cNvPr>
          <p:cNvGraphicFramePr>
            <a:graphicFrameLocks/>
          </p:cNvGraphicFramePr>
          <p:nvPr>
            <p:extLst>
              <p:ext uri="{D42A27DB-BD31-4B8C-83A1-F6EECF244321}">
                <p14:modId xmlns:p14="http://schemas.microsoft.com/office/powerpoint/2010/main" val="3898675150"/>
              </p:ext>
            </p:extLst>
          </p:nvPr>
        </p:nvGraphicFramePr>
        <p:xfrm>
          <a:off x="211399" y="3618395"/>
          <a:ext cx="5579803" cy="282340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Table 9">
            <a:extLst>
              <a:ext uri="{FF2B5EF4-FFF2-40B4-BE49-F238E27FC236}">
                <a16:creationId xmlns:a16="http://schemas.microsoft.com/office/drawing/2014/main" id="{2D30A47B-0F0A-4B42-7B1F-DC8934A47E65}"/>
              </a:ext>
            </a:extLst>
          </p:cNvPr>
          <p:cNvGraphicFramePr>
            <a:graphicFrameLocks noGrp="1"/>
          </p:cNvGraphicFramePr>
          <p:nvPr>
            <p:extLst>
              <p:ext uri="{D42A27DB-BD31-4B8C-83A1-F6EECF244321}">
                <p14:modId xmlns:p14="http://schemas.microsoft.com/office/powerpoint/2010/main" val="649233449"/>
              </p:ext>
            </p:extLst>
          </p:nvPr>
        </p:nvGraphicFramePr>
        <p:xfrm>
          <a:off x="6538654" y="1882199"/>
          <a:ext cx="1854200" cy="962025"/>
        </p:xfrm>
        <a:graphic>
          <a:graphicData uri="http://schemas.openxmlformats.org/drawingml/2006/table">
            <a:tbl>
              <a:tblPr/>
              <a:tblGrid>
                <a:gridCol w="1854200">
                  <a:extLst>
                    <a:ext uri="{9D8B030D-6E8A-4147-A177-3AD203B41FA5}">
                      <a16:colId xmlns:a16="http://schemas.microsoft.com/office/drawing/2014/main" val="3886444555"/>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Low Duration</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0828266"/>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316031637"/>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-360.71%</a:t>
                      </a:r>
                    </a:p>
                  </a:txBody>
                  <a:tcPr marL="9525" marR="9525" marT="9525" marB="0" anchor="b">
                    <a:lnL>
                      <a:noFill/>
                    </a:lnL>
                    <a:lnR>
                      <a:noFill/>
                    </a:lnR>
                    <a:lnT>
                      <a:noFill/>
                    </a:lnT>
                    <a:lnB>
                      <a:noFill/>
                    </a:lnB>
                    <a:noFill/>
                  </a:tcPr>
                </a:tc>
                <a:extLst>
                  <a:ext uri="{0D108BD9-81ED-4DB2-BD59-A6C34878D82A}">
                    <a16:rowId xmlns:a16="http://schemas.microsoft.com/office/drawing/2014/main" val="2058797181"/>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591180831"/>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-293.73%</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1974460185"/>
                  </a:ext>
                </a:extLst>
              </a:tr>
            </a:tbl>
          </a:graphicData>
        </a:graphic>
      </p:graphicFrame>
      <p:graphicFrame>
        <p:nvGraphicFramePr>
          <p:cNvPr id="14" name="Table 13">
            <a:extLst>
              <a:ext uri="{FF2B5EF4-FFF2-40B4-BE49-F238E27FC236}">
                <a16:creationId xmlns:a16="http://schemas.microsoft.com/office/drawing/2014/main" id="{1243BEAE-8006-73E0-1CC8-1DD8BCD304AD}"/>
              </a:ext>
            </a:extLst>
          </p:cNvPr>
          <p:cNvGraphicFramePr>
            <a:graphicFrameLocks noGrp="1"/>
          </p:cNvGraphicFramePr>
          <p:nvPr>
            <p:extLst>
              <p:ext uri="{D42A27DB-BD31-4B8C-83A1-F6EECF244321}">
                <p14:modId xmlns:p14="http://schemas.microsoft.com/office/powerpoint/2010/main" val="3173880669"/>
              </p:ext>
            </p:extLst>
          </p:nvPr>
        </p:nvGraphicFramePr>
        <p:xfrm>
          <a:off x="6539162" y="4549083"/>
          <a:ext cx="1854200" cy="962025"/>
        </p:xfrm>
        <a:graphic>
          <a:graphicData uri="http://schemas.openxmlformats.org/drawingml/2006/table">
            <a:tbl>
              <a:tblPr/>
              <a:tblGrid>
                <a:gridCol w="1854200">
                  <a:extLst>
                    <a:ext uri="{9D8B030D-6E8A-4147-A177-3AD203B41FA5}">
                      <a16:colId xmlns:a16="http://schemas.microsoft.com/office/drawing/2014/main" val="1938402604"/>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Convertibles</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0285116"/>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49385525"/>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-448.50%</a:t>
                      </a:r>
                    </a:p>
                  </a:txBody>
                  <a:tcPr marL="9525" marR="9525" marT="9525" marB="0" anchor="b">
                    <a:lnL>
                      <a:noFill/>
                    </a:lnL>
                    <a:lnR>
                      <a:noFill/>
                    </a:lnR>
                    <a:lnT>
                      <a:noFill/>
                    </a:lnT>
                    <a:lnB>
                      <a:noFill/>
                    </a:lnB>
                    <a:noFill/>
                  </a:tcPr>
                </a:tc>
                <a:extLst>
                  <a:ext uri="{0D108BD9-81ED-4DB2-BD59-A6C34878D82A}">
                    <a16:rowId xmlns:a16="http://schemas.microsoft.com/office/drawing/2014/main" val="261975260"/>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421812807"/>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-571.86%</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744197655"/>
                  </a:ext>
                </a:extLst>
              </a:tr>
            </a:tbl>
          </a:graphicData>
        </a:graphic>
      </p:graphicFrame>
    </p:spTree>
    <p:extLst>
      <p:ext uri="{BB962C8B-B14F-4D97-AF65-F5344CB8AC3E}">
        <p14:creationId xmlns:p14="http://schemas.microsoft.com/office/powerpoint/2010/main" val="385071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578"/>
            <a:ext cx="9140305" cy="6855228"/>
          </a:xfrm>
          <a:prstGeom prst="rect">
            <a:avLst/>
          </a:prstGeom>
        </p:spPr>
      </p:pic>
      <p:sp>
        <p:nvSpPr>
          <p:cNvPr id="8" name="Title 10"/>
          <p:cNvSpPr>
            <a:spLocks noGrp="1"/>
          </p:cNvSpPr>
          <p:nvPr>
            <p:ph type="title" idx="4294967295"/>
          </p:nvPr>
        </p:nvSpPr>
        <p:spPr>
          <a:xfrm>
            <a:off x="457200" y="177800"/>
            <a:ext cx="8229600" cy="615950"/>
          </a:xfrm>
        </p:spPr>
        <p:txBody>
          <a:bodyPr>
            <a:normAutofit/>
          </a:bodyPr>
          <a:lstStyle/>
          <a:p>
            <a:pPr algn="l"/>
            <a:r>
              <a:rPr lang="en-US" sz="2400" b="1" dirty="0">
                <a:solidFill>
                  <a:srgbClr val="BA9864"/>
                </a:solidFill>
                <a:latin typeface="Arial"/>
                <a:cs typeface="Arial"/>
              </a:rPr>
              <a:t>SECTOR </a:t>
            </a:r>
            <a:r>
              <a:rPr lang="en-US" sz="2400" b="1" dirty="0">
                <a:solidFill>
                  <a:srgbClr val="63666B"/>
                </a:solidFill>
                <a:latin typeface="Arial"/>
                <a:cs typeface="Arial"/>
              </a:rPr>
              <a:t>DISCOUNTS</a:t>
            </a:r>
          </a:p>
        </p:txBody>
      </p:sp>
      <p:cxnSp>
        <p:nvCxnSpPr>
          <p:cNvPr id="9" name="Straight Connector 8"/>
          <p:cNvCxnSpPr/>
          <p:nvPr/>
        </p:nvCxnSpPr>
        <p:spPr>
          <a:xfrm>
            <a:off x="457200" y="872067"/>
            <a:ext cx="82296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C60B1DA-5436-44FB-A92C-4815F04EB077}"/>
              </a:ext>
            </a:extLst>
          </p:cNvPr>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1" name="Slide Number Placeholder 6">
            <a:extLst>
              <a:ext uri="{FF2B5EF4-FFF2-40B4-BE49-F238E27FC236}">
                <a16:creationId xmlns:a16="http://schemas.microsoft.com/office/drawing/2014/main" id="{AA831280-5697-43A0-963A-121236438CF0}"/>
              </a:ext>
            </a:extLst>
          </p:cNvPr>
          <p:cNvSpPr txBox="1">
            <a:spLocks/>
          </p:cNvSpPr>
          <p:nvPr/>
        </p:nvSpPr>
        <p:spPr>
          <a:xfrm>
            <a:off x="457200" y="6303931"/>
            <a:ext cx="2133600" cy="339272"/>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1000" b="1" smtClean="0">
                <a:solidFill>
                  <a:schemeClr val="bg1"/>
                </a:solidFill>
                <a:latin typeface="Arial Bold"/>
                <a:cs typeface="Arial Bold"/>
              </a:rPr>
              <a:pPr algn="l"/>
              <a:t>11</a:t>
            </a:fld>
            <a:endParaRPr lang="en-US" sz="1000" b="1" dirty="0">
              <a:solidFill>
                <a:schemeClr val="bg1"/>
              </a:solidFill>
              <a:latin typeface="Arial Bold"/>
              <a:cs typeface="Arial Bold"/>
            </a:endParaRPr>
          </a:p>
        </p:txBody>
      </p:sp>
      <p:graphicFrame>
        <p:nvGraphicFramePr>
          <p:cNvPr id="2" name="Chart 1">
            <a:extLst>
              <a:ext uri="{FF2B5EF4-FFF2-40B4-BE49-F238E27FC236}">
                <a16:creationId xmlns:a16="http://schemas.microsoft.com/office/drawing/2014/main" id="{1F39D7A0-3F66-46F9-A8EA-0A9742F070AB}"/>
              </a:ext>
            </a:extLst>
          </p:cNvPr>
          <p:cNvGraphicFramePr>
            <a:graphicFrameLocks/>
          </p:cNvGraphicFramePr>
          <p:nvPr>
            <p:extLst>
              <p:ext uri="{D42A27DB-BD31-4B8C-83A1-F6EECF244321}">
                <p14:modId xmlns:p14="http://schemas.microsoft.com/office/powerpoint/2010/main" val="4186944976"/>
              </p:ext>
            </p:extLst>
          </p:nvPr>
        </p:nvGraphicFramePr>
        <p:xfrm>
          <a:off x="211399" y="933578"/>
          <a:ext cx="5579802" cy="295077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4">
            <a:extLst>
              <a:ext uri="{FF2B5EF4-FFF2-40B4-BE49-F238E27FC236}">
                <a16:creationId xmlns:a16="http://schemas.microsoft.com/office/drawing/2014/main" id="{F89F591D-C3CD-8609-E791-C815328F2F8E}"/>
              </a:ext>
            </a:extLst>
          </p:cNvPr>
          <p:cNvGraphicFramePr>
            <a:graphicFrameLocks noGrp="1"/>
          </p:cNvGraphicFramePr>
          <p:nvPr>
            <p:extLst>
              <p:ext uri="{D42A27DB-BD31-4B8C-83A1-F6EECF244321}">
                <p14:modId xmlns:p14="http://schemas.microsoft.com/office/powerpoint/2010/main" val="1769690364"/>
              </p:ext>
            </p:extLst>
          </p:nvPr>
        </p:nvGraphicFramePr>
        <p:xfrm>
          <a:off x="6538654" y="1927950"/>
          <a:ext cx="1854200" cy="962025"/>
        </p:xfrm>
        <a:graphic>
          <a:graphicData uri="http://schemas.openxmlformats.org/drawingml/2006/table">
            <a:tbl>
              <a:tblPr/>
              <a:tblGrid>
                <a:gridCol w="1854200">
                  <a:extLst>
                    <a:ext uri="{9D8B030D-6E8A-4147-A177-3AD203B41FA5}">
                      <a16:colId xmlns:a16="http://schemas.microsoft.com/office/drawing/2014/main" val="2715118352"/>
                    </a:ext>
                  </a:extLst>
                </a:gridCol>
              </a:tblGrid>
              <a:tr h="200025">
                <a:tc>
                  <a:txBody>
                    <a:bodyPr/>
                    <a:lstStyle/>
                    <a:p>
                      <a:pPr algn="ctr" fontAlgn="b">
                        <a:buNone/>
                      </a:pPr>
                      <a:r>
                        <a:rPr lang="en-US" sz="1100" b="1" i="0" u="none" strike="noStrike">
                          <a:solidFill>
                            <a:srgbClr val="000000"/>
                          </a:solidFill>
                          <a:effectLst/>
                          <a:latin typeface="Calibri" panose="020F0502020204030204" pitchFamily="34" charset="0"/>
                        </a:rPr>
                        <a:t>Foreign</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2854451"/>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Historical Avg Discount</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41596643"/>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-583.64%</a:t>
                      </a:r>
                    </a:p>
                  </a:txBody>
                  <a:tcPr marL="9525" marR="9525" marT="9525" marB="0" anchor="b">
                    <a:lnL>
                      <a:noFill/>
                    </a:lnL>
                    <a:lnR>
                      <a:noFill/>
                    </a:lnR>
                    <a:lnT>
                      <a:noFill/>
                    </a:lnT>
                    <a:lnB>
                      <a:noFill/>
                    </a:lnB>
                    <a:noFill/>
                  </a:tcPr>
                </a:tc>
                <a:extLst>
                  <a:ext uri="{0D108BD9-81ED-4DB2-BD59-A6C34878D82A}">
                    <a16:rowId xmlns:a16="http://schemas.microsoft.com/office/drawing/2014/main" val="468638453"/>
                  </a:ext>
                </a:extLst>
              </a:tr>
              <a:tr h="190500">
                <a:tc>
                  <a:txBody>
                    <a:bodyPr/>
                    <a:lstStyle/>
                    <a:p>
                      <a:pPr algn="ctr" fontAlgn="b">
                        <a:buNone/>
                      </a:pPr>
                      <a:r>
                        <a:rPr lang="en-US" sz="1100" b="0" i="0" u="none" strike="noStrike">
                          <a:solidFill>
                            <a:srgbClr val="000000"/>
                          </a:solidFill>
                          <a:effectLst/>
                          <a:latin typeface="Calibri" panose="020F0502020204030204" pitchFamily="34" charset="0"/>
                        </a:rPr>
                        <a:t>Current Avg Discount</a:t>
                      </a:r>
                    </a:p>
                  </a:txBody>
                  <a:tcPr marL="9525" marR="9525" marT="9525" marB="0" anchor="b">
                    <a:lnL>
                      <a:noFill/>
                    </a:lnL>
                    <a:lnR>
                      <a:noFill/>
                    </a:lnR>
                    <a:lnT>
                      <a:noFill/>
                    </a:lnT>
                    <a:lnB>
                      <a:noFill/>
                    </a:lnB>
                    <a:noFill/>
                  </a:tcPr>
                </a:tc>
                <a:extLst>
                  <a:ext uri="{0D108BD9-81ED-4DB2-BD59-A6C34878D82A}">
                    <a16:rowId xmlns:a16="http://schemas.microsoft.com/office/drawing/2014/main" val="1061877343"/>
                  </a:ext>
                </a:extLst>
              </a:tr>
              <a:tr h="190500">
                <a:tc>
                  <a:txBody>
                    <a:bodyPr/>
                    <a:lstStyle/>
                    <a:p>
                      <a:pPr algn="ctr" fontAlgn="b">
                        <a:buNone/>
                      </a:pPr>
                      <a:r>
                        <a:rPr lang="en-US" sz="1100" b="0" i="0" u="none" strike="noStrike" dirty="0">
                          <a:solidFill>
                            <a:srgbClr val="9C0006"/>
                          </a:solidFill>
                          <a:effectLst/>
                          <a:latin typeface="Calibri" panose="020F0502020204030204" pitchFamily="34" charset="0"/>
                        </a:rPr>
                        <a:t>-783.92%</a:t>
                      </a:r>
                    </a:p>
                  </a:txBody>
                  <a:tcPr marL="9525" marR="9525" marT="9525" marB="0" anchor="b">
                    <a:lnL>
                      <a:noFill/>
                    </a:lnL>
                    <a:lnR>
                      <a:noFill/>
                    </a:lnR>
                    <a:lnT>
                      <a:noFill/>
                    </a:lnT>
                    <a:lnB>
                      <a:noFill/>
                    </a:lnB>
                    <a:solidFill>
                      <a:srgbClr val="FFC7CE"/>
                    </a:solidFill>
                  </a:tcPr>
                </a:tc>
                <a:extLst>
                  <a:ext uri="{0D108BD9-81ED-4DB2-BD59-A6C34878D82A}">
                    <a16:rowId xmlns:a16="http://schemas.microsoft.com/office/drawing/2014/main" val="1333155673"/>
                  </a:ext>
                </a:extLst>
              </a:tr>
            </a:tbl>
          </a:graphicData>
        </a:graphic>
      </p:graphicFrame>
    </p:spTree>
    <p:extLst>
      <p:ext uri="{BB962C8B-B14F-4D97-AF65-F5344CB8AC3E}">
        <p14:creationId xmlns:p14="http://schemas.microsoft.com/office/powerpoint/2010/main" val="102492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0"/>
          <p:cNvSpPr>
            <a:spLocks noGrp="1"/>
          </p:cNvSpPr>
          <p:nvPr>
            <p:ph type="title" idx="4294967295"/>
          </p:nvPr>
        </p:nvSpPr>
        <p:spPr>
          <a:xfrm>
            <a:off x="578224" y="177801"/>
            <a:ext cx="7987553" cy="615950"/>
          </a:xfrm>
        </p:spPr>
        <p:txBody>
          <a:bodyPr>
            <a:normAutofit/>
          </a:bodyPr>
          <a:lstStyle/>
          <a:p>
            <a:pPr algn="l"/>
            <a:r>
              <a:rPr lang="en-US" sz="2382" b="1" dirty="0">
                <a:solidFill>
                  <a:srgbClr val="BA9864"/>
                </a:solidFill>
                <a:latin typeface="Arial"/>
                <a:cs typeface="Arial"/>
              </a:rPr>
              <a:t>ASSET </a:t>
            </a:r>
            <a:r>
              <a:rPr lang="en-US" sz="2382" b="1" dirty="0">
                <a:solidFill>
                  <a:srgbClr val="63666B"/>
                </a:solidFill>
                <a:latin typeface="Arial"/>
                <a:cs typeface="Arial"/>
              </a:rPr>
              <a:t>ALLOCATION</a:t>
            </a:r>
          </a:p>
        </p:txBody>
      </p:sp>
      <p:cxnSp>
        <p:nvCxnSpPr>
          <p:cNvPr id="9" name="Straight Connector 8"/>
          <p:cNvCxnSpPr/>
          <p:nvPr/>
        </p:nvCxnSpPr>
        <p:spPr>
          <a:xfrm>
            <a:off x="578224" y="872067"/>
            <a:ext cx="7987553"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aphicFrame>
        <p:nvGraphicFramePr>
          <p:cNvPr id="7" name="Table 6">
            <a:extLst>
              <a:ext uri="{FF2B5EF4-FFF2-40B4-BE49-F238E27FC236}">
                <a16:creationId xmlns:a16="http://schemas.microsoft.com/office/drawing/2014/main" id="{FF5CB007-32E9-4FFD-B7A4-84014A6EAD5A}"/>
              </a:ext>
            </a:extLst>
          </p:cNvPr>
          <p:cNvGraphicFramePr>
            <a:graphicFrameLocks noGrp="1"/>
          </p:cNvGraphicFramePr>
          <p:nvPr>
            <p:extLst>
              <p:ext uri="{D42A27DB-BD31-4B8C-83A1-F6EECF244321}">
                <p14:modId xmlns:p14="http://schemas.microsoft.com/office/powerpoint/2010/main" val="166800715"/>
              </p:ext>
            </p:extLst>
          </p:nvPr>
        </p:nvGraphicFramePr>
        <p:xfrm>
          <a:off x="578224" y="1202227"/>
          <a:ext cx="8096478" cy="4053840"/>
        </p:xfrm>
        <a:graphic>
          <a:graphicData uri="http://schemas.openxmlformats.org/drawingml/2006/table">
            <a:tbl>
              <a:tblPr firstRow="1" bandRow="1">
                <a:tableStyleId>{073A0DAA-6AF3-43AB-8588-CEC1D06C72B9}</a:tableStyleId>
              </a:tblPr>
              <a:tblGrid>
                <a:gridCol w="1778664">
                  <a:extLst>
                    <a:ext uri="{9D8B030D-6E8A-4147-A177-3AD203B41FA5}">
                      <a16:colId xmlns:a16="http://schemas.microsoft.com/office/drawing/2014/main" val="3633858990"/>
                    </a:ext>
                  </a:extLst>
                </a:gridCol>
                <a:gridCol w="202902">
                  <a:extLst>
                    <a:ext uri="{9D8B030D-6E8A-4147-A177-3AD203B41FA5}">
                      <a16:colId xmlns:a16="http://schemas.microsoft.com/office/drawing/2014/main" val="647241390"/>
                    </a:ext>
                  </a:extLst>
                </a:gridCol>
                <a:gridCol w="764364">
                  <a:extLst>
                    <a:ext uri="{9D8B030D-6E8A-4147-A177-3AD203B41FA5}">
                      <a16:colId xmlns:a16="http://schemas.microsoft.com/office/drawing/2014/main" val="67674438"/>
                    </a:ext>
                  </a:extLst>
                </a:gridCol>
                <a:gridCol w="764364">
                  <a:extLst>
                    <a:ext uri="{9D8B030D-6E8A-4147-A177-3AD203B41FA5}">
                      <a16:colId xmlns:a16="http://schemas.microsoft.com/office/drawing/2014/main" val="1755694082"/>
                    </a:ext>
                  </a:extLst>
                </a:gridCol>
                <a:gridCol w="764364">
                  <a:extLst>
                    <a:ext uri="{9D8B030D-6E8A-4147-A177-3AD203B41FA5}">
                      <a16:colId xmlns:a16="http://schemas.microsoft.com/office/drawing/2014/main" val="2135174451"/>
                    </a:ext>
                  </a:extLst>
                </a:gridCol>
                <a:gridCol w="764364">
                  <a:extLst>
                    <a:ext uri="{9D8B030D-6E8A-4147-A177-3AD203B41FA5}">
                      <a16:colId xmlns:a16="http://schemas.microsoft.com/office/drawing/2014/main" val="647647368"/>
                    </a:ext>
                  </a:extLst>
                </a:gridCol>
                <a:gridCol w="764364">
                  <a:extLst>
                    <a:ext uri="{9D8B030D-6E8A-4147-A177-3AD203B41FA5}">
                      <a16:colId xmlns:a16="http://schemas.microsoft.com/office/drawing/2014/main" val="3841056156"/>
                    </a:ext>
                  </a:extLst>
                </a:gridCol>
                <a:gridCol w="764364">
                  <a:extLst>
                    <a:ext uri="{9D8B030D-6E8A-4147-A177-3AD203B41FA5}">
                      <a16:colId xmlns:a16="http://schemas.microsoft.com/office/drawing/2014/main" val="1408705754"/>
                    </a:ext>
                  </a:extLst>
                </a:gridCol>
                <a:gridCol w="764364">
                  <a:extLst>
                    <a:ext uri="{9D8B030D-6E8A-4147-A177-3AD203B41FA5}">
                      <a16:colId xmlns:a16="http://schemas.microsoft.com/office/drawing/2014/main" val="108465730"/>
                    </a:ext>
                  </a:extLst>
                </a:gridCol>
                <a:gridCol w="764364">
                  <a:extLst>
                    <a:ext uri="{9D8B030D-6E8A-4147-A177-3AD203B41FA5}">
                      <a16:colId xmlns:a16="http://schemas.microsoft.com/office/drawing/2014/main" val="467457296"/>
                    </a:ext>
                  </a:extLst>
                </a:gridCol>
              </a:tblGrid>
              <a:tr h="242162">
                <a:tc gridSpan="10">
                  <a:txBody>
                    <a:bodyPr/>
                    <a:lstStyle/>
                    <a:p>
                      <a:pPr algn="ctr"/>
                      <a:r>
                        <a:rPr lang="en-US" sz="1100" dirty="0"/>
                        <a:t>Sector Allocation</a:t>
                      </a:r>
                    </a:p>
                  </a:txBody>
                  <a:tcPr marL="88751" marR="88751" anchor="ctr">
                    <a:lnB w="28575" cap="flat" cmpd="sng" algn="ctr">
                      <a:solidFill>
                        <a:schemeClr val="bg1"/>
                      </a:solidFill>
                      <a:prstDash val="solid"/>
                      <a:round/>
                      <a:headEnd type="none" w="med" len="med"/>
                      <a:tailEnd type="none" w="med" len="med"/>
                    </a:lnB>
                    <a:solidFill>
                      <a:srgbClr val="63666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100" dirty="0"/>
                    </a:p>
                  </a:txBody>
                  <a:tcPr anchor="ctr">
                    <a:solidFill>
                      <a:srgbClr val="63666B"/>
                    </a:solidFill>
                  </a:tcPr>
                </a:tc>
                <a:tc hMerge="1">
                  <a:txBody>
                    <a:bodyPr/>
                    <a:lstStyle/>
                    <a:p>
                      <a:pPr algn="ctr"/>
                      <a:endParaRPr lang="en-US" sz="1100" dirty="0"/>
                    </a:p>
                  </a:txBody>
                  <a:tcPr marL="88751" marR="88751" anchor="ctr">
                    <a:solidFill>
                      <a:srgbClr val="63666B"/>
                    </a:solidFill>
                  </a:tcPr>
                </a:tc>
                <a:tc hMerge="1">
                  <a:txBody>
                    <a:bodyPr/>
                    <a:lstStyle/>
                    <a:p>
                      <a:pPr algn="ctr"/>
                      <a:endParaRPr lang="en-US" sz="1100" dirty="0"/>
                    </a:p>
                  </a:txBody>
                  <a:tcPr marL="88751" marR="88751" anchor="ctr">
                    <a:solidFill>
                      <a:srgbClr val="63666B"/>
                    </a:solidFill>
                  </a:tcPr>
                </a:tc>
                <a:tc hMerge="1">
                  <a:txBody>
                    <a:bodyPr/>
                    <a:lstStyle/>
                    <a:p>
                      <a:pPr algn="ctr"/>
                      <a:endParaRPr lang="en-US" sz="1100" dirty="0"/>
                    </a:p>
                  </a:txBody>
                  <a:tcPr marL="88751" marR="88751" anchor="ctr">
                    <a:solidFill>
                      <a:srgbClr val="63666B"/>
                    </a:solidFill>
                  </a:tcPr>
                </a:tc>
                <a:extLst>
                  <a:ext uri="{0D108BD9-81ED-4DB2-BD59-A6C34878D82A}">
                    <a16:rowId xmlns:a16="http://schemas.microsoft.com/office/drawing/2014/main" val="341184682"/>
                  </a:ext>
                </a:extLst>
              </a:tr>
              <a:tr h="242162">
                <a:tc>
                  <a:txBody>
                    <a:bodyPr/>
                    <a:lstStyle/>
                    <a:p>
                      <a:pPr marL="0" lvl="1" algn="ctr" defTabSz="457200" rtl="0" eaLnBrk="1" latinLnBrk="0" hangingPunct="1"/>
                      <a:endParaRPr lang="en-US" sz="1100" b="1" kern="1200" dirty="0">
                        <a:solidFill>
                          <a:schemeClr val="lt1"/>
                        </a:solidFill>
                        <a:latin typeface="+mn-lt"/>
                        <a:ea typeface="+mn-ea"/>
                        <a:cs typeface="+mn-cs"/>
                      </a:endParaRPr>
                    </a:p>
                  </a:txBody>
                  <a:tcPr marL="88751" marR="88751" anchor="ctr">
                    <a:lnR w="12700" cmpd="sng">
                      <a:noFill/>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endParaRPr lang="en-US" sz="1100" b="1" kern="1200" dirty="0">
                        <a:solidFill>
                          <a:schemeClr val="lt1"/>
                        </a:solidFill>
                        <a:latin typeface="+mn-lt"/>
                        <a:ea typeface="+mn-ea"/>
                        <a:cs typeface="+mn-cs"/>
                      </a:endParaRPr>
                    </a:p>
                  </a:txBody>
                  <a:tcPr marL="88751" marR="88751" anchor="ctr">
                    <a:lnL w="12700" cmpd="sng">
                      <a:noFill/>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Aug 2025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Aug 2024</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Sept 2023</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Aug 2022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Aug 2021</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May 2020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Apr 2019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tc>
                  <a:txBody>
                    <a:bodyPr/>
                    <a:lstStyle/>
                    <a:p>
                      <a:pPr marL="0" algn="ctr" defTabSz="457200" rtl="0" eaLnBrk="1" latinLnBrk="0" hangingPunct="1"/>
                      <a:r>
                        <a:rPr lang="en-US" sz="1100" b="1" kern="1200" dirty="0">
                          <a:solidFill>
                            <a:schemeClr val="lt1"/>
                          </a:solidFill>
                          <a:latin typeface="+mn-lt"/>
                          <a:ea typeface="+mn-ea"/>
                          <a:cs typeface="+mn-cs"/>
                        </a:rPr>
                        <a:t>Sep 2018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BA9864"/>
                    </a:solidFill>
                  </a:tcPr>
                </a:tc>
                <a:extLst>
                  <a:ext uri="{0D108BD9-81ED-4DB2-BD59-A6C34878D82A}">
                    <a16:rowId xmlns:a16="http://schemas.microsoft.com/office/drawing/2014/main" val="3539083557"/>
                  </a:ext>
                </a:extLst>
              </a:tr>
              <a:tr h="242162">
                <a:tc>
                  <a:txBody>
                    <a:bodyPr/>
                    <a:lstStyle/>
                    <a:p>
                      <a:pPr algn="ctr"/>
                      <a:r>
                        <a:rPr lang="en-US" sz="1100" dirty="0"/>
                        <a:t>SECTOR</a:t>
                      </a:r>
                      <a:endParaRPr lang="en-US" sz="1100" b="1" dirty="0">
                        <a:solidFill>
                          <a:schemeClr val="bg1"/>
                        </a:solidFill>
                      </a:endParaRP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lang="en-US" sz="1100" b="1" dirty="0">
                        <a:solidFill>
                          <a:schemeClr val="bg1"/>
                        </a:solidFill>
                      </a:endParaRPr>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10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966666055"/>
                  </a:ext>
                </a:extLst>
              </a:tr>
              <a:tr h="242162">
                <a:tc>
                  <a:txBody>
                    <a:bodyPr/>
                    <a:lstStyle/>
                    <a:p>
                      <a:pPr lvl="1"/>
                      <a:r>
                        <a:rPr lang="en-US" sz="1100" dirty="0"/>
                        <a:t>Diversified</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2.56%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2.58%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5.59%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13.33%</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2.57%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3.35%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1.15%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1.22%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3547386017"/>
                  </a:ext>
                </a:extLst>
              </a:tr>
              <a:tr h="242162">
                <a:tc>
                  <a:txBody>
                    <a:bodyPr/>
                    <a:lstStyle/>
                    <a:p>
                      <a:pPr lvl="1"/>
                      <a:r>
                        <a:rPr lang="en-US" sz="1100" dirty="0"/>
                        <a:t>Corp/High Yield</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5.60%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lang="en-US" sz="1100" dirty="0"/>
                        <a:t>5.92%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1375493606"/>
                  </a:ext>
                </a:extLst>
              </a:tr>
              <a:tr h="242162">
                <a:tc>
                  <a:txBody>
                    <a:bodyPr/>
                    <a:lstStyle/>
                    <a:p>
                      <a:pPr lvl="1"/>
                      <a:r>
                        <a:rPr lang="en-US" sz="1100" dirty="0" err="1"/>
                        <a:t>Preferreds</a:t>
                      </a:r>
                      <a:endParaRPr lang="en-US" sz="1100" dirty="0"/>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2.48%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US" sz="1100" dirty="0"/>
                        <a:t>2.42%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US" sz="1100" dirty="0"/>
                        <a:t>2.41%</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US" sz="1100" dirty="0"/>
                        <a:t>1.97%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US" sz="1100" dirty="0"/>
                        <a:t>4.92%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US" sz="1100" dirty="0"/>
                        <a:t>2.24%</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40688312"/>
                  </a:ext>
                </a:extLst>
              </a:tr>
              <a:tr h="242162">
                <a:tc>
                  <a:txBody>
                    <a:bodyPr/>
                    <a:lstStyle/>
                    <a:p>
                      <a:pPr lvl="1"/>
                      <a:r>
                        <a:rPr lang="en-US" sz="1100" dirty="0"/>
                        <a:t>Floating Rate</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0.49%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0.47%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1.75%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3.42%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12.35%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27.48%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4.72%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4.46%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88960905"/>
                  </a:ext>
                </a:extLst>
              </a:tr>
              <a:tr h="242162">
                <a:tc>
                  <a:txBody>
                    <a:bodyPr/>
                    <a:lstStyle/>
                    <a:p>
                      <a:pPr lvl="1"/>
                      <a:r>
                        <a:rPr lang="en-US" sz="1100" dirty="0"/>
                        <a:t>Municipals</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22.93%</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27.99%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26.48%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9.47%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12.20%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33.54%</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36.81%</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36.76%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53847895"/>
                  </a:ext>
                </a:extLst>
              </a:tr>
              <a:tr h="242162">
                <a:tc>
                  <a:txBody>
                    <a:bodyPr/>
                    <a:lstStyle/>
                    <a:p>
                      <a:pPr lvl="1"/>
                      <a:r>
                        <a:rPr lang="en-US" sz="1100" dirty="0"/>
                        <a:t>MBB</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26471220"/>
                  </a:ext>
                </a:extLst>
              </a:tr>
              <a:tr h="242162">
                <a:tc>
                  <a:txBody>
                    <a:bodyPr/>
                    <a:lstStyle/>
                    <a:p>
                      <a:pPr lvl="1"/>
                      <a:r>
                        <a:rPr lang="en-US" sz="1100" dirty="0"/>
                        <a:t>Low Duration</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0.16%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0.17%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0.17%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0.24%</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0.93%</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4.55%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6.00%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6.43%</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28093386"/>
                  </a:ext>
                </a:extLst>
              </a:tr>
              <a:tr h="242162">
                <a:tc>
                  <a:txBody>
                    <a:bodyPr/>
                    <a:lstStyle/>
                    <a:p>
                      <a:pPr lvl="1"/>
                      <a:r>
                        <a:rPr lang="en-US" sz="1100" dirty="0"/>
                        <a:t>Convertibles</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1.74%</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1.65%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2.61%</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2.36%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3.88%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1.17%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78198058"/>
                  </a:ext>
                </a:extLst>
              </a:tr>
              <a:tr h="242162">
                <a:tc>
                  <a:txBody>
                    <a:bodyPr/>
                    <a:lstStyle/>
                    <a:p>
                      <a:pPr lvl="1"/>
                      <a:r>
                        <a:rPr lang="en-US" sz="1100" dirty="0"/>
                        <a:t>Foreign/Emerging Markets</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0.82%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0.86%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1.32%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1.97%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3.47%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3.20%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12.06%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12.57%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476587298"/>
                  </a:ext>
                </a:extLst>
              </a:tr>
              <a:tr h="242162">
                <a:tc>
                  <a:txBody>
                    <a:bodyPr/>
                    <a:lstStyle/>
                    <a:p>
                      <a:pPr lvl="1"/>
                      <a:r>
                        <a:rPr lang="en-US" sz="1100" dirty="0"/>
                        <a:t>Indexes</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44.78%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46.52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35.18%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37.86%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40.19%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16.59%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84576671"/>
                  </a:ext>
                </a:extLst>
              </a:tr>
              <a:tr h="242162">
                <a:tc>
                  <a:txBody>
                    <a:bodyPr/>
                    <a:lstStyle/>
                    <a:p>
                      <a:pPr lvl="1"/>
                      <a:r>
                        <a:rPr lang="en-US" sz="1100" dirty="0"/>
                        <a:t>Inverse ETFS</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0.00%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2.97%</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3.01%</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4.84%</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12.72%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14.19%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43094592"/>
                  </a:ext>
                </a:extLst>
              </a:tr>
              <a:tr h="242162">
                <a:tc>
                  <a:txBody>
                    <a:bodyPr/>
                    <a:lstStyle/>
                    <a:p>
                      <a:pPr lvl="1"/>
                      <a:r>
                        <a:rPr lang="en-US" sz="1100" dirty="0"/>
                        <a:t>Cash</a:t>
                      </a:r>
                    </a:p>
                  </a:txBody>
                  <a:tcPr marL="88751" marR="88751" anchor="ctr">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en-US" sz="1100" dirty="0"/>
                    </a:p>
                  </a:txBody>
                  <a:tcPr marL="88751" marR="88751"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24.05%</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17.34%</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24.48%</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26.43%</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21.42%</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5.29%</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16.00%</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100" dirty="0"/>
                        <a:t>15.56%</a:t>
                      </a:r>
                    </a:p>
                  </a:txBody>
                  <a:tcPr marL="88751" marR="8875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074715818"/>
                  </a:ext>
                </a:extLst>
              </a:tr>
            </a:tbl>
          </a:graphicData>
        </a:graphic>
      </p:graphicFrame>
      <p:sp>
        <p:nvSpPr>
          <p:cNvPr id="11" name="TextBox 10">
            <a:extLst>
              <a:ext uri="{FF2B5EF4-FFF2-40B4-BE49-F238E27FC236}">
                <a16:creationId xmlns:a16="http://schemas.microsoft.com/office/drawing/2014/main" id="{4A856114-C84A-44BF-A64F-653922A54F6B}"/>
              </a:ext>
            </a:extLst>
          </p:cNvPr>
          <p:cNvSpPr txBox="1"/>
          <p:nvPr/>
        </p:nvSpPr>
        <p:spPr>
          <a:xfrm>
            <a:off x="332273" y="5985933"/>
            <a:ext cx="8580079" cy="362258"/>
          </a:xfrm>
          <a:prstGeom prst="rect">
            <a:avLst/>
          </a:prstGeom>
          <a:noFill/>
        </p:spPr>
        <p:txBody>
          <a:bodyPr wrap="square" lIns="89896" tIns="44948" rIns="89896" bIns="44948" rtlCol="0">
            <a:spAutoFit/>
          </a:bodyPr>
          <a:lstStyle/>
          <a:p>
            <a:r>
              <a:rPr lang="en-US" sz="882" dirty="0"/>
              <a:t>The financial information and performance data contained in this report represents unaudited financial information and may be subject to future adjustment and revision.  Past performance is not a guarantee of future performance.</a:t>
            </a:r>
          </a:p>
        </p:txBody>
      </p:sp>
      <p:cxnSp>
        <p:nvCxnSpPr>
          <p:cNvPr id="12" name="Straight Connector 11">
            <a:extLst>
              <a:ext uri="{FF2B5EF4-FFF2-40B4-BE49-F238E27FC236}">
                <a16:creationId xmlns:a16="http://schemas.microsoft.com/office/drawing/2014/main" id="{E746D007-FB40-49AE-92A8-68AD1F964655}"/>
              </a:ext>
            </a:extLst>
          </p:cNvPr>
          <p:cNvCxnSpPr/>
          <p:nvPr/>
        </p:nvCxnSpPr>
        <p:spPr>
          <a:xfrm>
            <a:off x="578223" y="872067"/>
            <a:ext cx="5546912"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13" name="Slide Number Placeholder 6">
            <a:extLst>
              <a:ext uri="{FF2B5EF4-FFF2-40B4-BE49-F238E27FC236}">
                <a16:creationId xmlns:a16="http://schemas.microsoft.com/office/drawing/2014/main" id="{57B3C6ED-D533-4DC0-B80C-342BA987B94A}"/>
              </a:ext>
            </a:extLst>
          </p:cNvPr>
          <p:cNvSpPr txBox="1">
            <a:spLocks/>
          </p:cNvSpPr>
          <p:nvPr/>
        </p:nvSpPr>
        <p:spPr>
          <a:xfrm>
            <a:off x="578224" y="6303931"/>
            <a:ext cx="2070847" cy="339272"/>
          </a:xfrm>
          <a:prstGeom prst="rect">
            <a:avLst/>
          </a:prstGeom>
        </p:spPr>
        <p:txBody>
          <a:bodyPr vert="horz" lIns="89896" tIns="44948" rIns="89896" bIns="44948"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971" b="1">
                <a:solidFill>
                  <a:schemeClr val="bg1"/>
                </a:solidFill>
                <a:latin typeface="Arial Bold"/>
                <a:cs typeface="Arial Bold"/>
              </a:rPr>
              <a:pPr algn="l"/>
              <a:t>12</a:t>
            </a:fld>
            <a:endParaRPr lang="en-US" sz="971" b="1" dirty="0">
              <a:solidFill>
                <a:schemeClr val="bg1"/>
              </a:solidFill>
              <a:latin typeface="Arial Bold"/>
              <a:cs typeface="Arial Bold"/>
            </a:endParaRPr>
          </a:p>
        </p:txBody>
      </p:sp>
    </p:spTree>
    <p:extLst>
      <p:ext uri="{BB962C8B-B14F-4D97-AF65-F5344CB8AC3E}">
        <p14:creationId xmlns:p14="http://schemas.microsoft.com/office/powerpoint/2010/main" val="716448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0"/>
          <p:cNvSpPr>
            <a:spLocks noGrp="1"/>
          </p:cNvSpPr>
          <p:nvPr>
            <p:ph type="title" idx="4294967295"/>
          </p:nvPr>
        </p:nvSpPr>
        <p:spPr>
          <a:xfrm>
            <a:off x="578224" y="177801"/>
            <a:ext cx="7987553" cy="615950"/>
          </a:xfrm>
        </p:spPr>
        <p:txBody>
          <a:bodyPr>
            <a:normAutofit/>
          </a:bodyPr>
          <a:lstStyle/>
          <a:p>
            <a:pPr algn="l"/>
            <a:r>
              <a:rPr lang="en-US" sz="2382" b="1" dirty="0">
                <a:solidFill>
                  <a:srgbClr val="BA9864"/>
                </a:solidFill>
                <a:latin typeface="Arial"/>
                <a:cs typeface="Arial"/>
              </a:rPr>
              <a:t>PERFORMANCE </a:t>
            </a:r>
            <a:r>
              <a:rPr lang="en-US" sz="2382" b="1" dirty="0">
                <a:solidFill>
                  <a:srgbClr val="63666B"/>
                </a:solidFill>
                <a:latin typeface="Arial"/>
                <a:cs typeface="Arial"/>
              </a:rPr>
              <a:t>STATEMENT</a:t>
            </a:r>
          </a:p>
        </p:txBody>
      </p:sp>
      <p:cxnSp>
        <p:nvCxnSpPr>
          <p:cNvPr id="9" name="Straight Connector 8"/>
          <p:cNvCxnSpPr/>
          <p:nvPr/>
        </p:nvCxnSpPr>
        <p:spPr>
          <a:xfrm>
            <a:off x="578224" y="872067"/>
            <a:ext cx="7987553"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746D007-FB40-49AE-92A8-68AD1F964655}"/>
              </a:ext>
            </a:extLst>
          </p:cNvPr>
          <p:cNvCxnSpPr/>
          <p:nvPr/>
        </p:nvCxnSpPr>
        <p:spPr>
          <a:xfrm>
            <a:off x="578223" y="872067"/>
            <a:ext cx="5546912"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99" name="DateBox"/>
          <p:cNvSpPr txBox="1"/>
          <p:nvPr/>
        </p:nvSpPr>
        <p:spPr>
          <a:xfrm>
            <a:off x="6259607" y="301109"/>
            <a:ext cx="2600000" cy="500000"/>
          </a:xfrm>
          <a:prstGeom prst="rect">
            <a:avLst/>
          </a:prstGeom>
          <a:noFill/>
          <a:ln>
            <a:noFill/>
          </a:ln>
        </p:spPr>
        <p:txBody>
          <a:bodyPr wrap="square" rtlCol="0"/>
          <a:lstStyle/>
          <a:p>
            <a:pPr algn="r"/>
            <a:r>
              <a:rPr lang="en-US" sz="1800" dirty="0">
                <a:solidFill>
                  <a:srgbClr val="808080"/>
                </a:solidFill>
                <a:latin typeface="Century Gothic"/>
              </a:rPr>
              <a:t>August 2025</a:t>
            </a:r>
          </a:p>
        </p:txBody>
      </p:sp>
      <p:sp>
        <p:nvSpPr>
          <p:cNvPr id="11" name="TextBox 10">
            <a:extLst>
              <a:ext uri="{FF2B5EF4-FFF2-40B4-BE49-F238E27FC236}">
                <a16:creationId xmlns:a16="http://schemas.microsoft.com/office/drawing/2014/main" id="{4A856114-C84A-44BF-A64F-653922A54F6B}"/>
              </a:ext>
            </a:extLst>
          </p:cNvPr>
          <p:cNvSpPr txBox="1"/>
          <p:nvPr/>
        </p:nvSpPr>
        <p:spPr>
          <a:xfrm>
            <a:off x="332273" y="5985933"/>
            <a:ext cx="8580079" cy="362258"/>
          </a:xfrm>
          <a:prstGeom prst="rect">
            <a:avLst/>
          </a:prstGeom>
          <a:noFill/>
        </p:spPr>
        <p:txBody>
          <a:bodyPr wrap="square" lIns="89896" tIns="44948" rIns="89896" bIns="44948" rtlCol="0">
            <a:spAutoFit/>
          </a:bodyPr>
          <a:lstStyle/>
          <a:p>
            <a:r>
              <a:rPr lang="en-US" sz="882" dirty="0"/>
              <a:t>The financial information and performance data contained in this report represents unaudited financial information and may be subject to future adjustment and revision.  Past performance is not a guarantee of future performance.</a:t>
            </a:r>
          </a:p>
        </p:txBody>
      </p:sp>
      <p:sp>
        <p:nvSpPr>
          <p:cNvPr id="13" name="Slide Number Placeholder 6">
            <a:extLst>
              <a:ext uri="{FF2B5EF4-FFF2-40B4-BE49-F238E27FC236}">
                <a16:creationId xmlns:a16="http://schemas.microsoft.com/office/drawing/2014/main" id="{57B3C6ED-D533-4DC0-B80C-342BA987B94A}"/>
              </a:ext>
            </a:extLst>
          </p:cNvPr>
          <p:cNvSpPr txBox="1">
            <a:spLocks/>
          </p:cNvSpPr>
          <p:nvPr/>
        </p:nvSpPr>
        <p:spPr>
          <a:xfrm>
            <a:off x="578224" y="6303931"/>
            <a:ext cx="2070847" cy="339272"/>
          </a:xfrm>
          <a:prstGeom prst="rect">
            <a:avLst/>
          </a:prstGeom>
        </p:spPr>
        <p:txBody>
          <a:bodyPr vert="horz" lIns="89896" tIns="44948" rIns="89896" bIns="44948"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971" b="1">
                <a:solidFill>
                  <a:schemeClr val="bg1"/>
                </a:solidFill>
                <a:latin typeface="Arial Bold"/>
                <a:cs typeface="Arial Bold"/>
              </a:rPr>
              <a:pPr algn="l"/>
              <a:t>13</a:t>
            </a:fld>
            <a:endParaRPr lang="en-US" sz="971" b="1" dirty="0">
              <a:solidFill>
                <a:schemeClr val="bg1"/>
              </a:solidFill>
              <a:latin typeface="Arial Bold"/>
              <a:cs typeface="Arial Bold"/>
            </a:endParaRPr>
          </a:p>
        </p:txBody>
      </p:sp>
      <p:pic>
        <p:nvPicPr>
          <p:cNvPr id="100" name="Picture 99" descr="image.png"/>
          <p:cNvPicPr>
            <a:picLocks noChangeAspect="1"/>
          </p:cNvPicPr>
          <p:nvPr/>
        </p:nvPicPr>
        <p:blipFill>
          <a:blip r:embed="rId4"/>
          <a:stretch>
            <a:fillRect/>
          </a:stretch>
        </p:blipFill>
        <p:spPr>
          <a:xfrm>
            <a:off x="300000" y="950000"/>
            <a:ext cx="8544000" cy="520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0"/>
          <p:cNvSpPr>
            <a:spLocks noGrp="1"/>
          </p:cNvSpPr>
          <p:nvPr>
            <p:ph type="title" idx="4294967295"/>
          </p:nvPr>
        </p:nvSpPr>
        <p:spPr>
          <a:xfrm>
            <a:off x="578224" y="177801"/>
            <a:ext cx="7987553" cy="615950"/>
          </a:xfrm>
        </p:spPr>
        <p:txBody>
          <a:bodyPr>
            <a:normAutofit/>
          </a:bodyPr>
          <a:lstStyle/>
          <a:p>
            <a:pPr algn="l"/>
            <a:r>
              <a:rPr lang="en-US" sz="2382" b="1" dirty="0">
                <a:solidFill>
                  <a:srgbClr val="BA9864"/>
                </a:solidFill>
                <a:latin typeface="Arial"/>
                <a:cs typeface="Arial"/>
              </a:rPr>
              <a:t>FACT </a:t>
            </a:r>
            <a:r>
              <a:rPr lang="en-US" sz="2382" b="1" dirty="0">
                <a:solidFill>
                  <a:srgbClr val="63666B"/>
                </a:solidFill>
                <a:latin typeface="Arial"/>
                <a:cs typeface="Arial"/>
              </a:rPr>
              <a:t>SHEET</a:t>
            </a:r>
          </a:p>
        </p:txBody>
      </p:sp>
      <p:cxnSp>
        <p:nvCxnSpPr>
          <p:cNvPr id="9" name="Straight Connector 8"/>
          <p:cNvCxnSpPr/>
          <p:nvPr/>
        </p:nvCxnSpPr>
        <p:spPr>
          <a:xfrm>
            <a:off x="578224" y="872067"/>
            <a:ext cx="7987553"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746D007-FB40-49AE-92A8-68AD1F964655}"/>
              </a:ext>
            </a:extLst>
          </p:cNvPr>
          <p:cNvCxnSpPr/>
          <p:nvPr/>
        </p:nvCxnSpPr>
        <p:spPr>
          <a:xfrm>
            <a:off x="578223" y="872067"/>
            <a:ext cx="5546912"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99" name="DateBox"/>
          <p:cNvSpPr txBox="1"/>
          <p:nvPr/>
        </p:nvSpPr>
        <p:spPr>
          <a:xfrm>
            <a:off x="6259607" y="301109"/>
            <a:ext cx="2600000" cy="500000"/>
          </a:xfrm>
          <a:prstGeom prst="rect">
            <a:avLst/>
          </a:prstGeom>
          <a:noFill/>
          <a:ln>
            <a:noFill/>
          </a:ln>
        </p:spPr>
        <p:txBody>
          <a:bodyPr wrap="square" rtlCol="0"/>
          <a:lstStyle/>
          <a:p>
            <a:pPr algn="r"/>
            <a:r>
              <a:rPr lang="en-US" sz="1800" dirty="0">
                <a:solidFill>
                  <a:srgbClr val="808080"/>
                </a:solidFill>
                <a:latin typeface="Century Gothic"/>
              </a:rPr>
              <a:t>August 2025</a:t>
            </a:r>
          </a:p>
        </p:txBody>
      </p:sp>
      <p:sp>
        <p:nvSpPr>
          <p:cNvPr id="11" name="TextBox 10">
            <a:extLst>
              <a:ext uri="{FF2B5EF4-FFF2-40B4-BE49-F238E27FC236}">
                <a16:creationId xmlns:a16="http://schemas.microsoft.com/office/drawing/2014/main" id="{4A856114-C84A-44BF-A64F-653922A54F6B}"/>
              </a:ext>
            </a:extLst>
          </p:cNvPr>
          <p:cNvSpPr txBox="1"/>
          <p:nvPr/>
        </p:nvSpPr>
        <p:spPr>
          <a:xfrm>
            <a:off x="332273" y="5985933"/>
            <a:ext cx="8580079" cy="362258"/>
          </a:xfrm>
          <a:prstGeom prst="rect">
            <a:avLst/>
          </a:prstGeom>
          <a:noFill/>
        </p:spPr>
        <p:txBody>
          <a:bodyPr wrap="square" lIns="89896" tIns="44948" rIns="89896" bIns="44948" rtlCol="0">
            <a:spAutoFit/>
          </a:bodyPr>
          <a:lstStyle/>
          <a:p>
            <a:r>
              <a:rPr lang="en-US" sz="882" dirty="0"/>
              <a:t>The financial information and performance data contained in this report represents unaudited financial information and may be subject to future adjustment and revision.  Past performance is not a guarantee of future performance.</a:t>
            </a:r>
          </a:p>
        </p:txBody>
      </p:sp>
      <p:sp>
        <p:nvSpPr>
          <p:cNvPr id="13" name="Slide Number Placeholder 6">
            <a:extLst>
              <a:ext uri="{FF2B5EF4-FFF2-40B4-BE49-F238E27FC236}">
                <a16:creationId xmlns:a16="http://schemas.microsoft.com/office/drawing/2014/main" id="{57B3C6ED-D533-4DC0-B80C-342BA987B94A}"/>
              </a:ext>
            </a:extLst>
          </p:cNvPr>
          <p:cNvSpPr txBox="1">
            <a:spLocks/>
          </p:cNvSpPr>
          <p:nvPr/>
        </p:nvSpPr>
        <p:spPr>
          <a:xfrm>
            <a:off x="578224" y="6303931"/>
            <a:ext cx="2070847" cy="339272"/>
          </a:xfrm>
          <a:prstGeom prst="rect">
            <a:avLst/>
          </a:prstGeom>
        </p:spPr>
        <p:txBody>
          <a:bodyPr vert="horz" lIns="89896" tIns="44948" rIns="89896" bIns="44948"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C3A39814-8689-7947-8391-353AB9027F07}" type="slidenum">
              <a:rPr lang="en-US" sz="971" b="1">
                <a:solidFill>
                  <a:schemeClr val="bg1"/>
                </a:solidFill>
                <a:latin typeface="Arial Bold"/>
                <a:cs typeface="Arial Bold"/>
              </a:rPr>
              <a:pPr algn="l"/>
              <a:t>14</a:t>
            </a:fld>
            <a:endParaRPr lang="en-US" sz="971" b="1" dirty="0">
              <a:solidFill>
                <a:schemeClr val="bg1"/>
              </a:solidFill>
              <a:latin typeface="Arial Bold"/>
              <a:cs typeface="Arial Bold"/>
            </a:endParaRPr>
          </a:p>
        </p:txBody>
      </p:sp>
      <p:pic>
        <p:nvPicPr>
          <p:cNvPr id="100" name="Picture 99" descr="image.png"/>
          <p:cNvPicPr>
            <a:picLocks noChangeAspect="1"/>
          </p:cNvPicPr>
          <p:nvPr/>
        </p:nvPicPr>
        <p:blipFill>
          <a:blip r:embed="rId4"/>
          <a:stretch>
            <a:fillRect/>
          </a:stretch>
        </p:blipFill>
        <p:spPr>
          <a:xfrm>
            <a:off x="300000" y="950000"/>
            <a:ext cx="8544000" cy="520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386"/>
            <a:ext cx="9140305" cy="6855228"/>
          </a:xfrm>
          <a:prstGeom prst="rect">
            <a:avLst/>
          </a:prstGeom>
        </p:spPr>
      </p:pic>
      <p:sp>
        <p:nvSpPr>
          <p:cNvPr id="4" name="Title 10"/>
          <p:cNvSpPr txBox="1">
            <a:spLocks/>
          </p:cNvSpPr>
          <p:nvPr/>
        </p:nvSpPr>
        <p:spPr>
          <a:xfrm>
            <a:off x="457200" y="177801"/>
            <a:ext cx="8229600" cy="61555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rgbClr val="BA9864"/>
                </a:solidFill>
                <a:latin typeface="Arial"/>
                <a:cs typeface="Arial"/>
              </a:rPr>
              <a:t>DISCLOSURES</a:t>
            </a:r>
            <a:endParaRPr lang="en-US" sz="2400" b="1" dirty="0">
              <a:solidFill>
                <a:srgbClr val="515257"/>
              </a:solidFill>
              <a:latin typeface="Arial"/>
              <a:cs typeface="Arial"/>
            </a:endParaRPr>
          </a:p>
        </p:txBody>
      </p:sp>
      <p:cxnSp>
        <p:nvCxnSpPr>
          <p:cNvPr id="5" name="Straight Connector 4"/>
          <p:cNvCxnSpPr/>
          <p:nvPr/>
        </p:nvCxnSpPr>
        <p:spPr>
          <a:xfrm>
            <a:off x="457200" y="872067"/>
            <a:ext cx="8229600" cy="0"/>
          </a:xfrm>
          <a:prstGeom prst="line">
            <a:avLst/>
          </a:prstGeom>
          <a:ln w="412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0103" y="1422810"/>
            <a:ext cx="7885471" cy="3427477"/>
          </a:xfrm>
          <a:prstGeom prst="rect">
            <a:avLst/>
          </a:prstGeom>
          <a:noFill/>
        </p:spPr>
        <p:txBody>
          <a:bodyPr wrap="square" rtlCol="0">
            <a:spAutoFit/>
          </a:bodyPr>
          <a:lstStyle/>
          <a:p>
            <a:pPr>
              <a:lnSpc>
                <a:spcPct val="120000"/>
              </a:lnSpc>
            </a:pPr>
            <a:r>
              <a:rPr lang="en-US" sz="1300" dirty="0">
                <a:latin typeface="Tahoma"/>
                <a:cs typeface="Tahoma"/>
              </a:rPr>
              <a:t>Gridiron Partners, Inc. (“GP”) provides investment advice under two SMA products, Gridiron Tactical Fixed Income, SMA(“GTFI, SMA”) and Gridiron Multi-Asset (“GMA,SMA”).  GP is an investment adviser registered with the SEC. Registration with the SEC does not imply a certain level of skill or training. For more information regarding Gridiron Partners, Inc. visit our website at www.Gridironpartners.com</a:t>
            </a:r>
          </a:p>
          <a:p>
            <a:pPr>
              <a:lnSpc>
                <a:spcPct val="120000"/>
              </a:lnSpc>
            </a:pPr>
            <a:endParaRPr lang="en-US" sz="1300" dirty="0">
              <a:latin typeface="Tahoma"/>
              <a:cs typeface="Tahoma"/>
            </a:endParaRPr>
          </a:p>
          <a:p>
            <a:pPr>
              <a:lnSpc>
                <a:spcPct val="120000"/>
              </a:lnSpc>
            </a:pPr>
            <a:r>
              <a:rPr lang="en-US" sz="1300" dirty="0">
                <a:latin typeface="Tahoma"/>
                <a:cs typeface="Tahoma"/>
              </a:rPr>
              <a:t>Investor returns vary based on several factors including timing of investment. The strategy discussed herein may not be suitable for all clients. Asset allocation and diversification do not guarantee a profit or protect against a loss. The information provided is not intended to be a complete analysis of every material fact concerning the strategy presented. There is no assurance that any of the objectives of any GP portfolio will be achieved or successful. An investor should carefully consider the investment objectives, risks, fees and expenses before investing.</a:t>
            </a:r>
          </a:p>
          <a:p>
            <a:pPr>
              <a:lnSpc>
                <a:spcPct val="120000"/>
              </a:lnSpc>
            </a:pPr>
            <a:endParaRPr lang="en-US" sz="1300" dirty="0">
              <a:latin typeface="Tahoma"/>
              <a:cs typeface="Tahoma"/>
            </a:endParaRPr>
          </a:p>
          <a:p>
            <a:pPr>
              <a:lnSpc>
                <a:spcPct val="120000"/>
              </a:lnSpc>
            </a:pPr>
            <a:r>
              <a:rPr lang="en-US" sz="1300" dirty="0">
                <a:latin typeface="Tahoma"/>
                <a:cs typeface="Tahoma"/>
              </a:rPr>
              <a:t>This document is provided on a confidential basis for informational purposes only and does not constitute the provision of investment or tax advice.</a:t>
            </a:r>
            <a:endParaRPr lang="en-US" sz="1300" dirty="0">
              <a:solidFill>
                <a:srgbClr val="515257"/>
              </a:solidFill>
              <a:latin typeface="Tahoma"/>
              <a:cs typeface="Tahoma"/>
            </a:endParaRPr>
          </a:p>
        </p:txBody>
      </p:sp>
      <p:sp>
        <p:nvSpPr>
          <p:cNvPr id="7" name="Slide Number Placeholder 6">
            <a:extLst>
              <a:ext uri="{FF2B5EF4-FFF2-40B4-BE49-F238E27FC236}">
                <a16:creationId xmlns:a16="http://schemas.microsoft.com/office/drawing/2014/main" id="{152D3887-9035-DF4A-ACC1-C0A8AE23328A}"/>
              </a:ext>
            </a:extLst>
          </p:cNvPr>
          <p:cNvSpPr>
            <a:spLocks noGrp="1"/>
          </p:cNvSpPr>
          <p:nvPr>
            <p:ph type="sldNum" sz="quarter" idx="12"/>
          </p:nvPr>
        </p:nvSpPr>
        <p:spPr>
          <a:xfrm>
            <a:off x="457200" y="6303931"/>
            <a:ext cx="2133600" cy="339272"/>
          </a:xfrm>
          <a:prstGeom prst="rect">
            <a:avLst/>
          </a:prstGeom>
        </p:spPr>
        <p:txBody>
          <a:bodyPr/>
          <a:lstStyle/>
          <a:p>
            <a:pPr algn="l"/>
            <a:fld id="{C3A39814-8689-7947-8391-353AB9027F07}" type="slidenum">
              <a:rPr lang="en-US" sz="1000" b="1" smtClean="0">
                <a:solidFill>
                  <a:schemeClr val="bg1"/>
                </a:solidFill>
                <a:latin typeface="Arial Bold"/>
                <a:cs typeface="Arial Bold"/>
              </a:rPr>
              <a:pPr algn="l"/>
              <a:t>15</a:t>
            </a:fld>
            <a:endParaRPr lang="en-US" sz="1000" b="1" dirty="0">
              <a:solidFill>
                <a:schemeClr val="bg1"/>
              </a:solidFill>
              <a:latin typeface="Arial Bold"/>
              <a:cs typeface="Arial Bold"/>
            </a:endParaRPr>
          </a:p>
        </p:txBody>
      </p:sp>
    </p:spTree>
    <p:extLst>
      <p:ext uri="{BB962C8B-B14F-4D97-AF65-F5344CB8AC3E}">
        <p14:creationId xmlns:p14="http://schemas.microsoft.com/office/powerpoint/2010/main" val="3720694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 Slide_Blank-4.3-ALT_Final.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2" y="0"/>
            <a:ext cx="9139938" cy="6858000"/>
          </a:xfrm>
          <a:prstGeom prst="rect">
            <a:avLst/>
          </a:prstGeom>
        </p:spPr>
      </p:pic>
      <p:sp>
        <p:nvSpPr>
          <p:cNvPr id="4" name="Title 10"/>
          <p:cNvSpPr txBox="1">
            <a:spLocks/>
          </p:cNvSpPr>
          <p:nvPr/>
        </p:nvSpPr>
        <p:spPr>
          <a:xfrm>
            <a:off x="457200" y="177801"/>
            <a:ext cx="8229600" cy="61555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rgbClr val="BA9864"/>
                </a:solidFill>
                <a:latin typeface="Arial"/>
                <a:cs typeface="Arial"/>
              </a:rPr>
              <a:t>CONTACT </a:t>
            </a:r>
            <a:r>
              <a:rPr lang="en-US" sz="2400" b="1" dirty="0">
                <a:solidFill>
                  <a:srgbClr val="515257"/>
                </a:solidFill>
                <a:latin typeface="Arial"/>
                <a:cs typeface="Arial"/>
              </a:rPr>
              <a:t>INFORMATION</a:t>
            </a:r>
          </a:p>
        </p:txBody>
      </p:sp>
      <p:cxnSp>
        <p:nvCxnSpPr>
          <p:cNvPr id="5" name="Straight Connector 4"/>
          <p:cNvCxnSpPr/>
          <p:nvPr/>
        </p:nvCxnSpPr>
        <p:spPr>
          <a:xfrm>
            <a:off x="457200" y="872067"/>
            <a:ext cx="8229600" cy="0"/>
          </a:xfrm>
          <a:prstGeom prst="line">
            <a:avLst/>
          </a:prstGeom>
          <a:ln w="412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457200" y="872067"/>
            <a:ext cx="5715000" cy="0"/>
          </a:xfrm>
          <a:prstGeom prst="line">
            <a:avLst/>
          </a:prstGeom>
          <a:ln w="41275">
            <a:solidFill>
              <a:srgbClr val="BA986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0" y="1193800"/>
            <a:ext cx="3200400" cy="1367041"/>
          </a:xfrm>
          <a:prstGeom prst="rect">
            <a:avLst/>
          </a:prstGeom>
          <a:noFill/>
        </p:spPr>
        <p:txBody>
          <a:bodyPr wrap="square" rtlCol="0">
            <a:spAutoFit/>
          </a:bodyPr>
          <a:lstStyle/>
          <a:p>
            <a:pPr>
              <a:lnSpc>
                <a:spcPct val="150000"/>
              </a:lnSpc>
            </a:pPr>
            <a:r>
              <a:rPr lang="en-US" sz="1400" dirty="0">
                <a:latin typeface="TAHOMA"/>
                <a:cs typeface="TAHOMA"/>
              </a:rPr>
              <a:t>101 Bradford Road, Suite 200</a:t>
            </a:r>
          </a:p>
          <a:p>
            <a:pPr>
              <a:lnSpc>
                <a:spcPct val="150000"/>
              </a:lnSpc>
            </a:pPr>
            <a:r>
              <a:rPr lang="en-US" sz="1400" dirty="0">
                <a:latin typeface="TAHOMA"/>
                <a:cs typeface="TAHOMA"/>
              </a:rPr>
              <a:t>Wexford, PA 15090</a:t>
            </a:r>
          </a:p>
          <a:p>
            <a:pPr>
              <a:lnSpc>
                <a:spcPct val="150000"/>
              </a:lnSpc>
            </a:pPr>
            <a:r>
              <a:rPr lang="is-IS" sz="1400" dirty="0">
                <a:latin typeface="TAHOMA"/>
                <a:cs typeface="TAHOMA"/>
              </a:rPr>
              <a:t>724-759-7848</a:t>
            </a:r>
          </a:p>
          <a:p>
            <a:pPr>
              <a:lnSpc>
                <a:spcPct val="150000"/>
              </a:lnSpc>
            </a:pPr>
            <a:r>
              <a:rPr lang="en-US" sz="1400" dirty="0">
                <a:latin typeface="TAHOMA"/>
                <a:cs typeface="TAHOMA"/>
              </a:rPr>
              <a:t>Mike@gridironpartners.com</a:t>
            </a:r>
          </a:p>
        </p:txBody>
      </p:sp>
      <p:sp>
        <p:nvSpPr>
          <p:cNvPr id="9" name="TextBox 8"/>
          <p:cNvSpPr txBox="1"/>
          <p:nvPr/>
        </p:nvSpPr>
        <p:spPr>
          <a:xfrm>
            <a:off x="3185652" y="1257300"/>
            <a:ext cx="2313448" cy="677108"/>
          </a:xfrm>
          <a:prstGeom prst="rect">
            <a:avLst/>
          </a:prstGeom>
          <a:noFill/>
        </p:spPr>
        <p:txBody>
          <a:bodyPr wrap="square" rtlCol="0">
            <a:spAutoFit/>
          </a:bodyPr>
          <a:lstStyle/>
          <a:p>
            <a:r>
              <a:rPr lang="en-US" sz="2000" b="1" dirty="0">
                <a:solidFill>
                  <a:srgbClr val="BA9864"/>
                </a:solidFill>
                <a:latin typeface="Arial"/>
                <a:cs typeface="Arial"/>
              </a:rPr>
              <a:t>MIKE SCHNECK</a:t>
            </a:r>
          </a:p>
          <a:p>
            <a:r>
              <a:rPr lang="en-US" dirty="0">
                <a:solidFill>
                  <a:srgbClr val="515257"/>
                </a:solidFill>
                <a:latin typeface="Arial"/>
                <a:cs typeface="Arial"/>
              </a:rPr>
              <a:t>Managing Partner</a:t>
            </a:r>
          </a:p>
        </p:txBody>
      </p:sp>
      <p:sp>
        <p:nvSpPr>
          <p:cNvPr id="10" name="Slide Number Placeholder 6">
            <a:extLst>
              <a:ext uri="{FF2B5EF4-FFF2-40B4-BE49-F238E27FC236}">
                <a16:creationId xmlns:a16="http://schemas.microsoft.com/office/drawing/2014/main" id="{152D3887-9035-DF4A-ACC1-C0A8AE23328A}"/>
              </a:ext>
            </a:extLst>
          </p:cNvPr>
          <p:cNvSpPr>
            <a:spLocks noGrp="1"/>
          </p:cNvSpPr>
          <p:nvPr>
            <p:ph type="sldNum" sz="quarter" idx="4294967295"/>
          </p:nvPr>
        </p:nvSpPr>
        <p:spPr>
          <a:xfrm>
            <a:off x="457200" y="6303931"/>
            <a:ext cx="2133600" cy="339272"/>
          </a:xfrm>
          <a:prstGeom prst="rect">
            <a:avLst/>
          </a:prstGeom>
        </p:spPr>
        <p:txBody>
          <a:bodyPr/>
          <a:lstStyle/>
          <a:p>
            <a:pPr algn="l"/>
            <a:fld id="{C3A39814-8689-7947-8391-353AB9027F07}" type="slidenum">
              <a:rPr lang="en-US" sz="1000" b="1" smtClean="0">
                <a:solidFill>
                  <a:schemeClr val="bg1"/>
                </a:solidFill>
                <a:latin typeface="Arial Bold"/>
                <a:cs typeface="Arial Bold"/>
              </a:rPr>
              <a:pPr algn="l"/>
              <a:t>16</a:t>
            </a:fld>
            <a:endParaRPr lang="en-US" sz="1000" b="1" dirty="0">
              <a:solidFill>
                <a:schemeClr val="bg1"/>
              </a:solidFill>
              <a:latin typeface="Arial Bold"/>
              <a:cs typeface="Arial Bold"/>
            </a:endParaRPr>
          </a:p>
        </p:txBody>
      </p:sp>
    </p:spTree>
    <p:extLst>
      <p:ext uri="{BB962C8B-B14F-4D97-AF65-F5344CB8AC3E}">
        <p14:creationId xmlns:p14="http://schemas.microsoft.com/office/powerpoint/2010/main" val="1452354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bd9dcd9-92cf-40b2-9c5b-3ea491f78539" xsi:nil="true"/>
    <lcf76f155ced4ddcb4097134ff3c332f xmlns="b7db74b6-0311-4179-8757-7096aa1e0ff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BF45E39BCC0564E9780ED2C62BF9AAF" ma:contentTypeVersion="12" ma:contentTypeDescription="Create a new document." ma:contentTypeScope="" ma:versionID="cb08e346754dd6d0b71e82b90c52e113">
  <xsd:schema xmlns:xsd="http://www.w3.org/2001/XMLSchema" xmlns:xs="http://www.w3.org/2001/XMLSchema" xmlns:p="http://schemas.microsoft.com/office/2006/metadata/properties" xmlns:ns2="b7db74b6-0311-4179-8757-7096aa1e0ffb" xmlns:ns3="7bd9dcd9-92cf-40b2-9c5b-3ea491f78539" targetNamespace="http://schemas.microsoft.com/office/2006/metadata/properties" ma:root="true" ma:fieldsID="22e3a96bf719a06bcf5703e9101f2b1f" ns2:_="" ns3:_="">
    <xsd:import namespace="b7db74b6-0311-4179-8757-7096aa1e0ffb"/>
    <xsd:import namespace="7bd9dcd9-92cf-40b2-9c5b-3ea491f7853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db74b6-0311-4179-8757-7096aa1e0f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337f0fc6-b16f-4cde-9b76-2f5600fd7b16"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bd9dcd9-92cf-40b2-9c5b-3ea491f7853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d5e447b4-8171-4c56-bb17-a6238b964e63}" ma:internalName="TaxCatchAll" ma:showField="CatchAllData" ma:web="7bd9dcd9-92cf-40b2-9c5b-3ea491f785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B811D52-AC22-4BD2-AF5D-28DD296B9209}">
  <ds:schemaRefs>
    <ds:schemaRef ds:uri="http://schemas.microsoft.com/sharepoint/v3/contenttype/forms"/>
  </ds:schemaRefs>
</ds:datastoreItem>
</file>

<file path=customXml/itemProps2.xml><?xml version="1.0" encoding="utf-8"?>
<ds:datastoreItem xmlns:ds="http://schemas.openxmlformats.org/officeDocument/2006/customXml" ds:itemID="{AD42E6F5-A0BA-4788-8299-9062EC5637AA}">
  <ds:schemaRefs>
    <ds:schemaRef ds:uri="http://schemas.microsoft.com/office/2006/metadata/properties"/>
    <ds:schemaRef ds:uri="http://schemas.microsoft.com/office/infopath/2007/PartnerControls"/>
    <ds:schemaRef ds:uri="7bd9dcd9-92cf-40b2-9c5b-3ea491f78539"/>
    <ds:schemaRef ds:uri="b7db74b6-0311-4179-8757-7096aa1e0ffb"/>
  </ds:schemaRefs>
</ds:datastoreItem>
</file>

<file path=customXml/itemProps3.xml><?xml version="1.0" encoding="utf-8"?>
<ds:datastoreItem xmlns:ds="http://schemas.openxmlformats.org/officeDocument/2006/customXml" ds:itemID="{1A221F7A-9875-4239-B8F6-01602CFD02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db74b6-0311-4179-8757-7096aa1e0ffb"/>
    <ds:schemaRef ds:uri="7bd9dcd9-92cf-40b2-9c5b-3ea491f785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3189</TotalTime>
  <Words>1193</Words>
  <Application>Microsoft Office PowerPoint</Application>
  <PresentationFormat>On-screen Show (4:3)</PresentationFormat>
  <Paragraphs>293</Paragraphs>
  <Slides>16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Arial Black</vt:lpstr>
      <vt:lpstr>Arial Bold</vt:lpstr>
      <vt:lpstr>Arial Narrow</vt:lpstr>
      <vt:lpstr>Calibri</vt:lpstr>
      <vt:lpstr>Century Gothic</vt:lpstr>
      <vt:lpstr>TAHOMA</vt:lpstr>
      <vt:lpstr>TAHOMA</vt:lpstr>
      <vt:lpstr>Office Theme</vt:lpstr>
      <vt:lpstr>PowerPoint Presentation</vt:lpstr>
      <vt:lpstr>GRIDIRON TACTICAL FIXED INCOME</vt:lpstr>
      <vt:lpstr>CEF vs MUTUAL FUND(Open End Fund) vs ETF</vt:lpstr>
      <vt:lpstr>PowerPoint Presentation</vt:lpstr>
      <vt:lpstr>PowerPoint Presentation</vt:lpstr>
      <vt:lpstr>ADVANTAGES OF CLOSED-END FUNDS</vt:lpstr>
      <vt:lpstr>SECTOR DISCOUNTS</vt:lpstr>
      <vt:lpstr>SECTOR DISCOUNTS</vt:lpstr>
      <vt:lpstr>SECTOR DISCOUNTS</vt:lpstr>
      <vt:lpstr>SECTOR DISCOUNTS</vt:lpstr>
      <vt:lpstr>SECTOR DISCOUNTS</vt:lpstr>
      <vt:lpstr>ASSET ALLOCATION</vt:lpstr>
      <vt:lpstr>PERFORMANCE STATEMENT</vt:lpstr>
      <vt:lpstr>FACT SHEET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Brett Sayles</dc:creator>
  <cp:lastModifiedBy>Mike Schneck</cp:lastModifiedBy>
  <cp:revision>72</cp:revision>
  <dcterms:created xsi:type="dcterms:W3CDTF">2019-05-06T17:52:20Z</dcterms:created>
  <dcterms:modified xsi:type="dcterms:W3CDTF">2026-02-27T17:00:50Z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0x0101001BF45E39BCC0564E9780ED2C62BF9AAF</vt:lpwstr>
  </property>
  <property fmtid="{D5CDD505-2E9C-101B-9397-08002B2CF9AE}" pid="3" name="MediaServiceImageTags">
    <vt:lpwstr/>
  </property>
</Properties>
</file>